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sldIdLst>
    <p:sldId id="260" r:id="rId5"/>
    <p:sldId id="281" r:id="rId6"/>
    <p:sldId id="282" r:id="rId16"/>
    <p:sldId id="283" r:id="rId17"/>
    <p:sldId id="284" r:id="rId18"/>
    <p:sldId id="285" r:id="rId19"/>
    <p:sldId id="279" r:id="rId8"/>
  </p:sldIdLst>
  <p:sldSz cx="12192000" cy="6858000"/>
  <p:notesSz cx="7099300"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0AB"/>
    <a:srgbClr val="065CA9"/>
    <a:srgbClr val="0A849F"/>
    <a:srgbClr val="2F528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9FF113-18B1-4199-BECE-1CF61A95F0F8}" v="1" dt="2025-09-14T11:43:24.17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p:restoredTop sz="94648"/>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into Velasco Rebolledo" userId="00c16d92-95bd-422a-9db4-b068f123e6b5" providerId="ADAL" clId="{49660F42-3C57-4A2B-BBDF-092BBF142813}"/>
    <pc:docChg chg="modSld">
      <pc:chgData name="Jacinto Velasco Rebolledo" userId="00c16d92-95bd-422a-9db4-b068f123e6b5" providerId="ADAL" clId="{49660F42-3C57-4A2B-BBDF-092BBF142813}" dt="2025-09-14T11:43:55.495" v="2" actId="2711"/>
      <pc:docMkLst>
        <pc:docMk/>
      </pc:docMkLst>
      <pc:sldChg chg="modSp mod">
        <pc:chgData name="Jacinto Velasco Rebolledo" userId="00c16d92-95bd-422a-9db4-b068f123e6b5" providerId="ADAL" clId="{49660F42-3C57-4A2B-BBDF-092BBF142813}" dt="2025-09-14T11:43:45.945" v="1" actId="14100"/>
        <pc:sldMkLst>
          <pc:docMk/>
          <pc:sldMk cId="3644063140" sldId="260"/>
        </pc:sldMkLst>
        <pc:spChg chg="mod">
          <ac:chgData name="Jacinto Velasco Rebolledo" userId="00c16d92-95bd-422a-9db4-b068f123e6b5" providerId="ADAL" clId="{49660F42-3C57-4A2B-BBDF-092BBF142813}" dt="2025-09-14T11:43:42.098" v="0" actId="2711"/>
          <ac:spMkLst>
            <pc:docMk/>
            <pc:sldMk cId="3644063140" sldId="260"/>
            <ac:spMk id="2" creationId="{8AA243A7-AFC0-B88E-E363-1E709C1BB91E}"/>
          </ac:spMkLst>
        </pc:spChg>
        <pc:spChg chg="mod">
          <ac:chgData name="Jacinto Velasco Rebolledo" userId="00c16d92-95bd-422a-9db4-b068f123e6b5" providerId="ADAL" clId="{49660F42-3C57-4A2B-BBDF-092BBF142813}" dt="2025-09-14T11:43:45.945" v="1" actId="14100"/>
          <ac:spMkLst>
            <pc:docMk/>
            <pc:sldMk cId="3644063140" sldId="260"/>
            <ac:spMk id="12" creationId="{D2B11345-E8EA-ACC7-79CF-9FA1F48C198A}"/>
          </ac:spMkLst>
        </pc:spChg>
      </pc:sldChg>
      <pc:sldChg chg="modSp mod">
        <pc:chgData name="Jacinto Velasco Rebolledo" userId="00c16d92-95bd-422a-9db4-b068f123e6b5" providerId="ADAL" clId="{49660F42-3C57-4A2B-BBDF-092BBF142813}" dt="2025-09-14T11:43:55.495" v="2" actId="2711"/>
        <pc:sldMkLst>
          <pc:docMk/>
          <pc:sldMk cId="110221906" sldId="279"/>
        </pc:sldMkLst>
        <pc:spChg chg="mod">
          <ac:chgData name="Jacinto Velasco Rebolledo" userId="00c16d92-95bd-422a-9db4-b068f123e6b5" providerId="ADAL" clId="{49660F42-3C57-4A2B-BBDF-092BBF142813}" dt="2025-09-14T11:43:55.495" v="2" actId="2711"/>
          <ac:spMkLst>
            <pc:docMk/>
            <pc:sldMk cId="110221906" sldId="279"/>
            <ac:spMk id="2" creationId="{AD7A7B74-ACDE-3952-607E-91F98A156E41}"/>
          </ac:spMkLst>
        </pc:spChg>
        <pc:spChg chg="mod">
          <ac:chgData name="Jacinto Velasco Rebolledo" userId="00c16d92-95bd-422a-9db4-b068f123e6b5" providerId="ADAL" clId="{49660F42-3C57-4A2B-BBDF-092BBF142813}" dt="2025-09-14T11:43:55.495" v="2" actId="2711"/>
          <ac:spMkLst>
            <pc:docMk/>
            <pc:sldMk cId="110221906" sldId="279"/>
            <ac:spMk id="7" creationId="{49E18F14-67C1-03FD-1B54-7C091E7B083A}"/>
          </ac:spMkLst>
        </pc:spChg>
        <pc:spChg chg="mod">
          <ac:chgData name="Jacinto Velasco Rebolledo" userId="00c16d92-95bd-422a-9db4-b068f123e6b5" providerId="ADAL" clId="{49660F42-3C57-4A2B-BBDF-092BBF142813}" dt="2025-09-14T11:43:55.495" v="2" actId="2711"/>
          <ac:spMkLst>
            <pc:docMk/>
            <pc:sldMk cId="110221906" sldId="279"/>
            <ac:spMk id="9" creationId="{F2D642AB-E684-4603-A6BD-4087E8D9F867}"/>
          </ac:spMkLst>
        </pc:spChg>
      </pc:sldChg>
    </pc:docChg>
  </pc:docChgLst>
  <pc:docChgLst>
    <pc:chgData name="Jacinto Velasco Rebolledo" userId="00c16d92-95bd-422a-9db4-b068f123e6b5" providerId="ADAL" clId="{E4C91ED7-1767-414D-99BB-228530B558FA}"/>
    <pc:docChg chg="undo custSel addSld modSld sldOrd addMainMaster delMainMaster modMainMaster">
      <pc:chgData name="Jacinto Velasco Rebolledo" userId="00c16d92-95bd-422a-9db4-b068f123e6b5" providerId="ADAL" clId="{E4C91ED7-1767-414D-99BB-228530B558FA}" dt="2024-10-12T18:45:19.342" v="20"/>
      <pc:docMkLst>
        <pc:docMk/>
      </pc:docMkLst>
      <pc:sldChg chg="mod ord modClrScheme chgLayout">
        <pc:chgData name="Jacinto Velasco Rebolledo" userId="00c16d92-95bd-422a-9db4-b068f123e6b5" providerId="ADAL" clId="{E4C91ED7-1767-414D-99BB-228530B558FA}" dt="2024-10-12T18:45:19.342" v="20"/>
        <pc:sldMkLst>
          <pc:docMk/>
          <pc:sldMk cId="479785776" sldId="280"/>
        </pc:sldMkLst>
      </pc:sldChg>
      <pc:sldChg chg="new">
        <pc:chgData name="Jacinto Velasco Rebolledo" userId="00c16d92-95bd-422a-9db4-b068f123e6b5" providerId="ADAL" clId="{E4C91ED7-1767-414D-99BB-228530B558FA}" dt="2024-10-12T18:45:17.580" v="18" actId="680"/>
        <pc:sldMkLst>
          <pc:docMk/>
          <pc:sldMk cId="3418853889" sldId="281"/>
        </pc:sldMkLst>
      </pc:sldChg>
      <pc:sldMasterChg chg="modSldLayout sldLayoutOrd">
        <pc:chgData name="Jacinto Velasco Rebolledo" userId="00c16d92-95bd-422a-9db4-b068f123e6b5" providerId="ADAL" clId="{E4C91ED7-1767-414D-99BB-228530B558FA}" dt="2024-10-12T18:44:56.816" v="17" actId="20578"/>
        <pc:sldMasterMkLst>
          <pc:docMk/>
          <pc:sldMasterMk cId="3668580849" sldId="2147483648"/>
        </pc:sldMasterMkLst>
        <pc:sldLayoutChg chg="ord">
          <pc:chgData name="Jacinto Velasco Rebolledo" userId="00c16d92-95bd-422a-9db4-b068f123e6b5" providerId="ADAL" clId="{E4C91ED7-1767-414D-99BB-228530B558FA}" dt="2024-10-12T18:44:56.816" v="17" actId="20578"/>
          <pc:sldLayoutMkLst>
            <pc:docMk/>
            <pc:sldMasterMk cId="3668580849" sldId="2147483648"/>
            <pc:sldLayoutMk cId="3744013589" sldId="2147483649"/>
          </pc:sldLayoutMkLst>
        </pc:sldLayoutChg>
        <pc:sldLayoutChg chg="modSp mod ord">
          <pc:chgData name="Jacinto Velasco Rebolledo" userId="00c16d92-95bd-422a-9db4-b068f123e6b5" providerId="ADAL" clId="{E4C91ED7-1767-414D-99BB-228530B558FA}" dt="2024-10-12T18:43:06.462" v="7" actId="20578"/>
          <pc:sldLayoutMkLst>
            <pc:docMk/>
            <pc:sldMasterMk cId="3668580849" sldId="2147483648"/>
            <pc:sldLayoutMk cId="3538840014" sldId="2147483652"/>
          </pc:sldLayoutMkLst>
        </pc:sldLayoutChg>
        <pc:sldLayoutChg chg="delSp modSp mod ord">
          <pc:chgData name="Jacinto Velasco Rebolledo" userId="00c16d92-95bd-422a-9db4-b068f123e6b5" providerId="ADAL" clId="{E4C91ED7-1767-414D-99BB-228530B558FA}" dt="2024-10-12T18:43:59.199" v="15" actId="478"/>
          <pc:sldLayoutMkLst>
            <pc:docMk/>
            <pc:sldMasterMk cId="3668580849" sldId="2147483648"/>
            <pc:sldLayoutMk cId="1876234934" sldId="2147483671"/>
          </pc:sldLayoutMkLst>
        </pc:sldLayoutChg>
      </pc:sldMasterChg>
      <pc:sldMasterChg chg="new del mod addSldLayout delSldLayout">
        <pc:chgData name="Jacinto Velasco Rebolledo" userId="00c16d92-95bd-422a-9db4-b068f123e6b5" providerId="ADAL" clId="{E4C91ED7-1767-414D-99BB-228530B558FA}" dt="2024-10-12T18:42:47.529" v="4" actId="6938"/>
        <pc:sldMasterMkLst>
          <pc:docMk/>
          <pc:sldMasterMk cId="14194649" sldId="2147483650"/>
        </pc:sldMasterMkLst>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2002821661" sldId="2147483651"/>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1798808468" sldId="2147483652"/>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1297023848" sldId="2147483653"/>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1423452817" sldId="2147483654"/>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3462523771" sldId="2147483655"/>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1732825384" sldId="2147483656"/>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3419123074" sldId="2147483657"/>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407924216" sldId="2147483658"/>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262922064" sldId="2147483659"/>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23251519" sldId="2147483660"/>
          </pc:sldLayoutMkLst>
        </pc:sldLayoutChg>
        <pc:sldLayoutChg chg="new del replId">
          <pc:chgData name="Jacinto Velasco Rebolledo" userId="00c16d92-95bd-422a-9db4-b068f123e6b5" providerId="ADAL" clId="{E4C91ED7-1767-414D-99BB-228530B558FA}" dt="2024-10-12T18:42:47.529" v="4" actId="6938"/>
          <pc:sldLayoutMkLst>
            <pc:docMk/>
            <pc:sldMasterMk cId="14194649" sldId="2147483650"/>
            <pc:sldLayoutMk cId="3395872813" sldId="2147483661"/>
          </pc:sldLayoutMkLst>
        </pc:sldLayoutChg>
      </pc:sldMasterChg>
      <pc:sldMasterChg chg="del modSldLayout sldLayoutOrd">
        <pc:chgData name="Jacinto Velasco Rebolledo" userId="00c16d92-95bd-422a-9db4-b068f123e6b5" providerId="ADAL" clId="{E4C91ED7-1767-414D-99BB-228530B558FA}" dt="2024-10-12T18:44:25.694" v="16" actId="2696"/>
        <pc:sldMasterMkLst>
          <pc:docMk/>
          <pc:sldMasterMk cId="1090411801" sldId="2147483650"/>
        </pc:sldMasterMkLst>
        <pc:sldLayoutChg chg="ord">
          <pc:chgData name="Jacinto Velasco Rebolledo" userId="00c16d92-95bd-422a-9db4-b068f123e6b5" providerId="ADAL" clId="{E4C91ED7-1767-414D-99BB-228530B558FA}" dt="2024-10-12T18:43:01.905" v="5" actId="20578"/>
          <pc:sldLayoutMkLst>
            <pc:docMk/>
            <pc:sldMasterMk cId="3668580849" sldId="2147483648"/>
            <pc:sldLayoutMk cId="3538840014" sldId="2147483652"/>
          </pc:sldLayoutMkLst>
        </pc:sldLayoutChg>
        <pc:sldLayoutChg chg="ord">
          <pc:chgData name="Jacinto Velasco Rebolledo" userId="00c16d92-95bd-422a-9db4-b068f123e6b5" providerId="ADAL" clId="{E4C91ED7-1767-414D-99BB-228530B558FA}" dt="2024-10-12T18:43:46.671" v="11" actId="20578"/>
          <pc:sldLayoutMkLst>
            <pc:docMk/>
            <pc:sldMasterMk cId="3668580849" sldId="2147483648"/>
            <pc:sldLayoutMk cId="1876234934" sldId="2147483671"/>
          </pc:sldLayoutMkLst>
        </pc:sldLayoutChg>
      </pc:sldMasterChg>
      <pc:sldMasterChg chg="del">
        <pc:chgData name="Jacinto Velasco Rebolledo" userId="00c16d92-95bd-422a-9db4-b068f123e6b5" providerId="ADAL" clId="{E4C91ED7-1767-414D-99BB-228530B558FA}" dt="2024-10-12T18:42:37.238" v="2" actId="2696"/>
        <pc:sldMasterMkLst>
          <pc:docMk/>
          <pc:sldMasterMk cId="2683707030" sldId="2147483650"/>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es-ES_tradnl"/>
          </a:p>
        </p:txBody>
      </p:sp>
      <p:sp>
        <p:nvSpPr>
          <p:cNvPr id="3" name="Marcador de fecha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6F5C5E53-F147-8644-A0CF-46FCFCB7C5D6}" type="datetimeFigureOut">
              <a:rPr lang="es-ES_tradnl" smtClean="0"/>
              <a:t>14/09/2025</a:t>
            </a:fld>
            <a:endParaRPr lang="es-ES_tradnl"/>
          </a:p>
        </p:txBody>
      </p:sp>
      <p:sp>
        <p:nvSpPr>
          <p:cNvPr id="4" name="Marcador de imagen de diapositiva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es-ES_tradnl"/>
          </a:p>
        </p:txBody>
      </p:sp>
      <p:sp>
        <p:nvSpPr>
          <p:cNvPr id="5" name="Marcador de notas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es-ES_tradnl"/>
          </a:p>
        </p:txBody>
      </p:sp>
      <p:sp>
        <p:nvSpPr>
          <p:cNvPr id="7" name="Marcador de número de diapositiva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447058AE-FEB0-D242-BCAE-44464DE802C9}" type="slidenum">
              <a:rPr lang="es-ES_tradnl" smtClean="0"/>
              <a:t>‹Nº›</a:t>
            </a:fld>
            <a:endParaRPr lang="es-ES_tradnl"/>
          </a:p>
        </p:txBody>
      </p:sp>
    </p:spTree>
    <p:extLst>
      <p:ext uri="{BB962C8B-B14F-4D97-AF65-F5344CB8AC3E}">
        <p14:creationId xmlns:p14="http://schemas.microsoft.com/office/powerpoint/2010/main" val="2743059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Presentación del trabajo: predecir, antes del tratamiento, si una paciente con cáncer de mama alcanzará respuesta patológica completa, usando solo imagen. El fondo es la propia red E57 dibujada con sus dimensiones reales, la misma que aparece en la web. Las cifras de la barra: 1.097 pacientes de entrenamiento y 176 de test, tres cohortes, una CNN propia de 298.161 parámetros y un AUC de 0,573 en el test público, evaluado una sola vez.</a:t>
            </a:r>
          </a:p>
        </p:txBody>
      </p:sp>
      <p:sp>
        <p:nvSpPr>
          <p:cNvPr id="4" name="Marcador de número de diapositiva 3"/>
          <p:cNvSpPr>
            <a:spLocks noGrp="1"/>
          </p:cNvSpPr>
          <p:nvPr>
            <p:ph type="sldNum" sz="quarter" idx="5"/>
          </p:nvPr>
        </p:nvSpPr>
        <p:spPr/>
        <p:txBody>
          <a:bodyPr/>
          <a:lstStyle/>
          <a:p>
            <a:fld id="{447058AE-FEB0-D242-BCAE-44464DE802C9}" type="slidenum">
              <a:rPr lang="es-ES_tradnl" smtClean="0"/>
              <a:t>1</a:t>
            </a:fld>
            <a:endParaRPr lang="es-ES_tradnl" dirty="0"/>
          </a:p>
        </p:txBody>
      </p:sp>
    </p:spTree>
    <p:extLst>
      <p:ext uri="{BB962C8B-B14F-4D97-AF65-F5344CB8AC3E}">
        <p14:creationId xmlns:p14="http://schemas.microsoft.com/office/powerpoint/2010/main" val="3344922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Para cerrar: el número final no es alto, pero el trabajo enseña cómo llegar a una cifra en la que se puede confiar. Se encontró por qué el modelo no aprendía, se corrigió la receta y se comprobó que lo aprendido no se traslada a pacientes nuevas; la validación cruzada anticipó lo que luego dio el test. Con solo imagen, 1.097 pacientes de tres cohortes y cortes sueltos, la señal es débil y en parte depende de la cohorte. Los siguientes pasos naturales serían más datos, validación por cohorte y aprovechar el volumen completo.</a:t>
            </a:r>
          </a:p>
        </p:txBody>
      </p:sp>
      <p:sp>
        <p:nvSpPr>
          <p:cNvPr id="4" name="Marcador de número de diapositiva 3"/>
          <p:cNvSpPr>
            <a:spLocks noGrp="1"/>
          </p:cNvSpPr>
          <p:nvPr>
            <p:ph type="sldNum" sz="quarter" idx="5"/>
          </p:nvPr>
        </p:nvSpPr>
        <p:spPr/>
        <p:txBody>
          <a:bodyPr/>
          <a:lstStyle/>
          <a:p>
            <a:fld id="{447058AE-FEB0-D242-BCAE-44464DE802C9}" type="slidenum">
              <a:rPr lang="es-ES_tradnl" smtClean="0"/>
              <a:t>4</a:t>
            </a:fld>
            <a:endParaRPr lang="es-ES_tradnl"/>
          </a:p>
        </p:txBody>
      </p:sp>
    </p:spTree>
    <p:extLst>
      <p:ext uri="{BB962C8B-B14F-4D97-AF65-F5344CB8AC3E}">
        <p14:creationId xmlns:p14="http://schemas.microsoft.com/office/powerpoint/2010/main" val="309931464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clínico: la quimioterapia neoadyuvante se da antes de operar, y la respuesta patológica completa solo se conoce al analizar la pieza quirúrgica. Si se pudiera anticipar con la resonancia previa, ayudaría a planificar; aquí se estudia si una CNN puede hacerlo. La entrada es un corte con tres fases temporales. Insistir en que no son colores: por eso la red las combina como PRE, EARLY menos PRE y LATE menos EARLY. El objetivo es binario y la unidad es la paciente. Las reglas del enunciado condicionan todo el diseño: red propia, particiones por paciente, test una sola vez y comparación obligatoria de las dos pérdidas.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punto es una paciente: azul sin pCR, rosa con pCR, y cada columna se ordena por cohorte (Duke, I-SPY1, I-SPY2). Todos los cortes de una paciente van al mismo grupo; mezclarlos inflaría el resultado. Las clases están desequilibradas, 29 % con pCR, y por eso se compara la BCE normal con la ponderada, con pos_weight igual a negativos entre positivos, unos 2,4. Las cohortes tienen prevalencias distintas (21 % en Duke, 32 % en I-SPY2) y saber solo la cohorte ya da un AUC de 0,55: es un sesgo que hay que tener presente. El preprocesado es mínimo y es exactamente el mismo en la web, que es lo que se comprueba en la defensa.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E57 es una red propia, sin nada preentrenado. Primero convierte las fases en PRE, EARLY menos PRE y LATE menos EARLY, una resta fija sin parámetros que pone el realce delante. Después cuatro bloques reducen la imagen de 256 a 16 píxeles de lado mientras los canales suben de 16 a 128; casi tres cuartas partes de los parámetros están en el último bloque. La media espacial global resume cada canal en un número y la cabeza lineal da un logit, que la sigmoide convierte en probabilidad. Para una paciente se promedian las probabilidades de sus cortes. El diagrama se genera ejecutando la red con una entrada ficticia, así que los tamaños son los reales.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lección principal es cómo se mide. El pico de validación de E57 fue 0,670, pero la época se eligió mirando esas mismas pacientes, así que es optimista; la media de los picos de los cinco folds, 0,622, tiene el mismo sesgo. Con una validación cruzada de cinco folds, donde las pacientes de cada fold no intervienen en ninguna decisión, la receta corregida (P02, lotes de 10 pacientes y aumento geométrico) da 0,532, y el test de E57, evaluado una sola vez, da 0,573, dentro de ese rango. Las barras empiezan en 0,4; la línea gris es el azar y la verde un buen modelo teórico de 0,8. La comparación obligatoria entre BCE normal y ponderada no muestra diferencia: el intervalo incluye el cero. El diagnóstico explica por qué E57 apenas aprendía: con dos pacientes por lote BatchNorm normaliza casi dentro de cada paciente. Corregirlo hace que la red se ajuste al entrenamiento, pero lo aprendido no se traslada a pacientes nuevas, y la cohorte pesa: en Duke ordena al revés. Se entrega E57 porque las reglas, fijadas antes de ver la validación cruzada, pedían 0,55 para sustituirlo.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aplicación usa exactamente el mismo cargador que el entrenamiento: tres PNG en gris divididos entre 255, sin otra normalización. Se comprobó que la web y el pipeline de evaluación dan la misma probabilidad para el mismo corte, 0,336232. En la sección Pruebas se pueden soltar varios cortes o una carpeta; cada fila muestra la probabilidad frente al umbral y, para los cortes del CSV público, si coincide con la etiqueta real. Para la defensa se probaron cinco cargas seguidas sin reiniciar y los errores típicos. Límites: el AUC es modesto y con mucha incertidumbre, parte de la señal depende de la cohorte, el umbral se eligió agregando cortes por paciente y aquí se aplica a uno solo, y nada de esto tiene validez clínica.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uax.com/"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pic>
        <p:nvPicPr>
          <p:cNvPr id="2" name="Imagen 1">
            <a:hlinkClick r:id="rId2"/>
            <a:extLst>
              <a:ext uri="{FF2B5EF4-FFF2-40B4-BE49-F238E27FC236}">
                <a16:creationId xmlns:a16="http://schemas.microsoft.com/office/drawing/2014/main" id="{5BF8870F-7094-C29D-E8ED-ECA89B03654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5346" y="260963"/>
            <a:ext cx="1874520" cy="411480"/>
          </a:xfrm>
          <a:prstGeom prst="rect">
            <a:avLst/>
          </a:prstGeom>
          <a:noFill/>
          <a:ln>
            <a:noFill/>
          </a:ln>
        </p:spPr>
      </p:pic>
    </p:spTree>
    <p:extLst>
      <p:ext uri="{BB962C8B-B14F-4D97-AF65-F5344CB8AC3E}">
        <p14:creationId xmlns:p14="http://schemas.microsoft.com/office/powerpoint/2010/main" val="18762349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2" name="object 25">
            <a:extLst>
              <a:ext uri="{FF2B5EF4-FFF2-40B4-BE49-F238E27FC236}">
                <a16:creationId xmlns:a16="http://schemas.microsoft.com/office/drawing/2014/main" id="{B5B8F871-0E84-42DA-BFCD-CDAC5D2E416E}"/>
              </a:ext>
            </a:extLst>
          </p:cNvPr>
          <p:cNvPicPr>
            <a:picLocks noChangeAspect="1"/>
          </p:cNvPicPr>
          <p:nvPr userDrawn="1"/>
        </p:nvPicPr>
        <p:blipFill rotWithShape="1">
          <a:blip r:embed="rId2" cstate="print"/>
          <a:srcRect b="9915"/>
          <a:stretch/>
        </p:blipFill>
        <p:spPr>
          <a:xfrm>
            <a:off x="9666514" y="5977316"/>
            <a:ext cx="2525486" cy="880683"/>
          </a:xfrm>
          <a:prstGeom prst="rect">
            <a:avLst/>
          </a:prstGeom>
        </p:spPr>
      </p:pic>
    </p:spTree>
    <p:extLst>
      <p:ext uri="{BB962C8B-B14F-4D97-AF65-F5344CB8AC3E}">
        <p14:creationId xmlns:p14="http://schemas.microsoft.com/office/powerpoint/2010/main" val="37440135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580849"/>
      </p:ext>
    </p:extLst>
  </p:cSld>
  <p:clrMap bg1="lt1" tx1="dk1" bg2="lt2" tx2="dk2" accent1="accent1" accent2="accent2" accent3="accent3" accent4="accent4" accent5="accent5" accent6="accent6" hlink="hlink" folHlink="folHlink"/>
  <p:sldLayoutIdLst>
    <p:sldLayoutId id="2147483671"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rma libre 11">
            <a:extLst>
              <a:ext uri="{FF2B5EF4-FFF2-40B4-BE49-F238E27FC236}">
                <a16:creationId xmlns:a16="http://schemas.microsoft.com/office/drawing/2014/main" id="{D2B11345-E8EA-ACC7-79CF-9FA1F48C198A}"/>
              </a:ext>
            </a:extLst>
          </p:cNvPr>
          <p:cNvSpPr/>
          <p:nvPr/>
        </p:nvSpPr>
        <p:spPr>
          <a:xfrm>
            <a:off x="0" y="0"/>
            <a:ext cx="12192001" cy="6858000"/>
          </a:xfrm>
          <a:custGeom>
            <a:avLst/>
            <a:gdLst>
              <a:gd name="connsiteX0" fmla="*/ 1130164 w 5988108"/>
              <a:gd name="connsiteY0" fmla="*/ 0 h 6858123"/>
              <a:gd name="connsiteX1" fmla="*/ 4627399 w 5988108"/>
              <a:gd name="connsiteY1" fmla="*/ 0 h 6858123"/>
              <a:gd name="connsiteX2" fmla="*/ 4627399 w 5988108"/>
              <a:gd name="connsiteY2" fmla="*/ 121 h 6858123"/>
              <a:gd name="connsiteX3" fmla="*/ 5988108 w 5988108"/>
              <a:gd name="connsiteY3" fmla="*/ 121 h 6858123"/>
              <a:gd name="connsiteX4" fmla="*/ 3645379 w 5988108"/>
              <a:gd name="connsiteY4" fmla="*/ 6858120 h 6858123"/>
              <a:gd name="connsiteX5" fmla="*/ 3497235 w 5988108"/>
              <a:gd name="connsiteY5" fmla="*/ 6858120 h 6858123"/>
              <a:gd name="connsiteX6" fmla="*/ 3497235 w 5988108"/>
              <a:gd name="connsiteY6" fmla="*/ 6858123 h 6858123"/>
              <a:gd name="connsiteX7" fmla="*/ 0 w 5988108"/>
              <a:gd name="connsiteY7" fmla="*/ 6858123 h 6858123"/>
              <a:gd name="connsiteX8" fmla="*/ 0 w 5988108"/>
              <a:gd name="connsiteY8" fmla="*/ 123 h 6858123"/>
              <a:gd name="connsiteX9" fmla="*/ 1130164 w 5988108"/>
              <a:gd name="connsiteY9" fmla="*/ 123 h 685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8108" h="6858123">
                <a:moveTo>
                  <a:pt x="1130164" y="0"/>
                </a:moveTo>
                <a:lnTo>
                  <a:pt x="4627399" y="0"/>
                </a:lnTo>
                <a:lnTo>
                  <a:pt x="4627399" y="121"/>
                </a:lnTo>
                <a:lnTo>
                  <a:pt x="5988108" y="121"/>
                </a:lnTo>
                <a:lnTo>
                  <a:pt x="3645379" y="6858120"/>
                </a:lnTo>
                <a:lnTo>
                  <a:pt x="3497235" y="6858120"/>
                </a:lnTo>
                <a:lnTo>
                  <a:pt x="3497235" y="6858123"/>
                </a:lnTo>
                <a:lnTo>
                  <a:pt x="0" y="6858123"/>
                </a:lnTo>
                <a:lnTo>
                  <a:pt x="0" y="123"/>
                </a:lnTo>
                <a:lnTo>
                  <a:pt x="1130164" y="123"/>
                </a:lnTo>
                <a:close/>
              </a:path>
            </a:pathLst>
          </a:custGeom>
          <a:solidFill>
            <a:srgbClr val="0760A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dirty="0"/>
          </a:p>
        </p:txBody>
      </p:sp>
      <p:pic>
        <p:nvPicPr>
          <p:cNvPr id="13" name="Picture 12" descr="red_portada.png"/>
          <p:cNvPicPr>
            <a:picLocks noChangeAspect="1"/>
          </p:cNvPicPr>
          <p:nvPr/>
        </p:nvPicPr>
        <p:blipFill>
          <a:blip r:embed="rId4"/>
          <a:stretch>
            <a:fillRect/>
          </a:stretch>
        </p:blipFill>
        <p:spPr>
          <a:xfrm>
            <a:off x="1905000" y="698500"/>
            <a:ext cx="7112000" cy="3810000"/>
          </a:xfrm>
          <a:prstGeom prst="rect">
            <a:avLst/>
          </a:prstGeom>
        </p:spPr>
      </p:pic>
      <p:pic>
        <p:nvPicPr>
          <p:cNvPr id="10" name="object 16">
            <a:extLst>
              <a:ext uri="{FF2B5EF4-FFF2-40B4-BE49-F238E27FC236}">
                <a16:creationId xmlns:a16="http://schemas.microsoft.com/office/drawing/2014/main" id="{58731C1D-78BA-E384-79A1-F1D7DFBABCC3}"/>
              </a:ext>
            </a:extLst>
          </p:cNvPr>
          <p:cNvPicPr/>
          <p:nvPr/>
        </p:nvPicPr>
        <p:blipFill>
          <a:blip r:embed="rId3" cstate="print"/>
          <a:stretch>
            <a:fillRect/>
          </a:stretch>
        </p:blipFill>
        <p:spPr>
          <a:xfrm>
            <a:off x="0" y="5538902"/>
            <a:ext cx="3497234" cy="1319098"/>
          </a:xfrm>
          <a:prstGeom prst="rect">
            <a:avLst/>
          </a:prstGeom>
        </p:spPr>
      </p:pic>
      <p:sp>
        <p:nvSpPr>
          <p:cNvPr id="14" name="TextBox 13"/>
          <p:cNvSpPr txBox="1"/>
          <p:nvPr/>
        </p:nvSpPr>
        <p:spPr>
          <a:xfrm>
            <a:off x="711200" y="660400"/>
            <a:ext cx="9525000" cy="215900"/>
          </a:xfrm>
          <a:prstGeom prst="rect">
            <a:avLst/>
          </a:prstGeom>
          <a:noFill/>
        </p:spPr>
        <p:txBody>
          <a:bodyPr wrap="square" anchor="t" lIns="0" rIns="0" tIns="0" bIns="0">
            <a:spAutoFit/>
          </a:bodyPr>
          <a:lstStyle/>
          <a:p>
            <a:pPr algn="l">
              <a:lnSpc>
                <a:spcPct val="83333"/>
              </a:lnSpc>
            </a:pPr>
            <a:r>
              <a:rPr sz="1200" b="1" spc="250">
                <a:solidFill>
                  <a:srgbClr val="F6B8D6"/>
                </a:solidFill>
                <a:latin typeface="Arial"/>
              </a:rPr>
              <a:t>UNIVERSIDAD ALFONSO X EL SABIO · APRENDIZAJE AUTOMÁTICO · 2026–2027</a:t>
            </a:r>
          </a:p>
        </p:txBody>
      </p:sp>
      <p:sp>
        <p:nvSpPr>
          <p:cNvPr id="15" name="TextBox 14"/>
          <p:cNvSpPr txBox="1"/>
          <p:nvPr/>
        </p:nvSpPr>
        <p:spPr>
          <a:xfrm>
            <a:off x="711200" y="952500"/>
            <a:ext cx="7302500" cy="2667000"/>
          </a:xfrm>
          <a:prstGeom prst="rect">
            <a:avLst/>
          </a:prstGeom>
          <a:noFill/>
        </p:spPr>
        <p:txBody>
          <a:bodyPr wrap="square" anchor="t" lIns="0" rIns="0" tIns="0" bIns="0">
            <a:spAutoFit/>
          </a:bodyPr>
          <a:lstStyle/>
          <a:p>
            <a:pPr algn="l">
              <a:lnSpc>
                <a:spcPct val="79167"/>
              </a:lnSpc>
            </a:pPr>
            <a:r>
              <a:rPr sz="6600" b="1">
                <a:solidFill>
                  <a:srgbClr val="FFFFFF"/>
                </a:solidFill>
                <a:latin typeface="Arial Narrow"/>
              </a:rPr>
              <a:t>Respuesta al tratamiento neoadyuvante</a:t>
            </a:r>
          </a:p>
        </p:txBody>
      </p:sp>
      <p:sp>
        <p:nvSpPr>
          <p:cNvPr id="16" name="TextBox 15"/>
          <p:cNvSpPr txBox="1"/>
          <p:nvPr/>
        </p:nvSpPr>
        <p:spPr>
          <a:xfrm>
            <a:off x="711200" y="3632200"/>
            <a:ext cx="7112000" cy="635000"/>
          </a:xfrm>
          <a:prstGeom prst="rect">
            <a:avLst/>
          </a:prstGeom>
          <a:noFill/>
        </p:spPr>
        <p:txBody>
          <a:bodyPr wrap="square" anchor="t" lIns="0" rIns="0" tIns="0" bIns="0">
            <a:spAutoFit/>
          </a:bodyPr>
          <a:lstStyle/>
          <a:p>
            <a:pPr algn="l">
              <a:lnSpc>
                <a:spcPct val="112500"/>
              </a:lnSpc>
            </a:pPr>
            <a:r>
              <a:rPr sz="1600" b="0">
                <a:solidFill>
                  <a:srgbClr val="D3E3F4"/>
                </a:solidFill>
                <a:latin typeface="Arial"/>
              </a:rPr>
              <a:t>Probabilidad de respuesta patológica completa (pCR) a partir de las tres fases DCE-MRI de un corte, con una CNN 2D entrenada desde cero.</a:t>
            </a:r>
          </a:p>
        </p:txBody>
      </p:sp>
      <p:sp>
        <p:nvSpPr>
          <p:cNvPr id="17" name="Rounded Rectangle 16"/>
          <p:cNvSpPr/>
          <p:nvPr/>
        </p:nvSpPr>
        <p:spPr>
          <a:xfrm>
            <a:off x="711200" y="4470400"/>
            <a:ext cx="7429500" cy="812800"/>
          </a:xfrm>
          <a:prstGeom prst="roundRect">
            <a:avLst>
              <a:gd name="adj" fmla="val 15625"/>
            </a:avLst>
          </a:prstGeom>
          <a:solidFill>
            <a:srgbClr val="0A548F"/>
          </a:solidFill>
          <a:ln w="9525">
            <a:solidFill>
              <a:srgbClr val="3A84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800" y="4622800"/>
            <a:ext cx="1222529" cy="355600"/>
          </a:xfrm>
          <a:prstGeom prst="rect">
            <a:avLst/>
          </a:prstGeom>
          <a:noFill/>
        </p:spPr>
        <p:txBody>
          <a:bodyPr wrap="square" anchor="t" lIns="0" rIns="0" tIns="0" bIns="0">
            <a:spAutoFit/>
          </a:bodyPr>
          <a:lstStyle/>
          <a:p>
            <a:pPr algn="l">
              <a:lnSpc>
                <a:spcPct val="83333"/>
              </a:lnSpc>
            </a:pPr>
            <a:r>
              <a:rPr sz="2800" b="1">
                <a:solidFill>
                  <a:srgbClr val="FFFFFF"/>
                </a:solidFill>
                <a:latin typeface="Arial Narrow"/>
              </a:rPr>
              <a:t>1.097</a:t>
            </a:r>
          </a:p>
        </p:txBody>
      </p:sp>
      <p:sp>
        <p:nvSpPr>
          <p:cNvPr id="19" name="TextBox 18"/>
          <p:cNvSpPr txBox="1"/>
          <p:nvPr/>
        </p:nvSpPr>
        <p:spPr>
          <a:xfrm>
            <a:off x="939800" y="5003800"/>
            <a:ext cx="1222529" cy="190500"/>
          </a:xfrm>
          <a:prstGeom prst="rect">
            <a:avLst/>
          </a:prstGeom>
          <a:noFill/>
        </p:spPr>
        <p:txBody>
          <a:bodyPr wrap="square" anchor="t" lIns="0" rIns="0" tIns="0" bIns="0">
            <a:spAutoFit/>
          </a:bodyPr>
          <a:lstStyle/>
          <a:p>
            <a:pPr algn="l">
              <a:lnSpc>
                <a:spcPct val="83333"/>
              </a:lnSpc>
            </a:pPr>
            <a:r>
              <a:rPr sz="1200" b="0">
                <a:solidFill>
                  <a:srgbClr val="D3E3F4"/>
                </a:solidFill>
                <a:latin typeface="Arial"/>
              </a:rPr>
              <a:t>pacientes de train</a:t>
            </a:r>
          </a:p>
        </p:txBody>
      </p:sp>
      <p:sp>
        <p:nvSpPr>
          <p:cNvPr id="20" name="Rectangle 19"/>
          <p:cNvSpPr/>
          <p:nvPr/>
        </p:nvSpPr>
        <p:spPr>
          <a:xfrm>
            <a:off x="2200429" y="4622800"/>
            <a:ext cx="6350" cy="508000"/>
          </a:xfrm>
          <a:prstGeom prst="rect">
            <a:avLst/>
          </a:prstGeom>
          <a:solidFill>
            <a:srgbClr val="3A8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52829" y="4622800"/>
            <a:ext cx="1222529" cy="355600"/>
          </a:xfrm>
          <a:prstGeom prst="rect">
            <a:avLst/>
          </a:prstGeom>
          <a:noFill/>
        </p:spPr>
        <p:txBody>
          <a:bodyPr wrap="square" anchor="t" lIns="0" rIns="0" tIns="0" bIns="0">
            <a:spAutoFit/>
          </a:bodyPr>
          <a:lstStyle/>
          <a:p>
            <a:pPr algn="l">
              <a:lnSpc>
                <a:spcPct val="83333"/>
              </a:lnSpc>
            </a:pPr>
            <a:r>
              <a:rPr sz="2800" b="1">
                <a:solidFill>
                  <a:srgbClr val="FFFFFF"/>
                </a:solidFill>
                <a:latin typeface="Arial Narrow"/>
              </a:rPr>
              <a:t>176</a:t>
            </a:r>
          </a:p>
        </p:txBody>
      </p:sp>
      <p:sp>
        <p:nvSpPr>
          <p:cNvPr id="22" name="TextBox 21"/>
          <p:cNvSpPr txBox="1"/>
          <p:nvPr/>
        </p:nvSpPr>
        <p:spPr>
          <a:xfrm>
            <a:off x="2352829" y="5003800"/>
            <a:ext cx="1222529" cy="190500"/>
          </a:xfrm>
          <a:prstGeom prst="rect">
            <a:avLst/>
          </a:prstGeom>
          <a:noFill/>
        </p:spPr>
        <p:txBody>
          <a:bodyPr wrap="square" anchor="t" lIns="0" rIns="0" tIns="0" bIns="0">
            <a:spAutoFit/>
          </a:bodyPr>
          <a:lstStyle/>
          <a:p>
            <a:pPr algn="l">
              <a:lnSpc>
                <a:spcPct val="83333"/>
              </a:lnSpc>
            </a:pPr>
            <a:r>
              <a:rPr sz="1200" b="0">
                <a:solidFill>
                  <a:srgbClr val="D3E3F4"/>
                </a:solidFill>
                <a:latin typeface="Arial"/>
              </a:rPr>
              <a:t>pacientes de test</a:t>
            </a:r>
          </a:p>
        </p:txBody>
      </p:sp>
      <p:sp>
        <p:nvSpPr>
          <p:cNvPr id="23" name="Rectangle 22"/>
          <p:cNvSpPr/>
          <p:nvPr/>
        </p:nvSpPr>
        <p:spPr>
          <a:xfrm>
            <a:off x="3613458" y="4622800"/>
            <a:ext cx="6350" cy="508000"/>
          </a:xfrm>
          <a:prstGeom prst="rect">
            <a:avLst/>
          </a:prstGeom>
          <a:solidFill>
            <a:srgbClr val="3A8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65858" y="4622800"/>
            <a:ext cx="869271" cy="355600"/>
          </a:xfrm>
          <a:prstGeom prst="rect">
            <a:avLst/>
          </a:prstGeom>
          <a:noFill/>
        </p:spPr>
        <p:txBody>
          <a:bodyPr wrap="square" anchor="t" lIns="0" rIns="0" tIns="0" bIns="0">
            <a:spAutoFit/>
          </a:bodyPr>
          <a:lstStyle/>
          <a:p>
            <a:pPr algn="l">
              <a:lnSpc>
                <a:spcPct val="83333"/>
              </a:lnSpc>
            </a:pPr>
            <a:r>
              <a:rPr sz="2800" b="1">
                <a:solidFill>
                  <a:srgbClr val="FFFFFF"/>
                </a:solidFill>
                <a:latin typeface="Arial Narrow"/>
              </a:rPr>
              <a:t>3</a:t>
            </a:r>
          </a:p>
        </p:txBody>
      </p:sp>
      <p:sp>
        <p:nvSpPr>
          <p:cNvPr id="25" name="TextBox 24"/>
          <p:cNvSpPr txBox="1"/>
          <p:nvPr/>
        </p:nvSpPr>
        <p:spPr>
          <a:xfrm>
            <a:off x="3765858" y="5003800"/>
            <a:ext cx="869271" cy="190500"/>
          </a:xfrm>
          <a:prstGeom prst="rect">
            <a:avLst/>
          </a:prstGeom>
          <a:noFill/>
        </p:spPr>
        <p:txBody>
          <a:bodyPr wrap="square" anchor="t" lIns="0" rIns="0" tIns="0" bIns="0">
            <a:spAutoFit/>
          </a:bodyPr>
          <a:lstStyle/>
          <a:p>
            <a:pPr algn="l">
              <a:lnSpc>
                <a:spcPct val="83333"/>
              </a:lnSpc>
            </a:pPr>
            <a:r>
              <a:rPr sz="1200" b="0">
                <a:solidFill>
                  <a:srgbClr val="D3E3F4"/>
                </a:solidFill>
                <a:latin typeface="Arial"/>
              </a:rPr>
              <a:t>cohortes</a:t>
            </a:r>
          </a:p>
        </p:txBody>
      </p:sp>
      <p:sp>
        <p:nvSpPr>
          <p:cNvPr id="26" name="Rectangle 25"/>
          <p:cNvSpPr/>
          <p:nvPr/>
        </p:nvSpPr>
        <p:spPr>
          <a:xfrm>
            <a:off x="4673230" y="4622800"/>
            <a:ext cx="6350" cy="508000"/>
          </a:xfrm>
          <a:prstGeom prst="rect">
            <a:avLst/>
          </a:prstGeom>
          <a:solidFill>
            <a:srgbClr val="3A8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5630" y="4622800"/>
            <a:ext cx="1646437" cy="355600"/>
          </a:xfrm>
          <a:prstGeom prst="rect">
            <a:avLst/>
          </a:prstGeom>
          <a:noFill/>
        </p:spPr>
        <p:txBody>
          <a:bodyPr wrap="square" anchor="t" lIns="0" rIns="0" tIns="0" bIns="0">
            <a:spAutoFit/>
          </a:bodyPr>
          <a:lstStyle/>
          <a:p>
            <a:pPr algn="l">
              <a:lnSpc>
                <a:spcPct val="83333"/>
              </a:lnSpc>
            </a:pPr>
            <a:r>
              <a:rPr sz="2800" b="1">
                <a:solidFill>
                  <a:srgbClr val="FFFFFF"/>
                </a:solidFill>
                <a:latin typeface="Arial Narrow"/>
              </a:rPr>
              <a:t>298.161</a:t>
            </a:r>
          </a:p>
        </p:txBody>
      </p:sp>
      <p:sp>
        <p:nvSpPr>
          <p:cNvPr id="28" name="TextBox 27"/>
          <p:cNvSpPr txBox="1"/>
          <p:nvPr/>
        </p:nvSpPr>
        <p:spPr>
          <a:xfrm>
            <a:off x="4825630" y="5003800"/>
            <a:ext cx="1646437" cy="190500"/>
          </a:xfrm>
          <a:prstGeom prst="rect">
            <a:avLst/>
          </a:prstGeom>
          <a:noFill/>
        </p:spPr>
        <p:txBody>
          <a:bodyPr wrap="square" anchor="t" lIns="0" rIns="0" tIns="0" bIns="0">
            <a:spAutoFit/>
          </a:bodyPr>
          <a:lstStyle/>
          <a:p>
            <a:pPr algn="l">
              <a:lnSpc>
                <a:spcPct val="83333"/>
              </a:lnSpc>
            </a:pPr>
            <a:r>
              <a:rPr sz="1200" b="0">
                <a:solidFill>
                  <a:srgbClr val="D3E3F4"/>
                </a:solidFill>
                <a:latin typeface="Arial"/>
              </a:rPr>
              <a:t>parámetros</a:t>
            </a:r>
          </a:p>
        </p:txBody>
      </p:sp>
      <p:sp>
        <p:nvSpPr>
          <p:cNvPr id="29" name="Rectangle 28"/>
          <p:cNvSpPr/>
          <p:nvPr/>
        </p:nvSpPr>
        <p:spPr>
          <a:xfrm>
            <a:off x="6510167" y="4622800"/>
            <a:ext cx="6350" cy="508000"/>
          </a:xfrm>
          <a:prstGeom prst="rect">
            <a:avLst/>
          </a:prstGeom>
          <a:solidFill>
            <a:srgbClr val="3A8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567" y="4622800"/>
            <a:ext cx="1363832" cy="355600"/>
          </a:xfrm>
          <a:prstGeom prst="rect">
            <a:avLst/>
          </a:prstGeom>
          <a:noFill/>
        </p:spPr>
        <p:txBody>
          <a:bodyPr wrap="square" anchor="t" lIns="0" rIns="0" tIns="0" bIns="0">
            <a:spAutoFit/>
          </a:bodyPr>
          <a:lstStyle/>
          <a:p>
            <a:pPr algn="l">
              <a:lnSpc>
                <a:spcPct val="83333"/>
              </a:lnSpc>
            </a:pPr>
            <a:r>
              <a:rPr sz="2800" b="1">
                <a:solidFill>
                  <a:srgbClr val="F6B8D6"/>
                </a:solidFill>
                <a:latin typeface="Arial Narrow"/>
              </a:rPr>
              <a:t>0,573</a:t>
            </a:r>
          </a:p>
        </p:txBody>
      </p:sp>
      <p:sp>
        <p:nvSpPr>
          <p:cNvPr id="31" name="TextBox 30"/>
          <p:cNvSpPr txBox="1"/>
          <p:nvPr/>
        </p:nvSpPr>
        <p:spPr>
          <a:xfrm>
            <a:off x="6662567" y="5003800"/>
            <a:ext cx="1363832" cy="190500"/>
          </a:xfrm>
          <a:prstGeom prst="rect">
            <a:avLst/>
          </a:prstGeom>
          <a:noFill/>
        </p:spPr>
        <p:txBody>
          <a:bodyPr wrap="square" anchor="t" lIns="0" rIns="0" tIns="0" bIns="0">
            <a:spAutoFit/>
          </a:bodyPr>
          <a:lstStyle/>
          <a:p>
            <a:pPr algn="l">
              <a:lnSpc>
                <a:spcPct val="83333"/>
              </a:lnSpc>
            </a:pPr>
            <a:r>
              <a:rPr sz="1200" b="0">
                <a:solidFill>
                  <a:srgbClr val="D3E3F4"/>
                </a:solidFill>
                <a:latin typeface="Arial"/>
              </a:rPr>
              <a:t>AUC en test</a:t>
            </a:r>
          </a:p>
        </p:txBody>
      </p:sp>
      <p:sp>
        <p:nvSpPr>
          <p:cNvPr id="32" name="TextBox 31"/>
          <p:cNvSpPr txBox="1"/>
          <p:nvPr/>
        </p:nvSpPr>
        <p:spPr>
          <a:xfrm>
            <a:off x="3810000" y="6019800"/>
            <a:ext cx="4064000" cy="215900"/>
          </a:xfrm>
          <a:prstGeom prst="rect">
            <a:avLst/>
          </a:prstGeom>
          <a:noFill/>
        </p:spPr>
        <p:txBody>
          <a:bodyPr wrap="square" anchor="t" lIns="0" rIns="0" tIns="0" bIns="0">
            <a:spAutoFit/>
          </a:bodyPr>
          <a:lstStyle/>
          <a:p>
            <a:pPr algn="l">
              <a:lnSpc>
                <a:spcPct val="83333"/>
              </a:lnSpc>
            </a:pPr>
            <a:r>
              <a:rPr sz="1200" b="1">
                <a:solidFill>
                  <a:srgbClr val="FFFFFF"/>
                </a:solidFill>
                <a:latin typeface="Arial"/>
              </a:rPr>
              <a:t>Rubén Elices Rodríguez</a:t>
            </a:r>
            <a:r>
              <a:rPr sz="1200" b="0">
                <a:solidFill>
                  <a:srgbClr val="FFFFFF"/>
                </a:solidFill>
                <a:latin typeface="Arial"/>
              </a:rPr>
              <a:t> · 4.º Ingeniería Matemática</a:t>
            </a:r>
          </a:p>
        </p:txBody>
      </p:sp>
      <p:sp>
        <p:nvSpPr>
          <p:cNvPr id="33" name="TextBox 32"/>
          <p:cNvSpPr txBox="1"/>
          <p:nvPr/>
        </p:nvSpPr>
        <p:spPr>
          <a:xfrm>
            <a:off x="3810000" y="6261100"/>
            <a:ext cx="4064000" cy="190500"/>
          </a:xfrm>
          <a:prstGeom prst="rect">
            <a:avLst/>
          </a:prstGeom>
          <a:noFill/>
        </p:spPr>
        <p:txBody>
          <a:bodyPr wrap="square" anchor="t" lIns="0" rIns="0" tIns="0" bIns="0">
            <a:spAutoFit/>
          </a:bodyPr>
          <a:lstStyle/>
          <a:p>
            <a:pPr algn="l">
              <a:lnSpc>
                <a:spcPct val="83333"/>
              </a:lnSpc>
            </a:pPr>
            <a:r>
              <a:rPr sz="1100" b="0">
                <a:solidFill>
                  <a:srgbClr val="D3E3F4"/>
                </a:solidFill>
                <a:latin typeface="Arial"/>
              </a:rPr>
              <a:t>Uso educativo, sin validez clínica</a:t>
            </a:r>
          </a:p>
        </p:txBody>
      </p:sp>
    </p:spTree>
    <p:extLst>
      <p:ext uri="{BB962C8B-B14F-4D97-AF65-F5344CB8AC3E}">
        <p14:creationId xmlns:p14="http://schemas.microsoft.com/office/powerpoint/2010/main" val="3644063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56800" y="254000"/>
            <a:ext cx="1524000" cy="1143000"/>
          </a:xfrm>
          <a:prstGeom prst="rect">
            <a:avLst/>
          </a:prstGeom>
          <a:noFill/>
        </p:spPr>
        <p:txBody>
          <a:bodyPr wrap="square" anchor="t" lIns="0" rIns="0" tIns="0" bIns="0">
            <a:spAutoFit/>
          </a:bodyPr>
          <a:lstStyle/>
          <a:p>
            <a:pPr algn="r">
              <a:lnSpc>
                <a:spcPct val="83333"/>
              </a:lnSpc>
            </a:pPr>
            <a:r>
              <a:rPr sz="8500" b="1">
                <a:solidFill>
                  <a:srgbClr val="F5E4EC"/>
                </a:solidFill>
                <a:latin typeface="Arial Narrow"/>
              </a:rPr>
              <a:t>1</a:t>
            </a:r>
          </a:p>
        </p:txBody>
      </p:sp>
      <p:sp>
        <p:nvSpPr>
          <p:cNvPr id="3" name="TextBox 2"/>
          <p:cNvSpPr txBox="1"/>
          <p:nvPr/>
        </p:nvSpPr>
        <p:spPr>
          <a:xfrm>
            <a:off x="711200" y="812800"/>
            <a:ext cx="8255000" cy="215900"/>
          </a:xfrm>
          <a:prstGeom prst="rect">
            <a:avLst/>
          </a:prstGeom>
          <a:noFill/>
        </p:spPr>
        <p:txBody>
          <a:bodyPr wrap="square" anchor="t" lIns="0" rIns="0" tIns="0" bIns="0">
            <a:spAutoFit/>
          </a:bodyPr>
          <a:lstStyle/>
          <a:p>
            <a:pPr algn="l">
              <a:lnSpc>
                <a:spcPct val="83333"/>
              </a:lnSpc>
            </a:pPr>
            <a:r>
              <a:rPr sz="1200" b="1" spc="250">
                <a:solidFill>
                  <a:srgbClr val="C2477F"/>
                </a:solidFill>
                <a:latin typeface="Arial"/>
              </a:rPr>
              <a:t>01 · PROBLEMA CLÍNICO Y OBJETIVO</a:t>
            </a:r>
          </a:p>
        </p:txBody>
      </p:sp>
      <p:sp>
        <p:nvSpPr>
          <p:cNvPr id="4" name="TextBox 3"/>
          <p:cNvSpPr txBox="1"/>
          <p:nvPr/>
        </p:nvSpPr>
        <p:spPr>
          <a:xfrm>
            <a:off x="711200" y="1054100"/>
            <a:ext cx="9207500" cy="533400"/>
          </a:xfrm>
          <a:prstGeom prst="rect">
            <a:avLst/>
          </a:prstGeom>
          <a:noFill/>
        </p:spPr>
        <p:txBody>
          <a:bodyPr wrap="square" anchor="t" lIns="0" rIns="0" tIns="0" bIns="0">
            <a:spAutoFit/>
          </a:bodyPr>
          <a:lstStyle/>
          <a:p>
            <a:pPr algn="l">
              <a:lnSpc>
                <a:spcPct val="83333"/>
              </a:lnSpc>
            </a:pPr>
            <a:r>
              <a:rPr sz="3600" b="1">
                <a:solidFill>
                  <a:srgbClr val="16202B"/>
                </a:solidFill>
                <a:latin typeface="Arial Narrow"/>
              </a:rPr>
              <a:t>Anticipar la pCR antes de la cirugía</a:t>
            </a:r>
          </a:p>
        </p:txBody>
      </p:sp>
      <p:sp>
        <p:nvSpPr>
          <p:cNvPr id="5" name="TextBox 4"/>
          <p:cNvSpPr txBox="1"/>
          <p:nvPr/>
        </p:nvSpPr>
        <p:spPr>
          <a:xfrm>
            <a:off x="711200" y="1612900"/>
            <a:ext cx="9207500" cy="571500"/>
          </a:xfrm>
          <a:prstGeom prst="rect">
            <a:avLst/>
          </a:prstGeom>
          <a:noFill/>
        </p:spPr>
        <p:txBody>
          <a:bodyPr wrap="square" anchor="t" lIns="0" rIns="0" tIns="0" bIns="0">
            <a:spAutoFit/>
          </a:bodyPr>
          <a:lstStyle/>
          <a:p>
            <a:pPr algn="l">
              <a:lnSpc>
                <a:spcPct val="112500"/>
              </a:lnSpc>
            </a:pPr>
            <a:r>
              <a:rPr sz="1400" b="0">
                <a:solidFill>
                  <a:srgbClr val="4F5B67"/>
                </a:solidFill>
                <a:latin typeface="Arial"/>
              </a:rPr>
              <a:t>Muchas pacientes con cáncer de mama reciben quimioterapia neoadyuvante antes de operarse. Si después no queda tumor invasivo hay respuesta patológica completa, pero eso solo se sabe tras la cirugía.</a:t>
            </a:r>
          </a:p>
        </p:txBody>
      </p:sp>
      <p:sp>
        <p:nvSpPr>
          <p:cNvPr id="6" name="TextBox 5"/>
          <p:cNvSpPr txBox="1"/>
          <p:nvPr/>
        </p:nvSpPr>
        <p:spPr>
          <a:xfrm>
            <a:off x="711200" y="6286500"/>
            <a:ext cx="5715000" cy="190500"/>
          </a:xfrm>
          <a:prstGeom prst="rect">
            <a:avLst/>
          </a:prstGeom>
          <a:noFill/>
        </p:spPr>
        <p:txBody>
          <a:bodyPr wrap="square" anchor="t" lIns="0" rIns="0" tIns="0" bIns="0">
            <a:spAutoFit/>
          </a:bodyPr>
          <a:lstStyle/>
          <a:p>
            <a:pPr algn="l">
              <a:lnSpc>
                <a:spcPct val="83333"/>
              </a:lnSpc>
            </a:pPr>
            <a:r>
              <a:rPr sz="1200" b="0" spc="150">
                <a:solidFill>
                  <a:srgbClr val="6E7984"/>
                </a:solidFill>
                <a:latin typeface="Arial"/>
              </a:rPr>
              <a:t>PREDICCIÓN DE pCR · 1 / 5</a:t>
            </a:r>
          </a:p>
        </p:txBody>
      </p:sp>
      <p:sp>
        <p:nvSpPr>
          <p:cNvPr id="7" name="TextBox 6"/>
          <p:cNvSpPr txBox="1"/>
          <p:nvPr/>
        </p:nvSpPr>
        <p:spPr>
          <a:xfrm>
            <a:off x="7035800" y="6286500"/>
            <a:ext cx="4445000" cy="190500"/>
          </a:xfrm>
          <a:prstGeom prst="rect">
            <a:avLst/>
          </a:prstGeom>
          <a:noFill/>
        </p:spPr>
        <p:txBody>
          <a:bodyPr wrap="square" anchor="t" lIns="0" rIns="0" tIns="0" bIns="0">
            <a:spAutoFit/>
          </a:bodyPr>
          <a:lstStyle/>
          <a:p>
            <a:pPr algn="r">
              <a:lnSpc>
                <a:spcPct val="83333"/>
              </a:lnSpc>
            </a:pPr>
            <a:r>
              <a:rPr sz="1200" b="0" spc="150">
                <a:solidFill>
                  <a:srgbClr val="6E7984"/>
                </a:solidFill>
                <a:latin typeface="Arial"/>
              </a:rPr>
              <a:t>RUBÉN ELICES · UAX 26/27</a:t>
            </a:r>
          </a:p>
        </p:txBody>
      </p:sp>
      <p:sp>
        <p:nvSpPr>
          <p:cNvPr id="8" name="Rounded Rectangle 7"/>
          <p:cNvSpPr/>
          <p:nvPr/>
        </p:nvSpPr>
        <p:spPr>
          <a:xfrm>
            <a:off x="711200" y="2235200"/>
            <a:ext cx="3204307" cy="3670300"/>
          </a:xfrm>
          <a:prstGeom prst="roundRect">
            <a:avLst>
              <a:gd name="adj" fmla="val 3963"/>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93307" y="2235200"/>
            <a:ext cx="4005384" cy="3670300"/>
          </a:xfrm>
          <a:prstGeom prst="roundRect">
            <a:avLst>
              <a:gd name="adj" fmla="val 3460"/>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76492" y="2235200"/>
            <a:ext cx="3204307" cy="3670300"/>
          </a:xfrm>
          <a:prstGeom prst="roundRect">
            <a:avLst>
              <a:gd name="adj" fmla="val 3963"/>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800" y="2463800"/>
            <a:ext cx="2747107"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QUÉ ES LA pCR</a:t>
            </a:r>
          </a:p>
        </p:txBody>
      </p:sp>
      <p:sp>
        <p:nvSpPr>
          <p:cNvPr id="12" name="TextBox 11"/>
          <p:cNvSpPr txBox="1"/>
          <p:nvPr/>
        </p:nvSpPr>
        <p:spPr>
          <a:xfrm>
            <a:off x="939800" y="2768600"/>
            <a:ext cx="2747107" cy="1460500"/>
          </a:xfrm>
          <a:prstGeom prst="rect">
            <a:avLst/>
          </a:prstGeom>
          <a:noFill/>
        </p:spPr>
        <p:txBody>
          <a:bodyPr wrap="square" anchor="t" lIns="0" rIns="0" tIns="0" bIns="0">
            <a:spAutoFit/>
          </a:bodyPr>
          <a:lstStyle/>
          <a:p>
            <a:pPr algn="l">
              <a:lnSpc>
                <a:spcPct val="116667"/>
              </a:lnSpc>
            </a:pPr>
            <a:r>
              <a:rPr sz="1400" b="0">
                <a:solidFill>
                  <a:srgbClr val="1F2A36"/>
                </a:solidFill>
                <a:latin typeface="Arial"/>
              </a:rPr>
              <a:t>Ausencia de tumor invasivo en la pieza quirúrgica tras la quimioterapia. Se confirma en anatomía patológica, después de operar.</a:t>
            </a:r>
          </a:p>
        </p:txBody>
      </p:sp>
      <p:sp>
        <p:nvSpPr>
          <p:cNvPr id="13" name="Rectangle 12"/>
          <p:cNvSpPr/>
          <p:nvPr/>
        </p:nvSpPr>
        <p:spPr>
          <a:xfrm>
            <a:off x="939800" y="4711700"/>
            <a:ext cx="2747107" cy="6350"/>
          </a:xfrm>
          <a:prstGeom prst="rect">
            <a:avLst/>
          </a:prstGeom>
          <a:solidFill>
            <a:srgbClr val="DF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9800" y="4838700"/>
            <a:ext cx="2747107" cy="215900"/>
          </a:xfrm>
          <a:prstGeom prst="rect">
            <a:avLst/>
          </a:prstGeom>
          <a:noFill/>
        </p:spPr>
        <p:txBody>
          <a:bodyPr wrap="square" anchor="t" lIns="0" rIns="0" tIns="0" bIns="0">
            <a:spAutoFit/>
          </a:bodyPr>
          <a:lstStyle/>
          <a:p>
            <a:pPr algn="l">
              <a:lnSpc>
                <a:spcPct val="83333"/>
              </a:lnSpc>
            </a:pPr>
            <a:r>
              <a:rPr sz="1200" b="1">
                <a:solidFill>
                  <a:srgbClr val="C9702C"/>
                </a:solidFill>
                <a:latin typeface="Arial"/>
              </a:rPr>
              <a:t>Qué no es</a:t>
            </a:r>
          </a:p>
        </p:txBody>
      </p:sp>
      <p:sp>
        <p:nvSpPr>
          <p:cNvPr id="15" name="TextBox 14"/>
          <p:cNvSpPr txBox="1"/>
          <p:nvPr/>
        </p:nvSpPr>
        <p:spPr>
          <a:xfrm>
            <a:off x="939800" y="5080000"/>
            <a:ext cx="2747107" cy="762000"/>
          </a:xfrm>
          <a:prstGeom prst="rect">
            <a:avLst/>
          </a:prstGeom>
          <a:noFill/>
        </p:spPr>
        <p:txBody>
          <a:bodyPr wrap="square" anchor="t" lIns="0" rIns="0" tIns="0" bIns="0">
            <a:spAutoFit/>
          </a:bodyPr>
          <a:lstStyle/>
          <a:p>
            <a:pPr algn="l">
              <a:lnSpc>
                <a:spcPct val="116667"/>
              </a:lnSpc>
            </a:pPr>
            <a:r>
              <a:rPr sz="1300" b="0">
                <a:solidFill>
                  <a:srgbClr val="4F5B67"/>
                </a:solidFill>
                <a:latin typeface="Arial"/>
              </a:rPr>
              <a:t>Ni detección de tumores, ni supervivencia, ni una recomendación de omitir la cirugía.</a:t>
            </a:r>
          </a:p>
        </p:txBody>
      </p:sp>
      <p:sp>
        <p:nvSpPr>
          <p:cNvPr id="16" name="TextBox 15"/>
          <p:cNvSpPr txBox="1"/>
          <p:nvPr/>
        </p:nvSpPr>
        <p:spPr>
          <a:xfrm>
            <a:off x="4321907" y="2463800"/>
            <a:ext cx="3548184"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LA ENTRADA: UN CORTE</a:t>
            </a:r>
          </a:p>
        </p:txBody>
      </p:sp>
      <p:pic>
        <p:nvPicPr>
          <p:cNvPr id="17" name="Picture 16" descr="PRE.png"/>
          <p:cNvPicPr>
            <a:picLocks noChangeAspect="1"/>
          </p:cNvPicPr>
          <p:nvPr/>
        </p:nvPicPr>
        <p:blipFill>
          <a:blip r:embed="rId2"/>
          <a:stretch>
            <a:fillRect/>
          </a:stretch>
        </p:blipFill>
        <p:spPr>
          <a:xfrm>
            <a:off x="4321907" y="2781300"/>
            <a:ext cx="820371" cy="820371"/>
          </a:xfrm>
          <a:prstGeom prst="rect">
            <a:avLst/>
          </a:prstGeom>
        </p:spPr>
      </p:pic>
      <p:sp>
        <p:nvSpPr>
          <p:cNvPr id="18" name="TextBox 17"/>
          <p:cNvSpPr txBox="1"/>
          <p:nvPr/>
        </p:nvSpPr>
        <p:spPr>
          <a:xfrm>
            <a:off x="4321907" y="3652471"/>
            <a:ext cx="820371" cy="190500"/>
          </a:xfrm>
          <a:prstGeom prst="rect">
            <a:avLst/>
          </a:prstGeom>
          <a:noFill/>
        </p:spPr>
        <p:txBody>
          <a:bodyPr wrap="square" anchor="t" lIns="0" rIns="0" tIns="0" bIns="0">
            <a:spAutoFit/>
          </a:bodyPr>
          <a:lstStyle/>
          <a:p>
            <a:pPr algn="l">
              <a:lnSpc>
                <a:spcPct val="83333"/>
              </a:lnSpc>
            </a:pPr>
            <a:r>
              <a:rPr sz="1200" b="1">
                <a:solidFill>
                  <a:srgbClr val="2F7DC4"/>
                </a:solidFill>
                <a:latin typeface="Arial"/>
              </a:rPr>
              <a:t>PRE</a:t>
            </a:r>
          </a:p>
        </p:txBody>
      </p:sp>
      <p:pic>
        <p:nvPicPr>
          <p:cNvPr id="19" name="Picture 18" descr="EARLY.png"/>
          <p:cNvPicPr>
            <a:picLocks noChangeAspect="1"/>
          </p:cNvPicPr>
          <p:nvPr/>
        </p:nvPicPr>
        <p:blipFill>
          <a:blip r:embed="rId3"/>
          <a:stretch>
            <a:fillRect/>
          </a:stretch>
        </p:blipFill>
        <p:spPr>
          <a:xfrm>
            <a:off x="5231178" y="2781300"/>
            <a:ext cx="820371" cy="820371"/>
          </a:xfrm>
          <a:prstGeom prst="rect">
            <a:avLst/>
          </a:prstGeom>
        </p:spPr>
      </p:pic>
      <p:sp>
        <p:nvSpPr>
          <p:cNvPr id="20" name="TextBox 19"/>
          <p:cNvSpPr txBox="1"/>
          <p:nvPr/>
        </p:nvSpPr>
        <p:spPr>
          <a:xfrm>
            <a:off x="5231178" y="3652471"/>
            <a:ext cx="820371" cy="190500"/>
          </a:xfrm>
          <a:prstGeom prst="rect">
            <a:avLst/>
          </a:prstGeom>
          <a:noFill/>
        </p:spPr>
        <p:txBody>
          <a:bodyPr wrap="square" anchor="t" lIns="0" rIns="0" tIns="0" bIns="0">
            <a:spAutoFit/>
          </a:bodyPr>
          <a:lstStyle/>
          <a:p>
            <a:pPr algn="l">
              <a:lnSpc>
                <a:spcPct val="83333"/>
              </a:lnSpc>
            </a:pPr>
            <a:r>
              <a:rPr sz="1200" b="1">
                <a:solidFill>
                  <a:srgbClr val="B98516"/>
                </a:solidFill>
                <a:latin typeface="Arial"/>
              </a:rPr>
              <a:t>EARLY</a:t>
            </a:r>
          </a:p>
        </p:txBody>
      </p:sp>
      <p:pic>
        <p:nvPicPr>
          <p:cNvPr id="21" name="Picture 20" descr="LATE.png"/>
          <p:cNvPicPr>
            <a:picLocks noChangeAspect="1"/>
          </p:cNvPicPr>
          <p:nvPr/>
        </p:nvPicPr>
        <p:blipFill>
          <a:blip r:embed="rId4"/>
          <a:stretch>
            <a:fillRect/>
          </a:stretch>
        </p:blipFill>
        <p:spPr>
          <a:xfrm>
            <a:off x="6140450" y="2781300"/>
            <a:ext cx="820371" cy="820371"/>
          </a:xfrm>
          <a:prstGeom prst="rect">
            <a:avLst/>
          </a:prstGeom>
        </p:spPr>
      </p:pic>
      <p:sp>
        <p:nvSpPr>
          <p:cNvPr id="22" name="TextBox 21"/>
          <p:cNvSpPr txBox="1"/>
          <p:nvPr/>
        </p:nvSpPr>
        <p:spPr>
          <a:xfrm>
            <a:off x="6140450" y="3652471"/>
            <a:ext cx="820371" cy="190500"/>
          </a:xfrm>
          <a:prstGeom prst="rect">
            <a:avLst/>
          </a:prstGeom>
          <a:noFill/>
        </p:spPr>
        <p:txBody>
          <a:bodyPr wrap="square" anchor="t" lIns="0" rIns="0" tIns="0" bIns="0">
            <a:spAutoFit/>
          </a:bodyPr>
          <a:lstStyle/>
          <a:p>
            <a:pPr algn="l">
              <a:lnSpc>
                <a:spcPct val="83333"/>
              </a:lnSpc>
            </a:pPr>
            <a:r>
              <a:rPr sz="1200" b="1">
                <a:solidFill>
                  <a:srgbClr val="C94C86"/>
                </a:solidFill>
                <a:latin typeface="Arial"/>
              </a:rPr>
              <a:t>LATE</a:t>
            </a:r>
          </a:p>
        </p:txBody>
      </p:sp>
      <p:pic>
        <p:nvPicPr>
          <p:cNvPr id="23" name="Picture 22" descr="REALCE.png"/>
          <p:cNvPicPr>
            <a:picLocks noChangeAspect="1"/>
          </p:cNvPicPr>
          <p:nvPr/>
        </p:nvPicPr>
        <p:blipFill>
          <a:blip r:embed="rId5"/>
          <a:stretch>
            <a:fillRect/>
          </a:stretch>
        </p:blipFill>
        <p:spPr>
          <a:xfrm>
            <a:off x="7049721" y="2781300"/>
            <a:ext cx="820371" cy="820371"/>
          </a:xfrm>
          <a:prstGeom prst="rect">
            <a:avLst/>
          </a:prstGeom>
        </p:spPr>
      </p:pic>
      <p:sp>
        <p:nvSpPr>
          <p:cNvPr id="24" name="TextBox 23"/>
          <p:cNvSpPr txBox="1"/>
          <p:nvPr/>
        </p:nvSpPr>
        <p:spPr>
          <a:xfrm>
            <a:off x="7049721" y="3652471"/>
            <a:ext cx="820371" cy="190500"/>
          </a:xfrm>
          <a:prstGeom prst="rect">
            <a:avLst/>
          </a:prstGeom>
          <a:noFill/>
        </p:spPr>
        <p:txBody>
          <a:bodyPr wrap="square" anchor="t" lIns="0" rIns="0" tIns="0" bIns="0">
            <a:spAutoFit/>
          </a:bodyPr>
          <a:lstStyle/>
          <a:p>
            <a:pPr algn="l">
              <a:lnSpc>
                <a:spcPct val="83333"/>
              </a:lnSpc>
            </a:pPr>
            <a:r>
              <a:rPr sz="1200" b="1">
                <a:solidFill>
                  <a:srgbClr val="4F5B67"/>
                </a:solidFill>
                <a:latin typeface="Arial"/>
              </a:rPr>
              <a:t>Realce</a:t>
            </a:r>
          </a:p>
        </p:txBody>
      </p:sp>
      <p:sp>
        <p:nvSpPr>
          <p:cNvPr id="25" name="TextBox 24"/>
          <p:cNvSpPr txBox="1"/>
          <p:nvPr/>
        </p:nvSpPr>
        <p:spPr>
          <a:xfrm>
            <a:off x="4321907" y="3957271"/>
            <a:ext cx="3548184" cy="825500"/>
          </a:xfrm>
          <a:prstGeom prst="rect">
            <a:avLst/>
          </a:prstGeom>
          <a:noFill/>
        </p:spPr>
        <p:txBody>
          <a:bodyPr wrap="square" anchor="t" lIns="0" rIns="0" tIns="0" bIns="0">
            <a:spAutoFit/>
          </a:bodyPr>
          <a:lstStyle/>
          <a:p>
            <a:pPr algn="l">
              <a:lnSpc>
                <a:spcPct val="116667"/>
              </a:lnSpc>
            </a:pPr>
            <a:r>
              <a:rPr sz="1400" b="0">
                <a:solidFill>
                  <a:srgbClr val="1F2A36"/>
                </a:solidFill>
                <a:latin typeface="Arial"/>
              </a:rPr>
              <a:t>Tres fases DCE-MRI de 256 × 256 píxeles, adquiridas antes del tratamiento: antes del contraste, poco después y más tarde.</a:t>
            </a:r>
          </a:p>
        </p:txBody>
      </p:sp>
      <p:sp>
        <p:nvSpPr>
          <p:cNvPr id="26" name="TextBox 25"/>
          <p:cNvSpPr txBox="1"/>
          <p:nvPr/>
        </p:nvSpPr>
        <p:spPr>
          <a:xfrm>
            <a:off x="4321907" y="4782771"/>
            <a:ext cx="3548184" cy="698500"/>
          </a:xfrm>
          <a:prstGeom prst="rect">
            <a:avLst/>
          </a:prstGeom>
          <a:noFill/>
        </p:spPr>
        <p:txBody>
          <a:bodyPr wrap="square" anchor="t" lIns="0" rIns="0" tIns="0" bIns="0">
            <a:spAutoFit/>
          </a:bodyPr>
          <a:lstStyle/>
          <a:p>
            <a:pPr algn="l">
              <a:lnSpc>
                <a:spcPct val="116667"/>
              </a:lnSpc>
            </a:pPr>
            <a:r>
              <a:rPr sz="1300" b="0">
                <a:solidFill>
                  <a:srgbClr val="4F5B67"/>
                </a:solidFill>
                <a:latin typeface="Arial"/>
              </a:rPr>
              <a:t>Son tiempos de adquisición, no colores RGB. El realce (EARLY − PRE) es lo que la red recibe como segundo canal.</a:t>
            </a:r>
          </a:p>
        </p:txBody>
      </p:sp>
      <p:sp>
        <p:nvSpPr>
          <p:cNvPr id="27" name="TextBox 26"/>
          <p:cNvSpPr txBox="1"/>
          <p:nvPr/>
        </p:nvSpPr>
        <p:spPr>
          <a:xfrm>
            <a:off x="8505092" y="2463800"/>
            <a:ext cx="2747107"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EL OBJETIVO</a:t>
            </a:r>
          </a:p>
        </p:txBody>
      </p:sp>
      <p:sp>
        <p:nvSpPr>
          <p:cNvPr id="28" name="TextBox 27"/>
          <p:cNvSpPr txBox="1"/>
          <p:nvPr/>
        </p:nvSpPr>
        <p:spPr>
          <a:xfrm>
            <a:off x="8505092" y="2768600"/>
            <a:ext cx="2747107" cy="1079500"/>
          </a:xfrm>
          <a:prstGeom prst="rect">
            <a:avLst/>
          </a:prstGeom>
          <a:noFill/>
        </p:spPr>
        <p:txBody>
          <a:bodyPr wrap="square" anchor="t" lIns="0" rIns="0" tIns="0" bIns="0">
            <a:spAutoFit/>
          </a:bodyPr>
          <a:lstStyle/>
          <a:p>
            <a:pPr algn="l">
              <a:lnSpc>
                <a:spcPct val="116667"/>
              </a:lnSpc>
            </a:pPr>
            <a:r>
              <a:rPr sz="1400" b="0">
                <a:solidFill>
                  <a:srgbClr val="1F2A36"/>
                </a:solidFill>
                <a:latin typeface="Arial"/>
              </a:rPr>
              <a:t>Clasificación binaria por paciente: </a:t>
            </a:r>
            <a:r>
              <a:rPr sz="1400" b="1">
                <a:solidFill>
                  <a:srgbClr val="1F2A36"/>
                </a:solidFill>
                <a:latin typeface="Arial"/>
              </a:rPr>
              <a:t>pCR = 1</a:t>
            </a:r>
            <a:r>
              <a:rPr sz="1400" b="0">
                <a:solidFill>
                  <a:srgbClr val="1F2A36"/>
                </a:solidFill>
                <a:latin typeface="Arial"/>
              </a:rPr>
              <a:t> frente a </a:t>
            </a:r>
            <a:r>
              <a:rPr sz="1400" b="1">
                <a:solidFill>
                  <a:srgbClr val="1F2A36"/>
                </a:solidFill>
                <a:latin typeface="Arial"/>
              </a:rPr>
              <a:t>pCR = 0</a:t>
            </a:r>
            <a:r>
              <a:rPr sz="1400" b="0">
                <a:solidFill>
                  <a:srgbClr val="1F2A36"/>
                </a:solidFill>
                <a:latin typeface="Arial"/>
              </a:rPr>
              <a:t>, solo con imagen.</a:t>
            </a:r>
          </a:p>
        </p:txBody>
      </p:sp>
      <p:sp>
        <p:nvSpPr>
          <p:cNvPr id="29" name="Rectangle 28"/>
          <p:cNvSpPr/>
          <p:nvPr/>
        </p:nvSpPr>
        <p:spPr>
          <a:xfrm>
            <a:off x="8505092" y="4241800"/>
            <a:ext cx="2747107" cy="6350"/>
          </a:xfrm>
          <a:prstGeom prst="rect">
            <a:avLst/>
          </a:prstGeom>
          <a:solidFill>
            <a:srgbClr val="DF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5092" y="4368800"/>
            <a:ext cx="2747107" cy="215900"/>
          </a:xfrm>
          <a:prstGeom prst="rect">
            <a:avLst/>
          </a:prstGeom>
          <a:noFill/>
        </p:spPr>
        <p:txBody>
          <a:bodyPr wrap="square" anchor="t" lIns="0" rIns="0" tIns="0" bIns="0">
            <a:spAutoFit/>
          </a:bodyPr>
          <a:lstStyle/>
          <a:p>
            <a:pPr algn="l">
              <a:lnSpc>
                <a:spcPct val="83333"/>
              </a:lnSpc>
            </a:pPr>
            <a:r>
              <a:rPr sz="1200" b="1">
                <a:solidFill>
                  <a:srgbClr val="2F7DC4"/>
                </a:solidFill>
                <a:latin typeface="Arial"/>
              </a:rPr>
              <a:t>Reglas del enunciado</a:t>
            </a:r>
          </a:p>
        </p:txBody>
      </p:sp>
      <p:sp>
        <p:nvSpPr>
          <p:cNvPr id="31" name="TextBox 30"/>
          <p:cNvSpPr txBox="1"/>
          <p:nvPr/>
        </p:nvSpPr>
        <p:spPr>
          <a:xfrm>
            <a:off x="8505092" y="4622800"/>
            <a:ext cx="2747107" cy="1206500"/>
          </a:xfrm>
          <a:prstGeom prst="rect">
            <a:avLst/>
          </a:prstGeom>
          <a:noFill/>
        </p:spPr>
        <p:txBody>
          <a:bodyPr wrap="square" anchor="t" lIns="0" rIns="0" tIns="0" bIns="0">
            <a:spAutoFit/>
          </a:bodyPr>
          <a:lstStyle/>
          <a:p>
            <a:pPr algn="l">
              <a:lnSpc>
                <a:spcPct val="108333"/>
              </a:lnSpc>
            </a:pPr>
            <a:r>
              <a:rPr sz="1300" b="0">
                <a:solidFill>
                  <a:srgbClr val="4F5B67"/>
                </a:solidFill>
                <a:latin typeface="Arial"/>
              </a:rPr>
              <a:t>•  CNN 2D propia, sin transfer learning</a:t>
            </a:r>
          </a:p>
          <a:p>
            <a:pPr algn="l">
              <a:lnSpc>
                <a:spcPct val="108333"/>
              </a:lnSpc>
            </a:pPr>
            <a:r>
              <a:rPr sz="1300" b="0">
                <a:solidFill>
                  <a:srgbClr val="4F5B67"/>
                </a:solidFill>
                <a:latin typeface="Arial"/>
              </a:rPr>
              <a:t>•  Particiones por paciente</a:t>
            </a:r>
          </a:p>
          <a:p>
            <a:pPr algn="l">
              <a:lnSpc>
                <a:spcPct val="108333"/>
              </a:lnSpc>
            </a:pPr>
            <a:r>
              <a:rPr sz="1300" b="0">
                <a:solidFill>
                  <a:srgbClr val="4F5B67"/>
                </a:solidFill>
                <a:latin typeface="Arial"/>
              </a:rPr>
              <a:t>•  Test evaluado una sola vez</a:t>
            </a:r>
          </a:p>
          <a:p>
            <a:pPr algn="l">
              <a:lnSpc>
                <a:spcPct val="108333"/>
              </a:lnSpc>
            </a:pPr>
            <a:r>
              <a:rPr sz="1300" b="0">
                <a:solidFill>
                  <a:srgbClr val="4F5B67"/>
                </a:solidFill>
                <a:latin typeface="Arial"/>
              </a:rPr>
              <a:t>•  BCE normal frente a ponderada</a:t>
            </a:r>
          </a:p>
        </p:txBody>
      </p:sp>
    </p:spTree>
    <p:extLst>
      <p:ext uri="{BB962C8B-B14F-4D97-AF65-F5344CB8AC3E}">
        <p14:creationId xmlns:p14="http://schemas.microsoft.com/office/powerpoint/2010/main" val="341885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8">
            <a:extLst>
              <a:ext uri="{FF2B5EF4-FFF2-40B4-BE49-F238E27FC236}">
                <a16:creationId xmlns:a16="http://schemas.microsoft.com/office/drawing/2014/main" id="{49E18F14-67C1-03FD-1B54-7C091E7B083A}"/>
              </a:ext>
            </a:extLst>
          </p:cNvPr>
          <p:cNvSpPr/>
          <p:nvPr/>
        </p:nvSpPr>
        <p:spPr>
          <a:xfrm>
            <a:off x="0" y="-43543"/>
            <a:ext cx="12192000" cy="6901544"/>
          </a:xfrm>
          <a:custGeom>
            <a:avLst/>
            <a:gdLst/>
            <a:ahLst/>
            <a:cxnLst/>
            <a:rect l="l" t="t" r="r" b="b"/>
            <a:pathLst>
              <a:path w="7616190" h="7560309">
                <a:moveTo>
                  <a:pt x="7615643" y="0"/>
                </a:moveTo>
                <a:lnTo>
                  <a:pt x="0" y="0"/>
                </a:lnTo>
                <a:lnTo>
                  <a:pt x="0" y="7559992"/>
                </a:lnTo>
                <a:lnTo>
                  <a:pt x="3689819" y="7559992"/>
                </a:lnTo>
                <a:lnTo>
                  <a:pt x="7615643" y="0"/>
                </a:lnTo>
                <a:close/>
              </a:path>
            </a:pathLst>
          </a:custGeom>
          <a:solidFill>
            <a:srgbClr val="0060AB"/>
          </a:solidFill>
        </p:spPr>
        <p:txBody>
          <a:bodyPr wrap="square" lIns="0" tIns="0" rIns="0" bIns="0" rtlCol="0"/>
          <a:lstStyle/>
          <a:p>
            <a:endParaRPr dirty="0">
              <a:latin typeface="+mj-lt"/>
            </a:endParaRPr>
          </a:p>
        </p:txBody>
      </p:sp>
      <p:pic>
        <p:nvPicPr>
          <p:cNvPr id="10" name="object 16">
            <a:extLst>
              <a:ext uri="{FF2B5EF4-FFF2-40B4-BE49-F238E27FC236}">
                <a16:creationId xmlns:a16="http://schemas.microsoft.com/office/drawing/2014/main" id="{58731C1D-78BA-E384-79A1-F1D7DFBABCC3}"/>
              </a:ext>
            </a:extLst>
          </p:cNvPr>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941076" y="-145846"/>
            <a:ext cx="3613741" cy="1338944"/>
          </a:xfrm>
          <a:prstGeom prst="rect">
            <a:avLst/>
          </a:prstGeom>
        </p:spPr>
      </p:pic>
      <p:sp>
        <p:nvSpPr>
          <p:cNvPr id="11" name="TextBox 10"/>
          <p:cNvSpPr txBox="1"/>
          <p:nvPr/>
        </p:nvSpPr>
        <p:spPr>
          <a:xfrm>
            <a:off x="711200" y="609600"/>
            <a:ext cx="6350000" cy="215900"/>
          </a:xfrm>
          <a:prstGeom prst="rect">
            <a:avLst/>
          </a:prstGeom>
          <a:noFill/>
        </p:spPr>
        <p:txBody>
          <a:bodyPr wrap="square" anchor="t" lIns="0" rIns="0" tIns="0" bIns="0">
            <a:spAutoFit/>
          </a:bodyPr>
          <a:lstStyle/>
          <a:p>
            <a:pPr algn="l">
              <a:lnSpc>
                <a:spcPct val="83333"/>
              </a:lnSpc>
            </a:pPr>
            <a:r>
              <a:rPr sz="1200" b="1" spc="250">
                <a:solidFill>
                  <a:srgbClr val="F6B8D6"/>
                </a:solidFill>
                <a:latin typeface="Arial"/>
              </a:rPr>
              <a:t>CONCLUSIÓN</a:t>
            </a:r>
          </a:p>
        </p:txBody>
      </p:sp>
      <p:sp>
        <p:nvSpPr>
          <p:cNvPr id="12" name="TextBox 11"/>
          <p:cNvSpPr txBox="1"/>
          <p:nvPr/>
        </p:nvSpPr>
        <p:spPr>
          <a:xfrm>
            <a:off x="711200" y="889000"/>
            <a:ext cx="6985000" cy="1460500"/>
          </a:xfrm>
          <a:prstGeom prst="rect">
            <a:avLst/>
          </a:prstGeom>
          <a:noFill/>
        </p:spPr>
        <p:txBody>
          <a:bodyPr wrap="square" anchor="t" lIns="0" rIns="0" tIns="0" bIns="0">
            <a:spAutoFit/>
          </a:bodyPr>
          <a:lstStyle/>
          <a:p>
            <a:pPr algn="l">
              <a:lnSpc>
                <a:spcPct val="81667"/>
              </a:lnSpc>
            </a:pPr>
            <a:r>
              <a:rPr sz="5200" b="1">
                <a:solidFill>
                  <a:srgbClr val="FFFFFF"/>
                </a:solidFill>
                <a:latin typeface="Arial Narrow"/>
              </a:rPr>
              <a:t>Medir bien vale más que un número alto</a:t>
            </a:r>
          </a:p>
        </p:txBody>
      </p:sp>
      <p:sp>
        <p:nvSpPr>
          <p:cNvPr id="13" name="TextBox 12"/>
          <p:cNvSpPr txBox="1"/>
          <p:nvPr/>
        </p:nvSpPr>
        <p:spPr>
          <a:xfrm>
            <a:off x="711200" y="2362200"/>
            <a:ext cx="7493000" cy="889000"/>
          </a:xfrm>
          <a:prstGeom prst="rect">
            <a:avLst/>
          </a:prstGeom>
          <a:noFill/>
        </p:spPr>
        <p:txBody>
          <a:bodyPr wrap="square" anchor="t" lIns="0" rIns="0" tIns="0" bIns="0">
            <a:spAutoFit/>
          </a:bodyPr>
          <a:lstStyle/>
          <a:p>
            <a:pPr algn="l">
              <a:lnSpc>
                <a:spcPct val="112500"/>
              </a:lnSpc>
            </a:pPr>
            <a:r>
              <a:rPr sz="1500" b="0">
                <a:solidFill>
                  <a:srgbClr val="D3E3F4"/>
                </a:solidFill>
                <a:latin typeface="Arial"/>
              </a:rPr>
              <a:t>E57 llega a un AUC de 0,573 en test con solo imagen. Es un resultado modesto, pero está medido sin usar el test para decidir nada, y la validación cruzada (0,532) ya lo anticipaba.</a:t>
            </a:r>
          </a:p>
        </p:txBody>
      </p:sp>
      <p:sp>
        <p:nvSpPr>
          <p:cNvPr id="14" name="TextBox 13"/>
          <p:cNvSpPr txBox="1"/>
          <p:nvPr/>
        </p:nvSpPr>
        <p:spPr>
          <a:xfrm>
            <a:off x="711200" y="3429000"/>
            <a:ext cx="5715000" cy="215900"/>
          </a:xfrm>
          <a:prstGeom prst="rect">
            <a:avLst/>
          </a:prstGeom>
          <a:noFill/>
        </p:spPr>
        <p:txBody>
          <a:bodyPr wrap="square" anchor="t" lIns="0" rIns="0" tIns="0" bIns="0">
            <a:spAutoFit/>
          </a:bodyPr>
          <a:lstStyle/>
          <a:p>
            <a:pPr algn="l">
              <a:lnSpc>
                <a:spcPct val="83333"/>
              </a:lnSpc>
            </a:pPr>
            <a:r>
              <a:rPr sz="1200" b="1" spc="200">
                <a:solidFill>
                  <a:srgbClr val="F6B8D6"/>
                </a:solidFill>
                <a:latin typeface="Arial"/>
              </a:rPr>
              <a:t>APRENDIZAJES</a:t>
            </a:r>
          </a:p>
        </p:txBody>
      </p:sp>
      <p:sp>
        <p:nvSpPr>
          <p:cNvPr id="15" name="TextBox 14"/>
          <p:cNvSpPr txBox="1"/>
          <p:nvPr/>
        </p:nvSpPr>
        <p:spPr>
          <a:xfrm>
            <a:off x="711200" y="3721100"/>
            <a:ext cx="5905500" cy="2095500"/>
          </a:xfrm>
          <a:prstGeom prst="rect">
            <a:avLst/>
          </a:prstGeom>
          <a:noFill/>
        </p:spPr>
        <p:txBody>
          <a:bodyPr wrap="square" anchor="t" lIns="0" rIns="0" tIns="0" bIns="0">
            <a:spAutoFit/>
          </a:bodyPr>
          <a:lstStyle/>
          <a:p>
            <a:pPr algn="l">
              <a:lnSpc>
                <a:spcPct val="116667"/>
              </a:lnSpc>
              <a:spcAft>
                <a:spcPts val="500"/>
              </a:spcAft>
            </a:pPr>
            <a:r>
              <a:rPr sz="1300" b="0">
                <a:solidFill>
                  <a:srgbClr val="FFFFFF"/>
                </a:solidFill>
                <a:latin typeface="Arial"/>
              </a:rPr>
              <a:t>1.  El modelo inicial no aprendía: con 2 pacientes por lote, BatchNorm borraba las diferencias entre ellas.</a:t>
            </a:r>
          </a:p>
          <a:p>
            <a:pPr algn="l">
              <a:lnSpc>
                <a:spcPct val="116667"/>
              </a:lnSpc>
              <a:spcAft>
                <a:spcPts val="500"/>
              </a:spcAft>
            </a:pPr>
            <a:r>
              <a:rPr sz="1300" b="0">
                <a:solidFill>
                  <a:srgbClr val="FFFFFF"/>
                </a:solidFill>
                <a:latin typeface="Arial"/>
              </a:rPr>
              <a:t>2.  Ajustarse no es generalizar: con 10 por lote la red aprende el entrenamiento, pero el AUC exterior no sube.</a:t>
            </a:r>
          </a:p>
          <a:p>
            <a:pPr algn="l">
              <a:lnSpc>
                <a:spcPct val="116667"/>
              </a:lnSpc>
              <a:spcAft>
                <a:spcPts val="500"/>
              </a:spcAft>
            </a:pPr>
            <a:r>
              <a:rPr sz="1300" b="0">
                <a:solidFill>
                  <a:srgbClr val="FFFFFF"/>
                </a:solidFill>
                <a:latin typeface="Arial"/>
              </a:rPr>
              <a:t>3.  La cohorte pesa: en Duke el modelo ordena al revés.</a:t>
            </a:r>
          </a:p>
          <a:p>
            <a:pPr algn="l">
              <a:lnSpc>
                <a:spcPct val="116667"/>
              </a:lnSpc>
              <a:spcAft>
                <a:spcPts val="500"/>
              </a:spcAft>
            </a:pPr>
            <a:r>
              <a:rPr sz="1300" b="0">
                <a:solidFill>
                  <a:srgbClr val="FFFFFF"/>
                </a:solidFill>
                <a:latin typeface="Arial"/>
              </a:rPr>
              <a:t>4.  BCE ponderada frente a normal: sin diferencia demostrada.</a:t>
            </a:r>
          </a:p>
        </p:txBody>
      </p:sp>
      <p:sp>
        <p:nvSpPr>
          <p:cNvPr id="16" name="TextBox 15"/>
          <p:cNvSpPr txBox="1"/>
          <p:nvPr/>
        </p:nvSpPr>
        <p:spPr>
          <a:xfrm>
            <a:off x="9207500" y="3556000"/>
            <a:ext cx="2286000" cy="215900"/>
          </a:xfrm>
          <a:prstGeom prst="rect">
            <a:avLst/>
          </a:prstGeom>
          <a:noFill/>
        </p:spPr>
        <p:txBody>
          <a:bodyPr wrap="square" anchor="t" lIns="0" rIns="0" tIns="0" bIns="0">
            <a:spAutoFit/>
          </a:bodyPr>
          <a:lstStyle/>
          <a:p>
            <a:pPr algn="l">
              <a:lnSpc>
                <a:spcPct val="83333"/>
              </a:lnSpc>
            </a:pPr>
            <a:r>
              <a:rPr sz="1200" b="1" spc="200">
                <a:solidFill>
                  <a:srgbClr val="C9702C"/>
                </a:solidFill>
                <a:latin typeface="Arial"/>
              </a:rPr>
              <a:t>CÓMO SEGUIRÍA</a:t>
            </a:r>
          </a:p>
        </p:txBody>
      </p:sp>
      <p:sp>
        <p:nvSpPr>
          <p:cNvPr id="17" name="TextBox 16"/>
          <p:cNvSpPr txBox="1"/>
          <p:nvPr/>
        </p:nvSpPr>
        <p:spPr>
          <a:xfrm>
            <a:off x="9207500" y="3848100"/>
            <a:ext cx="2349500" cy="2032000"/>
          </a:xfrm>
          <a:prstGeom prst="rect">
            <a:avLst/>
          </a:prstGeom>
          <a:noFill/>
        </p:spPr>
        <p:txBody>
          <a:bodyPr wrap="square" anchor="t" lIns="0" rIns="0" tIns="0" bIns="0">
            <a:spAutoFit/>
          </a:bodyPr>
          <a:lstStyle/>
          <a:p>
            <a:pPr algn="l">
              <a:lnSpc>
                <a:spcPct val="112500"/>
              </a:lnSpc>
              <a:spcAft>
                <a:spcPts val="400"/>
              </a:spcAft>
            </a:pPr>
            <a:r>
              <a:rPr sz="1200" b="0">
                <a:solidFill>
                  <a:srgbClr val="4F5B67"/>
                </a:solidFill>
                <a:latin typeface="Arial"/>
              </a:rPr>
              <a:t>•  Más pacientes y validación externa por cohorte</a:t>
            </a:r>
          </a:p>
          <a:p>
            <a:pPr algn="l">
              <a:lnSpc>
                <a:spcPct val="112500"/>
              </a:lnSpc>
              <a:spcAft>
                <a:spcPts val="400"/>
              </a:spcAft>
            </a:pPr>
            <a:r>
              <a:rPr sz="1200" b="0">
                <a:solidFill>
                  <a:srgbClr val="4F5B67"/>
                </a:solidFill>
                <a:latin typeface="Arial"/>
              </a:rPr>
              <a:t>•  Usar el volumen 3D en lugar de cortes sueltos</a:t>
            </a:r>
          </a:p>
          <a:p>
            <a:pPr algn="l">
              <a:lnSpc>
                <a:spcPct val="112500"/>
              </a:lnSpc>
              <a:spcAft>
                <a:spcPts val="400"/>
              </a:spcAft>
            </a:pPr>
            <a:r>
              <a:rPr sz="1200" b="0">
                <a:solidFill>
                  <a:srgbClr val="4F5B67"/>
                </a:solidFill>
                <a:latin typeface="Arial"/>
              </a:rPr>
              <a:t>•  Calibrar la probabilidad antes de interpretarla</a:t>
            </a:r>
          </a:p>
          <a:p>
            <a:pPr algn="l">
              <a:lnSpc>
                <a:spcPct val="112500"/>
              </a:lnSpc>
              <a:spcAft>
                <a:spcPts val="400"/>
              </a:spcAft>
            </a:pPr>
            <a:r>
              <a:rPr sz="1200" b="0">
                <a:solidFill>
                  <a:srgbClr val="4F5B67"/>
                </a:solidFill>
                <a:latin typeface="Arial"/>
              </a:rPr>
              <a:t>•  Siempre como apoyo, nunca como decisión clínica</a:t>
            </a:r>
          </a:p>
        </p:txBody>
      </p:sp>
      <p:sp>
        <p:nvSpPr>
          <p:cNvPr id="18" name="TextBox 17"/>
          <p:cNvSpPr txBox="1"/>
          <p:nvPr/>
        </p:nvSpPr>
        <p:spPr>
          <a:xfrm>
            <a:off x="711200" y="6096000"/>
            <a:ext cx="6350000" cy="215900"/>
          </a:xfrm>
          <a:prstGeom prst="rect">
            <a:avLst/>
          </a:prstGeom>
          <a:noFill/>
        </p:spPr>
        <p:txBody>
          <a:bodyPr wrap="square" anchor="t" lIns="0" rIns="0" tIns="0" bIns="0">
            <a:spAutoFit/>
          </a:bodyPr>
          <a:lstStyle/>
          <a:p>
            <a:pPr algn="l">
              <a:lnSpc>
                <a:spcPct val="83333"/>
              </a:lnSpc>
            </a:pPr>
            <a:r>
              <a:rPr sz="1300" b="1">
                <a:solidFill>
                  <a:srgbClr val="FFFFFF"/>
                </a:solidFill>
                <a:latin typeface="Arial"/>
              </a:rPr>
              <a:t>Rubén Elices Rodríguez</a:t>
            </a:r>
            <a:r>
              <a:rPr sz="1300" b="0">
                <a:solidFill>
                  <a:srgbClr val="FFFFFF"/>
                </a:solidFill>
                <a:latin typeface="Arial"/>
              </a:rPr>
              <a:t> · 4.º Ingeniería Matemática · UAX</a:t>
            </a:r>
          </a:p>
        </p:txBody>
      </p:sp>
      <p:sp>
        <p:nvSpPr>
          <p:cNvPr id="19" name="TextBox 18"/>
          <p:cNvSpPr txBox="1"/>
          <p:nvPr/>
        </p:nvSpPr>
        <p:spPr>
          <a:xfrm>
            <a:off x="711200" y="6350000"/>
            <a:ext cx="5080000" cy="190500"/>
          </a:xfrm>
          <a:prstGeom prst="rect">
            <a:avLst/>
          </a:prstGeom>
          <a:noFill/>
        </p:spPr>
        <p:txBody>
          <a:bodyPr wrap="square" anchor="t" lIns="0" rIns="0" tIns="0" bIns="0">
            <a:spAutoFit/>
          </a:bodyPr>
          <a:lstStyle/>
          <a:p>
            <a:pPr algn="l">
              <a:lnSpc>
                <a:spcPct val="83333"/>
              </a:lnSpc>
            </a:pPr>
            <a:r>
              <a:rPr sz="1100" b="0">
                <a:solidFill>
                  <a:srgbClr val="D3E3F4"/>
                </a:solidFill>
                <a:latin typeface="Arial"/>
              </a:rPr>
              <a:t>Uso educativo, sin validez clínica</a:t>
            </a:r>
          </a:p>
        </p:txBody>
      </p:sp>
    </p:spTree>
    <p:extLst>
      <p:ext uri="{BB962C8B-B14F-4D97-AF65-F5344CB8AC3E}">
        <p14:creationId xmlns:p14="http://schemas.microsoft.com/office/powerpoint/2010/main" val="110221906"/>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956800" y="254000"/>
            <a:ext cx="1524000" cy="1143000"/>
          </a:xfrm>
          <a:prstGeom prst="rect">
            <a:avLst/>
          </a:prstGeom>
          <a:noFill/>
        </p:spPr>
        <p:txBody>
          <a:bodyPr wrap="square" anchor="t" lIns="0" rIns="0" tIns="0" bIns="0">
            <a:spAutoFit/>
          </a:bodyPr>
          <a:lstStyle/>
          <a:p>
            <a:pPr algn="r">
              <a:lnSpc>
                <a:spcPct val="83333"/>
              </a:lnSpc>
            </a:pPr>
            <a:r>
              <a:rPr sz="8500" b="1">
                <a:solidFill>
                  <a:srgbClr val="F5E4EC"/>
                </a:solidFill>
                <a:latin typeface="Arial Narrow"/>
              </a:rPr>
              <a:t>2</a:t>
            </a:r>
          </a:p>
        </p:txBody>
      </p:sp>
      <p:sp>
        <p:nvSpPr>
          <p:cNvPr id="3" name="TextBox 2"/>
          <p:cNvSpPr txBox="1"/>
          <p:nvPr/>
        </p:nvSpPr>
        <p:spPr>
          <a:xfrm>
            <a:off x="711200" y="812800"/>
            <a:ext cx="8255000" cy="215900"/>
          </a:xfrm>
          <a:prstGeom prst="rect">
            <a:avLst/>
          </a:prstGeom>
          <a:noFill/>
        </p:spPr>
        <p:txBody>
          <a:bodyPr wrap="square" anchor="t" lIns="0" rIns="0" tIns="0" bIns="0">
            <a:spAutoFit/>
          </a:bodyPr>
          <a:lstStyle/>
          <a:p>
            <a:pPr algn="l">
              <a:lnSpc>
                <a:spcPct val="83333"/>
              </a:lnSpc>
            </a:pPr>
            <a:r>
              <a:rPr sz="1200" b="1" spc="250">
                <a:solidFill>
                  <a:srgbClr val="C2477F"/>
                </a:solidFill>
                <a:latin typeface="Arial"/>
              </a:rPr>
              <a:t>02 · DATOS, PARTICIONES Y CLASES</a:t>
            </a:r>
          </a:p>
        </p:txBody>
      </p:sp>
      <p:sp>
        <p:nvSpPr>
          <p:cNvPr id="4" name="TextBox 3"/>
          <p:cNvSpPr txBox="1"/>
          <p:nvPr/>
        </p:nvSpPr>
        <p:spPr>
          <a:xfrm>
            <a:off x="711200" y="1054100"/>
            <a:ext cx="9207500" cy="533400"/>
          </a:xfrm>
          <a:prstGeom prst="rect">
            <a:avLst/>
          </a:prstGeom>
          <a:noFill/>
        </p:spPr>
        <p:txBody>
          <a:bodyPr wrap="square" anchor="t" lIns="0" rIns="0" tIns="0" bIns="0">
            <a:spAutoFit/>
          </a:bodyPr>
          <a:lstStyle/>
          <a:p>
            <a:pPr algn="l">
              <a:lnSpc>
                <a:spcPct val="83333"/>
              </a:lnSpc>
            </a:pPr>
            <a:r>
              <a:rPr sz="3600" b="1">
                <a:solidFill>
                  <a:srgbClr val="16202B"/>
                </a:solidFill>
                <a:latin typeface="Arial Narrow"/>
              </a:rPr>
              <a:t>La paciente es la unidad, no el corte</a:t>
            </a:r>
          </a:p>
        </p:txBody>
      </p:sp>
      <p:sp>
        <p:nvSpPr>
          <p:cNvPr id="5" name="TextBox 4"/>
          <p:cNvSpPr txBox="1"/>
          <p:nvPr/>
        </p:nvSpPr>
        <p:spPr>
          <a:xfrm>
            <a:off x="711200" y="1612900"/>
            <a:ext cx="9207500" cy="571500"/>
          </a:xfrm>
          <a:prstGeom prst="rect">
            <a:avLst/>
          </a:prstGeom>
          <a:noFill/>
        </p:spPr>
        <p:txBody>
          <a:bodyPr wrap="square" anchor="t" lIns="0" rIns="0" tIns="0" bIns="0">
            <a:spAutoFit/>
          </a:bodyPr>
          <a:lstStyle/>
          <a:p>
            <a:pPr algn="l">
              <a:lnSpc>
                <a:spcPct val="112500"/>
              </a:lnSpc>
            </a:pPr>
            <a:r>
              <a:rPr sz="1400" b="0">
                <a:solidFill>
                  <a:srgbClr val="4F5B67"/>
                </a:solidFill>
                <a:latin typeface="Arial"/>
              </a:rPr>
              <a:t>1.097 pacientes de train (10.945 cortes) y 176 de test (1.758). Unos 10 cortes por paciente, correlacionados entre sí: nunca se reparten entre grupos.</a:t>
            </a:r>
          </a:p>
        </p:txBody>
      </p:sp>
      <p:sp>
        <p:nvSpPr>
          <p:cNvPr id="6" name="TextBox 5"/>
          <p:cNvSpPr txBox="1"/>
          <p:nvPr/>
        </p:nvSpPr>
        <p:spPr>
          <a:xfrm>
            <a:off x="711200" y="6286500"/>
            <a:ext cx="5715000" cy="190500"/>
          </a:xfrm>
          <a:prstGeom prst="rect">
            <a:avLst/>
          </a:prstGeom>
          <a:noFill/>
        </p:spPr>
        <p:txBody>
          <a:bodyPr wrap="square" anchor="t" lIns="0" rIns="0" tIns="0" bIns="0">
            <a:spAutoFit/>
          </a:bodyPr>
          <a:lstStyle/>
          <a:p>
            <a:pPr algn="l">
              <a:lnSpc>
                <a:spcPct val="83333"/>
              </a:lnSpc>
            </a:pPr>
            <a:r>
              <a:rPr sz="1200" b="0" spc="150">
                <a:solidFill>
                  <a:srgbClr val="6E7984"/>
                </a:solidFill>
                <a:latin typeface="Arial"/>
              </a:rPr>
              <a:t>PREDICCIÓN DE pCR · 2 / 5</a:t>
            </a:r>
          </a:p>
        </p:txBody>
      </p:sp>
      <p:sp>
        <p:nvSpPr>
          <p:cNvPr id="7" name="TextBox 6"/>
          <p:cNvSpPr txBox="1"/>
          <p:nvPr/>
        </p:nvSpPr>
        <p:spPr>
          <a:xfrm>
            <a:off x="7035800" y="6286500"/>
            <a:ext cx="4445000" cy="190500"/>
          </a:xfrm>
          <a:prstGeom prst="rect">
            <a:avLst/>
          </a:prstGeom>
          <a:noFill/>
        </p:spPr>
        <p:txBody>
          <a:bodyPr wrap="square" anchor="t" lIns="0" rIns="0" tIns="0" bIns="0">
            <a:spAutoFit/>
          </a:bodyPr>
          <a:lstStyle/>
          <a:p>
            <a:pPr algn="r">
              <a:lnSpc>
                <a:spcPct val="83333"/>
              </a:lnSpc>
            </a:pPr>
            <a:r>
              <a:rPr sz="1200" b="0" spc="150">
                <a:solidFill>
                  <a:srgbClr val="6E7984"/>
                </a:solidFill>
                <a:latin typeface="Arial"/>
              </a:rPr>
              <a:t>RUBÉN ELICES · UAX 26/27</a:t>
            </a:r>
          </a:p>
        </p:txBody>
      </p:sp>
      <p:sp>
        <p:nvSpPr>
          <p:cNvPr id="8" name="Rounded Rectangle 7"/>
          <p:cNvSpPr/>
          <p:nvPr/>
        </p:nvSpPr>
        <p:spPr>
          <a:xfrm>
            <a:off x="711200" y="2235200"/>
            <a:ext cx="6350000" cy="2540000"/>
          </a:xfrm>
          <a:prstGeom prst="roundRect">
            <a:avLst>
              <a:gd name="adj" fmla="val 5000"/>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affle.png"/>
          <p:cNvPicPr>
            <a:picLocks noChangeAspect="1"/>
          </p:cNvPicPr>
          <p:nvPr/>
        </p:nvPicPr>
        <p:blipFill>
          <a:blip r:embed="rId2"/>
          <a:stretch>
            <a:fillRect/>
          </a:stretch>
        </p:blipFill>
        <p:spPr>
          <a:xfrm>
            <a:off x="850900" y="2461815"/>
            <a:ext cx="6070600" cy="2086768"/>
          </a:xfrm>
          <a:prstGeom prst="rect">
            <a:avLst/>
          </a:prstGeom>
        </p:spPr>
      </p:pic>
      <p:sp>
        <p:nvSpPr>
          <p:cNvPr id="10" name="Rounded Rectangle 9"/>
          <p:cNvSpPr/>
          <p:nvPr/>
        </p:nvSpPr>
        <p:spPr>
          <a:xfrm>
            <a:off x="711200" y="4902200"/>
            <a:ext cx="2032000" cy="901700"/>
          </a:xfrm>
          <a:prstGeom prst="roundRect">
            <a:avLst>
              <a:gd name="adj" fmla="val 1408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5054600"/>
            <a:ext cx="1714500" cy="381000"/>
          </a:xfrm>
          <a:prstGeom prst="rect">
            <a:avLst/>
          </a:prstGeom>
          <a:noFill/>
        </p:spPr>
        <p:txBody>
          <a:bodyPr wrap="square" anchor="t" lIns="0" rIns="0" tIns="0" bIns="0">
            <a:spAutoFit/>
          </a:bodyPr>
          <a:lstStyle/>
          <a:p>
            <a:pPr algn="l">
              <a:lnSpc>
                <a:spcPct val="83333"/>
              </a:lnSpc>
            </a:pPr>
            <a:r>
              <a:rPr sz="2800" b="1">
                <a:solidFill>
                  <a:srgbClr val="16202B"/>
                </a:solidFill>
                <a:latin typeface="Arial Narrow"/>
              </a:rPr>
              <a:t>29,4 %</a:t>
            </a:r>
          </a:p>
        </p:txBody>
      </p:sp>
      <p:sp>
        <p:nvSpPr>
          <p:cNvPr id="12" name="TextBox 11"/>
          <p:cNvSpPr txBox="1"/>
          <p:nvPr/>
        </p:nvSpPr>
        <p:spPr>
          <a:xfrm>
            <a:off x="889000" y="5473700"/>
            <a:ext cx="17145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con pCR: 322 de 1.097</a:t>
            </a:r>
          </a:p>
        </p:txBody>
      </p:sp>
      <p:sp>
        <p:nvSpPr>
          <p:cNvPr id="13" name="Rounded Rectangle 12"/>
          <p:cNvSpPr/>
          <p:nvPr/>
        </p:nvSpPr>
        <p:spPr>
          <a:xfrm>
            <a:off x="2870200" y="4902200"/>
            <a:ext cx="2032000" cy="901700"/>
          </a:xfrm>
          <a:prstGeom prst="roundRect">
            <a:avLst>
              <a:gd name="adj" fmla="val 1408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48000" y="5054600"/>
            <a:ext cx="1714500" cy="381000"/>
          </a:xfrm>
          <a:prstGeom prst="rect">
            <a:avLst/>
          </a:prstGeom>
          <a:noFill/>
        </p:spPr>
        <p:txBody>
          <a:bodyPr wrap="square" anchor="t" lIns="0" rIns="0" tIns="0" bIns="0">
            <a:spAutoFit/>
          </a:bodyPr>
          <a:lstStyle/>
          <a:p>
            <a:pPr algn="l">
              <a:lnSpc>
                <a:spcPct val="83333"/>
              </a:lnSpc>
            </a:pPr>
            <a:r>
              <a:rPr sz="2800" b="1">
                <a:solidFill>
                  <a:srgbClr val="C94C86"/>
                </a:solidFill>
                <a:latin typeface="Arial Narrow"/>
              </a:rPr>
              <a:t>≈ 2,4</a:t>
            </a:r>
          </a:p>
        </p:txBody>
      </p:sp>
      <p:sp>
        <p:nvSpPr>
          <p:cNvPr id="15" name="TextBox 14"/>
          <p:cNvSpPr txBox="1"/>
          <p:nvPr/>
        </p:nvSpPr>
        <p:spPr>
          <a:xfrm>
            <a:off x="3048000" y="5473700"/>
            <a:ext cx="17145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pos_weight = N0 / N1</a:t>
            </a:r>
          </a:p>
        </p:txBody>
      </p:sp>
      <p:sp>
        <p:nvSpPr>
          <p:cNvPr id="16" name="Rounded Rectangle 15"/>
          <p:cNvSpPr/>
          <p:nvPr/>
        </p:nvSpPr>
        <p:spPr>
          <a:xfrm>
            <a:off x="5029200" y="4902200"/>
            <a:ext cx="2032000" cy="901700"/>
          </a:xfrm>
          <a:prstGeom prst="roundRect">
            <a:avLst>
              <a:gd name="adj" fmla="val 1408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7000" y="5054600"/>
            <a:ext cx="1714500" cy="381000"/>
          </a:xfrm>
          <a:prstGeom prst="rect">
            <a:avLst/>
          </a:prstGeom>
          <a:noFill/>
        </p:spPr>
        <p:txBody>
          <a:bodyPr wrap="square" anchor="t" lIns="0" rIns="0" tIns="0" bIns="0">
            <a:spAutoFit/>
          </a:bodyPr>
          <a:lstStyle/>
          <a:p>
            <a:pPr algn="l">
              <a:lnSpc>
                <a:spcPct val="83333"/>
              </a:lnSpc>
            </a:pPr>
            <a:r>
              <a:rPr sz="2800" b="1">
                <a:solidFill>
                  <a:srgbClr val="16202B"/>
                </a:solidFill>
                <a:latin typeface="Arial Narrow"/>
              </a:rPr>
              <a:t>≈ 0,55</a:t>
            </a:r>
          </a:p>
        </p:txBody>
      </p:sp>
      <p:sp>
        <p:nvSpPr>
          <p:cNvPr id="18" name="TextBox 17"/>
          <p:cNvSpPr txBox="1"/>
          <p:nvPr/>
        </p:nvSpPr>
        <p:spPr>
          <a:xfrm>
            <a:off x="5207000" y="5473700"/>
            <a:ext cx="17145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AUC de la cohorte sola</a:t>
            </a:r>
          </a:p>
        </p:txBody>
      </p:sp>
      <p:sp>
        <p:nvSpPr>
          <p:cNvPr id="19" name="Rounded Rectangle 18"/>
          <p:cNvSpPr/>
          <p:nvPr/>
        </p:nvSpPr>
        <p:spPr>
          <a:xfrm>
            <a:off x="7239000" y="2235200"/>
            <a:ext cx="4241800" cy="1841500"/>
          </a:xfrm>
          <a:prstGeom prst="roundRect">
            <a:avLst>
              <a:gd name="adj" fmla="val 6896"/>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9500" y="2425700"/>
            <a:ext cx="3860800"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PARTICIONES</a:t>
            </a:r>
          </a:p>
        </p:txBody>
      </p:sp>
      <p:sp>
        <p:nvSpPr>
          <p:cNvPr id="21" name="TextBox 20"/>
          <p:cNvSpPr txBox="1"/>
          <p:nvPr/>
        </p:nvSpPr>
        <p:spPr>
          <a:xfrm>
            <a:off x="7429500" y="2717800"/>
            <a:ext cx="3860800" cy="952500"/>
          </a:xfrm>
          <a:prstGeom prst="rect">
            <a:avLst/>
          </a:prstGeom>
          <a:noFill/>
        </p:spPr>
        <p:txBody>
          <a:bodyPr wrap="square" anchor="t" lIns="0" rIns="0" tIns="0" bIns="0">
            <a:spAutoFit/>
          </a:bodyPr>
          <a:lstStyle/>
          <a:p>
            <a:pPr algn="l">
              <a:lnSpc>
                <a:spcPct val="112500"/>
              </a:lnSpc>
            </a:pPr>
            <a:r>
              <a:rPr sz="1200" b="0">
                <a:solidFill>
                  <a:srgbClr val="1F2A36"/>
                </a:solidFill>
                <a:latin typeface="Arial"/>
              </a:rPr>
              <a:t>Los 5 folds del profesor. En cada uno, el resto se divide en FIT (80 %), que entrena, y validación interna (20 %), que elige época y umbral. El fold exterior solo mide.</a:t>
            </a:r>
          </a:p>
        </p:txBody>
      </p:sp>
      <p:sp>
        <p:nvSpPr>
          <p:cNvPr id="22" name="TextBox 21"/>
          <p:cNvSpPr txBox="1"/>
          <p:nvPr/>
        </p:nvSpPr>
        <p:spPr>
          <a:xfrm>
            <a:off x="7429500" y="3733800"/>
            <a:ext cx="38608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Fold 0: 702 FIT · 176 internas · 219 exteriores.</a:t>
            </a:r>
          </a:p>
        </p:txBody>
      </p:sp>
      <p:sp>
        <p:nvSpPr>
          <p:cNvPr id="23" name="Rounded Rectangle 22"/>
          <p:cNvSpPr/>
          <p:nvPr/>
        </p:nvSpPr>
        <p:spPr>
          <a:xfrm>
            <a:off x="7239000" y="4203700"/>
            <a:ext cx="4241800" cy="1600200"/>
          </a:xfrm>
          <a:prstGeom prst="roundRect">
            <a:avLst>
              <a:gd name="adj" fmla="val 7936"/>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29500" y="4394200"/>
            <a:ext cx="3860800"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PREPROCESADO</a:t>
            </a:r>
          </a:p>
        </p:txBody>
      </p:sp>
      <p:sp>
        <p:nvSpPr>
          <p:cNvPr id="25" name="TextBox 24"/>
          <p:cNvSpPr txBox="1"/>
          <p:nvPr/>
        </p:nvSpPr>
        <p:spPr>
          <a:xfrm>
            <a:off x="7429500" y="4686300"/>
            <a:ext cx="3860800" cy="571500"/>
          </a:xfrm>
          <a:prstGeom prst="rect">
            <a:avLst/>
          </a:prstGeom>
          <a:noFill/>
        </p:spPr>
        <p:txBody>
          <a:bodyPr wrap="square" anchor="t" lIns="0" rIns="0" tIns="0" bIns="0">
            <a:spAutoFit/>
          </a:bodyPr>
          <a:lstStyle/>
          <a:p>
            <a:pPr algn="l">
              <a:lnSpc>
                <a:spcPct val="112500"/>
              </a:lnSpc>
            </a:pPr>
            <a:r>
              <a:rPr sz="1200" b="0">
                <a:solidFill>
                  <a:srgbClr val="1F2A36"/>
                </a:solidFill>
                <a:latin typeface="Arial"/>
              </a:rPr>
              <a:t>PNG en gris ÷ 255 → tensor [3, 256, 256]. Sin normalización ImageNet ni aumentos de color.</a:t>
            </a:r>
          </a:p>
        </p:txBody>
      </p:sp>
      <p:sp>
        <p:nvSpPr>
          <p:cNvPr id="26" name="TextBox 25"/>
          <p:cNvSpPr txBox="1"/>
          <p:nvPr/>
        </p:nvSpPr>
        <p:spPr>
          <a:xfrm>
            <a:off x="7429500" y="5321300"/>
            <a:ext cx="3860800" cy="381000"/>
          </a:xfrm>
          <a:prstGeom prst="rect">
            <a:avLst/>
          </a:prstGeom>
          <a:noFill/>
        </p:spPr>
        <p:txBody>
          <a:bodyPr wrap="square" anchor="t" lIns="0" rIns="0" tIns="0" bIns="0">
            <a:spAutoFit/>
          </a:bodyPr>
          <a:lstStyle/>
          <a:p>
            <a:pPr algn="l">
              <a:lnSpc>
                <a:spcPct val="112500"/>
              </a:lnSpc>
            </a:pPr>
            <a:r>
              <a:rPr sz="1200" b="0">
                <a:solidFill>
                  <a:srgbClr val="6E7984"/>
                </a:solidFill>
                <a:latin typeface="Arial"/>
              </a:rPr>
              <a:t>El mismo código en entrenamiento, evaluación y web.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956800" y="254000"/>
            <a:ext cx="1524000" cy="1143000"/>
          </a:xfrm>
          <a:prstGeom prst="rect">
            <a:avLst/>
          </a:prstGeom>
          <a:noFill/>
        </p:spPr>
        <p:txBody>
          <a:bodyPr wrap="square" anchor="t" lIns="0" rIns="0" tIns="0" bIns="0">
            <a:spAutoFit/>
          </a:bodyPr>
          <a:lstStyle/>
          <a:p>
            <a:pPr algn="r">
              <a:lnSpc>
                <a:spcPct val="83333"/>
              </a:lnSpc>
            </a:pPr>
            <a:r>
              <a:rPr sz="8500" b="1">
                <a:solidFill>
                  <a:srgbClr val="F5E4EC"/>
                </a:solidFill>
                <a:latin typeface="Arial Narrow"/>
              </a:rPr>
              <a:t>3</a:t>
            </a:r>
          </a:p>
        </p:txBody>
      </p:sp>
      <p:sp>
        <p:nvSpPr>
          <p:cNvPr id="3" name="TextBox 2"/>
          <p:cNvSpPr txBox="1"/>
          <p:nvPr/>
        </p:nvSpPr>
        <p:spPr>
          <a:xfrm>
            <a:off x="711200" y="812800"/>
            <a:ext cx="8255000" cy="215900"/>
          </a:xfrm>
          <a:prstGeom prst="rect">
            <a:avLst/>
          </a:prstGeom>
          <a:noFill/>
        </p:spPr>
        <p:txBody>
          <a:bodyPr wrap="square" anchor="t" lIns="0" rIns="0" tIns="0" bIns="0">
            <a:spAutoFit/>
          </a:bodyPr>
          <a:lstStyle/>
          <a:p>
            <a:pPr algn="l">
              <a:lnSpc>
                <a:spcPct val="83333"/>
              </a:lnSpc>
            </a:pPr>
            <a:r>
              <a:rPr sz="1200" b="1" spc="250">
                <a:solidFill>
                  <a:srgbClr val="C2477F"/>
                </a:solidFill>
                <a:latin typeface="Arial"/>
              </a:rPr>
              <a:t>03 · ARQUITECTURA DE LA CNN</a:t>
            </a:r>
          </a:p>
        </p:txBody>
      </p:sp>
      <p:sp>
        <p:nvSpPr>
          <p:cNvPr id="4" name="TextBox 3"/>
          <p:cNvSpPr txBox="1"/>
          <p:nvPr/>
        </p:nvSpPr>
        <p:spPr>
          <a:xfrm>
            <a:off x="711200" y="1054100"/>
            <a:ext cx="9207500" cy="533400"/>
          </a:xfrm>
          <a:prstGeom prst="rect">
            <a:avLst/>
          </a:prstGeom>
          <a:noFill/>
        </p:spPr>
        <p:txBody>
          <a:bodyPr wrap="square" anchor="t" lIns="0" rIns="0" tIns="0" bIns="0">
            <a:spAutoFit/>
          </a:bodyPr>
          <a:lstStyle/>
          <a:p>
            <a:pPr algn="l">
              <a:lnSpc>
                <a:spcPct val="83333"/>
              </a:lnSpc>
            </a:pPr>
            <a:r>
              <a:rPr sz="3600" b="1">
                <a:solidFill>
                  <a:srgbClr val="16202B"/>
                </a:solidFill>
                <a:latin typeface="Arial Narrow"/>
              </a:rPr>
              <a:t>Una CNN propia de 298.161 parámetros</a:t>
            </a:r>
          </a:p>
        </p:txBody>
      </p:sp>
      <p:sp>
        <p:nvSpPr>
          <p:cNvPr id="5" name="TextBox 4"/>
          <p:cNvSpPr txBox="1"/>
          <p:nvPr/>
        </p:nvSpPr>
        <p:spPr>
          <a:xfrm>
            <a:off x="711200" y="1612900"/>
            <a:ext cx="9207500" cy="571500"/>
          </a:xfrm>
          <a:prstGeom prst="rect">
            <a:avLst/>
          </a:prstGeom>
          <a:noFill/>
        </p:spPr>
        <p:txBody>
          <a:bodyPr wrap="square" anchor="t" lIns="0" rIns="0" tIns="0" bIns="0">
            <a:spAutoFit/>
          </a:bodyPr>
          <a:lstStyle/>
          <a:p>
            <a:pPr algn="l">
              <a:lnSpc>
                <a:spcPct val="112500"/>
              </a:lnSpc>
            </a:pPr>
            <a:r>
              <a:rPr sz="1400" b="0">
                <a:solidFill>
                  <a:srgbClr val="4F5B67"/>
                </a:solidFill>
                <a:latin typeface="Arial"/>
              </a:rPr>
              <a:t>Cada corte da una probabilidad; la de una paciente es la media de las probabilidades de sus cortes.</a:t>
            </a:r>
          </a:p>
        </p:txBody>
      </p:sp>
      <p:sp>
        <p:nvSpPr>
          <p:cNvPr id="6" name="TextBox 5"/>
          <p:cNvSpPr txBox="1"/>
          <p:nvPr/>
        </p:nvSpPr>
        <p:spPr>
          <a:xfrm>
            <a:off x="711200" y="6286500"/>
            <a:ext cx="5715000" cy="190500"/>
          </a:xfrm>
          <a:prstGeom prst="rect">
            <a:avLst/>
          </a:prstGeom>
          <a:noFill/>
        </p:spPr>
        <p:txBody>
          <a:bodyPr wrap="square" anchor="t" lIns="0" rIns="0" tIns="0" bIns="0">
            <a:spAutoFit/>
          </a:bodyPr>
          <a:lstStyle/>
          <a:p>
            <a:pPr algn="l">
              <a:lnSpc>
                <a:spcPct val="83333"/>
              </a:lnSpc>
            </a:pPr>
            <a:r>
              <a:rPr sz="1200" b="0" spc="150">
                <a:solidFill>
                  <a:srgbClr val="6E7984"/>
                </a:solidFill>
                <a:latin typeface="Arial"/>
              </a:rPr>
              <a:t>PREDICCIÓN DE pCR · 3 / 5</a:t>
            </a:r>
          </a:p>
        </p:txBody>
      </p:sp>
      <p:sp>
        <p:nvSpPr>
          <p:cNvPr id="7" name="TextBox 6"/>
          <p:cNvSpPr txBox="1"/>
          <p:nvPr/>
        </p:nvSpPr>
        <p:spPr>
          <a:xfrm>
            <a:off x="7035800" y="6286500"/>
            <a:ext cx="4445000" cy="190500"/>
          </a:xfrm>
          <a:prstGeom prst="rect">
            <a:avLst/>
          </a:prstGeom>
          <a:noFill/>
        </p:spPr>
        <p:txBody>
          <a:bodyPr wrap="square" anchor="t" lIns="0" rIns="0" tIns="0" bIns="0">
            <a:spAutoFit/>
          </a:bodyPr>
          <a:lstStyle/>
          <a:p>
            <a:pPr algn="r">
              <a:lnSpc>
                <a:spcPct val="83333"/>
              </a:lnSpc>
            </a:pPr>
            <a:r>
              <a:rPr sz="1200" b="0" spc="150">
                <a:solidFill>
                  <a:srgbClr val="6E7984"/>
                </a:solidFill>
                <a:latin typeface="Arial"/>
              </a:rPr>
              <a:t>RUBÉN ELICES · UAX 26/27</a:t>
            </a:r>
          </a:p>
        </p:txBody>
      </p:sp>
      <p:sp>
        <p:nvSpPr>
          <p:cNvPr id="8" name="Rounded Rectangle 7"/>
          <p:cNvSpPr/>
          <p:nvPr/>
        </p:nvSpPr>
        <p:spPr>
          <a:xfrm>
            <a:off x="711200" y="2006600"/>
            <a:ext cx="10769600" cy="2540000"/>
          </a:xfrm>
          <a:prstGeom prst="roundRect">
            <a:avLst>
              <a:gd name="adj" fmla="val 5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rq_crop.png"/>
          <p:cNvPicPr>
            <a:picLocks noChangeAspect="1"/>
          </p:cNvPicPr>
          <p:nvPr/>
        </p:nvPicPr>
        <p:blipFill>
          <a:blip r:embed="rId2"/>
          <a:stretch>
            <a:fillRect/>
          </a:stretch>
        </p:blipFill>
        <p:spPr>
          <a:xfrm>
            <a:off x="838200" y="2227329"/>
            <a:ext cx="10515600" cy="2098541"/>
          </a:xfrm>
          <a:prstGeom prst="rect">
            <a:avLst/>
          </a:prstGeom>
        </p:spPr>
      </p:pic>
      <p:sp>
        <p:nvSpPr>
          <p:cNvPr id="10" name="Rounded Rectangle 9"/>
          <p:cNvSpPr/>
          <p:nvPr/>
        </p:nvSpPr>
        <p:spPr>
          <a:xfrm>
            <a:off x="711200" y="4673600"/>
            <a:ext cx="1421694" cy="901700"/>
          </a:xfrm>
          <a:prstGeom prst="roundRect">
            <a:avLst>
              <a:gd name="adj" fmla="val 11267"/>
            </a:avLst>
          </a:prstGeom>
          <a:solidFill>
            <a:srgbClr val="3F7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200"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Entrada</a:t>
            </a:r>
          </a:p>
        </p:txBody>
      </p:sp>
      <p:sp>
        <p:nvSpPr>
          <p:cNvPr id="13" name="TextBox 12"/>
          <p:cNvSpPr txBox="1"/>
          <p:nvPr/>
        </p:nvSpPr>
        <p:spPr>
          <a:xfrm>
            <a:off x="838200"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3 × 256²</a:t>
            </a:r>
          </a:p>
        </p:txBody>
      </p:sp>
      <p:sp>
        <p:nvSpPr>
          <p:cNvPr id="14" name="TextBox 13"/>
          <p:cNvSpPr txBox="1"/>
          <p:nvPr/>
        </p:nvSpPr>
        <p:spPr>
          <a:xfrm>
            <a:off x="838200"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0</a:t>
            </a:r>
          </a:p>
        </p:txBody>
      </p:sp>
      <p:sp>
        <p:nvSpPr>
          <p:cNvPr id="15" name="Rounded Rectangle 14"/>
          <p:cNvSpPr/>
          <p:nvPr/>
        </p:nvSpPr>
        <p:spPr>
          <a:xfrm>
            <a:off x="2221794" y="4673600"/>
            <a:ext cx="1421694" cy="901700"/>
          </a:xfrm>
          <a:prstGeom prst="roundRect">
            <a:avLst>
              <a:gd name="adj" fmla="val 11267"/>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221794"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48794"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Bloque 1</a:t>
            </a:r>
          </a:p>
        </p:txBody>
      </p:sp>
      <p:sp>
        <p:nvSpPr>
          <p:cNvPr id="18" name="TextBox 17"/>
          <p:cNvSpPr txBox="1"/>
          <p:nvPr/>
        </p:nvSpPr>
        <p:spPr>
          <a:xfrm>
            <a:off x="2348794"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16 × 128²</a:t>
            </a:r>
          </a:p>
        </p:txBody>
      </p:sp>
      <p:sp>
        <p:nvSpPr>
          <p:cNvPr id="19" name="TextBox 18"/>
          <p:cNvSpPr txBox="1"/>
          <p:nvPr/>
        </p:nvSpPr>
        <p:spPr>
          <a:xfrm>
            <a:off x="2348794"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2.800</a:t>
            </a:r>
          </a:p>
        </p:txBody>
      </p:sp>
      <p:sp>
        <p:nvSpPr>
          <p:cNvPr id="20" name="Rounded Rectangle 19"/>
          <p:cNvSpPr/>
          <p:nvPr/>
        </p:nvSpPr>
        <p:spPr>
          <a:xfrm>
            <a:off x="3732388" y="4673600"/>
            <a:ext cx="1421694" cy="901700"/>
          </a:xfrm>
          <a:prstGeom prst="roundRect">
            <a:avLst>
              <a:gd name="adj" fmla="val 11267"/>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732388"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59388"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Bloque 2</a:t>
            </a:r>
          </a:p>
        </p:txBody>
      </p:sp>
      <p:sp>
        <p:nvSpPr>
          <p:cNvPr id="23" name="TextBox 22"/>
          <p:cNvSpPr txBox="1"/>
          <p:nvPr/>
        </p:nvSpPr>
        <p:spPr>
          <a:xfrm>
            <a:off x="3859388"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32 × 64²</a:t>
            </a:r>
          </a:p>
        </p:txBody>
      </p:sp>
      <p:sp>
        <p:nvSpPr>
          <p:cNvPr id="24" name="TextBox 23"/>
          <p:cNvSpPr txBox="1"/>
          <p:nvPr/>
        </p:nvSpPr>
        <p:spPr>
          <a:xfrm>
            <a:off x="3859388"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13.952</a:t>
            </a:r>
          </a:p>
        </p:txBody>
      </p:sp>
      <p:sp>
        <p:nvSpPr>
          <p:cNvPr id="25" name="Rounded Rectangle 24"/>
          <p:cNvSpPr/>
          <p:nvPr/>
        </p:nvSpPr>
        <p:spPr>
          <a:xfrm>
            <a:off x="5242983" y="4673600"/>
            <a:ext cx="1421694" cy="901700"/>
          </a:xfrm>
          <a:prstGeom prst="roundRect">
            <a:avLst>
              <a:gd name="adj" fmla="val 11267"/>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242983"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69983"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Bloque 3</a:t>
            </a:r>
          </a:p>
        </p:txBody>
      </p:sp>
      <p:sp>
        <p:nvSpPr>
          <p:cNvPr id="28" name="TextBox 27"/>
          <p:cNvSpPr txBox="1"/>
          <p:nvPr/>
        </p:nvSpPr>
        <p:spPr>
          <a:xfrm>
            <a:off x="5369983"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64 × 32²</a:t>
            </a:r>
          </a:p>
        </p:txBody>
      </p:sp>
      <p:sp>
        <p:nvSpPr>
          <p:cNvPr id="29" name="TextBox 28"/>
          <p:cNvSpPr txBox="1"/>
          <p:nvPr/>
        </p:nvSpPr>
        <p:spPr>
          <a:xfrm>
            <a:off x="5369983"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55.552</a:t>
            </a:r>
          </a:p>
        </p:txBody>
      </p:sp>
      <p:sp>
        <p:nvSpPr>
          <p:cNvPr id="30" name="Rounded Rectangle 29"/>
          <p:cNvSpPr/>
          <p:nvPr/>
        </p:nvSpPr>
        <p:spPr>
          <a:xfrm>
            <a:off x="6753577" y="4673600"/>
            <a:ext cx="1421694" cy="901700"/>
          </a:xfrm>
          <a:prstGeom prst="roundRect">
            <a:avLst>
              <a:gd name="adj" fmla="val 11267"/>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753577"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80577"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Bloque 4</a:t>
            </a:r>
          </a:p>
        </p:txBody>
      </p:sp>
      <p:sp>
        <p:nvSpPr>
          <p:cNvPr id="33" name="TextBox 32"/>
          <p:cNvSpPr txBox="1"/>
          <p:nvPr/>
        </p:nvSpPr>
        <p:spPr>
          <a:xfrm>
            <a:off x="6880577"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128 × 16²</a:t>
            </a:r>
          </a:p>
        </p:txBody>
      </p:sp>
      <p:sp>
        <p:nvSpPr>
          <p:cNvPr id="34" name="TextBox 33"/>
          <p:cNvSpPr txBox="1"/>
          <p:nvPr/>
        </p:nvSpPr>
        <p:spPr>
          <a:xfrm>
            <a:off x="6880577"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221.696</a:t>
            </a:r>
          </a:p>
        </p:txBody>
      </p:sp>
      <p:sp>
        <p:nvSpPr>
          <p:cNvPr id="35" name="Rounded Rectangle 34"/>
          <p:cNvSpPr/>
          <p:nvPr/>
        </p:nvSpPr>
        <p:spPr>
          <a:xfrm>
            <a:off x="8264172" y="4673600"/>
            <a:ext cx="1421694" cy="901700"/>
          </a:xfrm>
          <a:prstGeom prst="roundRect">
            <a:avLst>
              <a:gd name="adj" fmla="val 11267"/>
            </a:avLst>
          </a:prstGeom>
          <a:solidFill>
            <a:srgbClr val="8A6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64172" y="4699000"/>
            <a:ext cx="1421694"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91172" y="4800600"/>
            <a:ext cx="1231194"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GAP</a:t>
            </a:r>
          </a:p>
        </p:txBody>
      </p:sp>
      <p:sp>
        <p:nvSpPr>
          <p:cNvPr id="38" name="TextBox 37"/>
          <p:cNvSpPr txBox="1"/>
          <p:nvPr/>
        </p:nvSpPr>
        <p:spPr>
          <a:xfrm>
            <a:off x="8391172" y="5016500"/>
            <a:ext cx="1231194"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128 valores</a:t>
            </a:r>
          </a:p>
        </p:txBody>
      </p:sp>
      <p:sp>
        <p:nvSpPr>
          <p:cNvPr id="39" name="TextBox 38"/>
          <p:cNvSpPr txBox="1"/>
          <p:nvPr/>
        </p:nvSpPr>
        <p:spPr>
          <a:xfrm>
            <a:off x="8391172" y="5245100"/>
            <a:ext cx="1231194" cy="2540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0</a:t>
            </a:r>
          </a:p>
        </p:txBody>
      </p:sp>
      <p:sp>
        <p:nvSpPr>
          <p:cNvPr id="40" name="Rounded Rectangle 39"/>
          <p:cNvSpPr/>
          <p:nvPr/>
        </p:nvSpPr>
        <p:spPr>
          <a:xfrm>
            <a:off x="9774766" y="4673600"/>
            <a:ext cx="1706033" cy="901700"/>
          </a:xfrm>
          <a:prstGeom prst="roundRect">
            <a:avLst>
              <a:gd name="adj" fmla="val 11267"/>
            </a:avLst>
          </a:prstGeom>
          <a:solidFill>
            <a:srgbClr val="C94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774766" y="4699000"/>
            <a:ext cx="1706033" cy="876300"/>
          </a:xfrm>
          <a:prstGeom prst="roundRect">
            <a:avLst>
              <a:gd name="adj" fmla="val 11594"/>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01766" y="4800600"/>
            <a:ext cx="1515533" cy="1905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Cabeza</a:t>
            </a:r>
          </a:p>
        </p:txBody>
      </p:sp>
      <p:sp>
        <p:nvSpPr>
          <p:cNvPr id="43" name="TextBox 42"/>
          <p:cNvSpPr txBox="1"/>
          <p:nvPr/>
        </p:nvSpPr>
        <p:spPr>
          <a:xfrm>
            <a:off x="9901766" y="5016500"/>
            <a:ext cx="1515533" cy="1905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128 → 32 → 1</a:t>
            </a:r>
          </a:p>
        </p:txBody>
      </p:sp>
      <p:sp>
        <p:nvSpPr>
          <p:cNvPr id="44" name="TextBox 43"/>
          <p:cNvSpPr txBox="1"/>
          <p:nvPr/>
        </p:nvSpPr>
        <p:spPr>
          <a:xfrm>
            <a:off x="9901766" y="5245100"/>
            <a:ext cx="1515533" cy="254000"/>
          </a:xfrm>
          <a:prstGeom prst="rect">
            <a:avLst/>
          </a:prstGeom>
          <a:noFill/>
        </p:spPr>
        <p:txBody>
          <a:bodyPr wrap="square" anchor="t" lIns="0" rIns="0" tIns="0" bIns="0">
            <a:spAutoFit/>
          </a:bodyPr>
          <a:lstStyle/>
          <a:p>
            <a:pPr algn="l">
              <a:lnSpc>
                <a:spcPct val="83333"/>
              </a:lnSpc>
            </a:pPr>
            <a:r>
              <a:rPr sz="1800" b="1">
                <a:solidFill>
                  <a:srgbClr val="C94C86"/>
                </a:solidFill>
                <a:latin typeface="Arial Narrow"/>
              </a:rPr>
              <a:t>4.161</a:t>
            </a:r>
          </a:p>
        </p:txBody>
      </p:sp>
      <p:sp>
        <p:nvSpPr>
          <p:cNvPr id="45" name="TextBox 44"/>
          <p:cNvSpPr txBox="1"/>
          <p:nvPr/>
        </p:nvSpPr>
        <p:spPr>
          <a:xfrm>
            <a:off x="711200" y="5689600"/>
            <a:ext cx="107696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Cada bloque: Conv 3×3 → MaxPool 2×2 → Conv 3×3, con BatchNorm y ReLU · dropout 0,3 · campo receptivo de 106 px · sin pesos preentrenados.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956800" y="254000"/>
            <a:ext cx="1524000" cy="1143000"/>
          </a:xfrm>
          <a:prstGeom prst="rect">
            <a:avLst/>
          </a:prstGeom>
          <a:noFill/>
        </p:spPr>
        <p:txBody>
          <a:bodyPr wrap="square" anchor="t" lIns="0" rIns="0" tIns="0" bIns="0">
            <a:spAutoFit/>
          </a:bodyPr>
          <a:lstStyle/>
          <a:p>
            <a:pPr algn="r">
              <a:lnSpc>
                <a:spcPct val="83333"/>
              </a:lnSpc>
            </a:pPr>
            <a:r>
              <a:rPr sz="8500" b="1">
                <a:solidFill>
                  <a:srgbClr val="F5E4EC"/>
                </a:solidFill>
                <a:latin typeface="Arial Narrow"/>
              </a:rPr>
              <a:t>4</a:t>
            </a:r>
          </a:p>
        </p:txBody>
      </p:sp>
      <p:sp>
        <p:nvSpPr>
          <p:cNvPr id="3" name="TextBox 2"/>
          <p:cNvSpPr txBox="1"/>
          <p:nvPr/>
        </p:nvSpPr>
        <p:spPr>
          <a:xfrm>
            <a:off x="711200" y="812800"/>
            <a:ext cx="8255000" cy="215900"/>
          </a:xfrm>
          <a:prstGeom prst="rect">
            <a:avLst/>
          </a:prstGeom>
          <a:noFill/>
        </p:spPr>
        <p:txBody>
          <a:bodyPr wrap="square" anchor="t" lIns="0" rIns="0" tIns="0" bIns="0">
            <a:spAutoFit/>
          </a:bodyPr>
          <a:lstStyle/>
          <a:p>
            <a:pPr algn="l">
              <a:lnSpc>
                <a:spcPct val="83333"/>
              </a:lnSpc>
            </a:pPr>
            <a:r>
              <a:rPr sz="1200" b="1" spc="250">
                <a:solidFill>
                  <a:srgbClr val="C2477F"/>
                </a:solidFill>
                <a:latin typeface="Arial"/>
              </a:rPr>
              <a:t>04 · ENTRENAMIENTO, DECISIONES Y RESULTADOS</a:t>
            </a:r>
          </a:p>
        </p:txBody>
      </p:sp>
      <p:sp>
        <p:nvSpPr>
          <p:cNvPr id="4" name="TextBox 3"/>
          <p:cNvSpPr txBox="1"/>
          <p:nvPr/>
        </p:nvSpPr>
        <p:spPr>
          <a:xfrm>
            <a:off x="711200" y="1054100"/>
            <a:ext cx="9207500" cy="533400"/>
          </a:xfrm>
          <a:prstGeom prst="rect">
            <a:avLst/>
          </a:prstGeom>
          <a:noFill/>
        </p:spPr>
        <p:txBody>
          <a:bodyPr wrap="square" anchor="t" lIns="0" rIns="0" tIns="0" bIns="0">
            <a:spAutoFit/>
          </a:bodyPr>
          <a:lstStyle/>
          <a:p>
            <a:pPr algn="l">
              <a:lnSpc>
                <a:spcPct val="83333"/>
              </a:lnSpc>
            </a:pPr>
            <a:r>
              <a:rPr sz="3600" b="1">
                <a:solidFill>
                  <a:srgbClr val="16202B"/>
                </a:solidFill>
                <a:latin typeface="Arial Narrow"/>
              </a:rPr>
              <a:t>La validación prometía más de lo que dio el test</a:t>
            </a:r>
          </a:p>
        </p:txBody>
      </p:sp>
      <p:sp>
        <p:nvSpPr>
          <p:cNvPr id="5" name="TextBox 4"/>
          <p:cNvSpPr txBox="1"/>
          <p:nvPr/>
        </p:nvSpPr>
        <p:spPr>
          <a:xfrm>
            <a:off x="711200" y="1612900"/>
            <a:ext cx="9207500" cy="571500"/>
          </a:xfrm>
          <a:prstGeom prst="rect">
            <a:avLst/>
          </a:prstGeom>
          <a:noFill/>
        </p:spPr>
        <p:txBody>
          <a:bodyPr wrap="square" anchor="t" lIns="0" rIns="0" tIns="0" bIns="0">
            <a:spAutoFit/>
          </a:bodyPr>
          <a:lstStyle/>
          <a:p>
            <a:pPr algn="l">
              <a:lnSpc>
                <a:spcPct val="112500"/>
              </a:lnSpc>
            </a:pPr>
            <a:r>
              <a:rPr sz="1300" b="0">
                <a:solidFill>
                  <a:srgbClr val="4F5B67"/>
                </a:solidFill>
                <a:latin typeface="Arial"/>
              </a:rPr>
              <a:t>E57: BCE normal, AdamW, lotes de 2 pacientes, semilla 42. Época 14 y umbral 0,325 fijados en validación, antes del test.</a:t>
            </a:r>
          </a:p>
        </p:txBody>
      </p:sp>
      <p:sp>
        <p:nvSpPr>
          <p:cNvPr id="6" name="TextBox 5"/>
          <p:cNvSpPr txBox="1"/>
          <p:nvPr/>
        </p:nvSpPr>
        <p:spPr>
          <a:xfrm>
            <a:off x="711200" y="6286500"/>
            <a:ext cx="5715000" cy="190500"/>
          </a:xfrm>
          <a:prstGeom prst="rect">
            <a:avLst/>
          </a:prstGeom>
          <a:noFill/>
        </p:spPr>
        <p:txBody>
          <a:bodyPr wrap="square" anchor="t" lIns="0" rIns="0" tIns="0" bIns="0">
            <a:spAutoFit/>
          </a:bodyPr>
          <a:lstStyle/>
          <a:p>
            <a:pPr algn="l">
              <a:lnSpc>
                <a:spcPct val="83333"/>
              </a:lnSpc>
            </a:pPr>
            <a:r>
              <a:rPr sz="1200" b="0" spc="150">
                <a:solidFill>
                  <a:srgbClr val="6E7984"/>
                </a:solidFill>
                <a:latin typeface="Arial"/>
              </a:rPr>
              <a:t>PREDICCIÓN DE pCR · 4 / 5</a:t>
            </a:r>
          </a:p>
        </p:txBody>
      </p:sp>
      <p:sp>
        <p:nvSpPr>
          <p:cNvPr id="7" name="TextBox 6"/>
          <p:cNvSpPr txBox="1"/>
          <p:nvPr/>
        </p:nvSpPr>
        <p:spPr>
          <a:xfrm>
            <a:off x="7035800" y="6286500"/>
            <a:ext cx="4445000" cy="190500"/>
          </a:xfrm>
          <a:prstGeom prst="rect">
            <a:avLst/>
          </a:prstGeom>
          <a:noFill/>
        </p:spPr>
        <p:txBody>
          <a:bodyPr wrap="square" anchor="t" lIns="0" rIns="0" tIns="0" bIns="0">
            <a:spAutoFit/>
          </a:bodyPr>
          <a:lstStyle/>
          <a:p>
            <a:pPr algn="r">
              <a:lnSpc>
                <a:spcPct val="83333"/>
              </a:lnSpc>
            </a:pPr>
            <a:r>
              <a:rPr sz="1200" b="0" spc="150">
                <a:solidFill>
                  <a:srgbClr val="6E7984"/>
                </a:solidFill>
                <a:latin typeface="Arial"/>
              </a:rPr>
              <a:t>RUBÉN ELICES · UAX 26/27</a:t>
            </a:r>
          </a:p>
        </p:txBody>
      </p:sp>
      <p:sp>
        <p:nvSpPr>
          <p:cNvPr id="8" name="Rounded Rectangle 7"/>
          <p:cNvSpPr/>
          <p:nvPr/>
        </p:nvSpPr>
        <p:spPr>
          <a:xfrm>
            <a:off x="711200" y="1981200"/>
            <a:ext cx="6858000" cy="2667000"/>
          </a:xfrm>
          <a:prstGeom prst="roundRect">
            <a:avLst>
              <a:gd name="adj" fmla="val 4761"/>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1700" y="2146300"/>
            <a:ext cx="6477000"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EL MISMO MODELO, MEDIDO DE CINCO FORMAS (AUC)</a:t>
            </a:r>
          </a:p>
        </p:txBody>
      </p:sp>
      <p:sp>
        <p:nvSpPr>
          <p:cNvPr id="10" name="Rectangle 9"/>
          <p:cNvSpPr/>
          <p:nvPr/>
        </p:nvSpPr>
        <p:spPr>
          <a:xfrm>
            <a:off x="4584700" y="2489200"/>
            <a:ext cx="12700" cy="1765300"/>
          </a:xfrm>
          <a:prstGeom prst="rect">
            <a:avLst/>
          </a:prstGeom>
          <a:solidFill>
            <a:srgbClr val="B5BE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70700" y="2489200"/>
            <a:ext cx="12700" cy="1765300"/>
          </a:xfrm>
          <a:prstGeom prst="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67200" y="4292600"/>
            <a:ext cx="635000" cy="190500"/>
          </a:xfrm>
          <a:prstGeom prst="rect">
            <a:avLst/>
          </a:prstGeom>
          <a:noFill/>
        </p:spPr>
        <p:txBody>
          <a:bodyPr wrap="square" anchor="t" lIns="0" rIns="0" tIns="0" bIns="0">
            <a:spAutoFit/>
          </a:bodyPr>
          <a:lstStyle/>
          <a:p>
            <a:pPr algn="ctr">
              <a:lnSpc>
                <a:spcPct val="83333"/>
              </a:lnSpc>
            </a:pPr>
            <a:r>
              <a:rPr sz="1200" b="0">
                <a:solidFill>
                  <a:srgbClr val="6E7984"/>
                </a:solidFill>
                <a:latin typeface="Arial"/>
              </a:rPr>
              <a:t>azar</a:t>
            </a:r>
          </a:p>
        </p:txBody>
      </p:sp>
      <p:sp>
        <p:nvSpPr>
          <p:cNvPr id="13" name="TextBox 12"/>
          <p:cNvSpPr txBox="1"/>
          <p:nvPr/>
        </p:nvSpPr>
        <p:spPr>
          <a:xfrm>
            <a:off x="6172200" y="4292600"/>
            <a:ext cx="1193800" cy="190500"/>
          </a:xfrm>
          <a:prstGeom prst="rect">
            <a:avLst/>
          </a:prstGeom>
          <a:noFill/>
        </p:spPr>
        <p:txBody>
          <a:bodyPr wrap="square" anchor="t" lIns="0" rIns="0" tIns="0" bIns="0">
            <a:spAutoFit/>
          </a:bodyPr>
          <a:lstStyle/>
          <a:p>
            <a:pPr algn="r">
              <a:lnSpc>
                <a:spcPct val="83333"/>
              </a:lnSpc>
            </a:pPr>
            <a:r>
              <a:rPr sz="1200" b="0">
                <a:solidFill>
                  <a:srgbClr val="2E9E62"/>
                </a:solidFill>
                <a:latin typeface="Arial"/>
              </a:rPr>
              <a:t>buen modelo</a:t>
            </a:r>
          </a:p>
        </p:txBody>
      </p:sp>
      <p:sp>
        <p:nvSpPr>
          <p:cNvPr id="14" name="TextBox 13"/>
          <p:cNvSpPr txBox="1"/>
          <p:nvPr/>
        </p:nvSpPr>
        <p:spPr>
          <a:xfrm>
            <a:off x="901700" y="2533650"/>
            <a:ext cx="2794000" cy="215900"/>
          </a:xfrm>
          <a:prstGeom prst="rect">
            <a:avLst/>
          </a:prstGeom>
          <a:noFill/>
        </p:spPr>
        <p:txBody>
          <a:bodyPr wrap="square" anchor="t" lIns="0" rIns="0" tIns="0" bIns="0">
            <a:spAutoFit/>
          </a:bodyPr>
          <a:lstStyle/>
          <a:p>
            <a:pPr algn="l">
              <a:lnSpc>
                <a:spcPct val="83333"/>
              </a:lnSpc>
            </a:pPr>
            <a:r>
              <a:rPr sz="1200" b="1">
                <a:solidFill>
                  <a:srgbClr val="C9702C"/>
                </a:solidFill>
                <a:latin typeface="Arial"/>
              </a:rPr>
              <a:t>Pico de validación de E57</a:t>
            </a:r>
          </a:p>
        </p:txBody>
      </p:sp>
      <p:sp>
        <p:nvSpPr>
          <p:cNvPr id="15" name="Rounded Rectangle 14"/>
          <p:cNvSpPr/>
          <p:nvPr/>
        </p:nvSpPr>
        <p:spPr>
          <a:xfrm>
            <a:off x="3822700" y="2559050"/>
            <a:ext cx="2057400" cy="165100"/>
          </a:xfrm>
          <a:prstGeom prst="roundRect">
            <a:avLst>
              <a:gd name="adj" fmla="val 23076"/>
            </a:avLst>
          </a:prstGeom>
          <a:solidFill>
            <a:srgbClr val="C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1700" y="2508250"/>
            <a:ext cx="762000" cy="254000"/>
          </a:xfrm>
          <a:prstGeom prst="rect">
            <a:avLst/>
          </a:prstGeom>
          <a:noFill/>
        </p:spPr>
        <p:txBody>
          <a:bodyPr wrap="square" anchor="t" lIns="0" rIns="0" tIns="0" bIns="0">
            <a:spAutoFit/>
          </a:bodyPr>
          <a:lstStyle/>
          <a:p>
            <a:pPr algn="l">
              <a:lnSpc>
                <a:spcPct val="83333"/>
              </a:lnSpc>
            </a:pPr>
            <a:r>
              <a:rPr sz="1600" b="1">
                <a:solidFill>
                  <a:srgbClr val="16202B"/>
                </a:solidFill>
                <a:latin typeface="Arial Narrow"/>
              </a:rPr>
              <a:t>0,670</a:t>
            </a:r>
          </a:p>
        </p:txBody>
      </p:sp>
      <p:sp>
        <p:nvSpPr>
          <p:cNvPr id="17" name="TextBox 16"/>
          <p:cNvSpPr txBox="1"/>
          <p:nvPr/>
        </p:nvSpPr>
        <p:spPr>
          <a:xfrm>
            <a:off x="901700" y="2901950"/>
            <a:ext cx="2794000" cy="215900"/>
          </a:xfrm>
          <a:prstGeom prst="rect">
            <a:avLst/>
          </a:prstGeom>
          <a:noFill/>
        </p:spPr>
        <p:txBody>
          <a:bodyPr wrap="square" anchor="t" lIns="0" rIns="0" tIns="0" bIns="0">
            <a:spAutoFit/>
          </a:bodyPr>
          <a:lstStyle/>
          <a:p>
            <a:pPr algn="l">
              <a:lnSpc>
                <a:spcPct val="83333"/>
              </a:lnSpc>
            </a:pPr>
            <a:r>
              <a:rPr sz="1200" b="1">
                <a:solidFill>
                  <a:srgbClr val="C9702C"/>
                </a:solidFill>
                <a:latin typeface="Arial"/>
              </a:rPr>
              <a:t>Media de picos, 5 folds</a:t>
            </a:r>
          </a:p>
        </p:txBody>
      </p:sp>
      <p:sp>
        <p:nvSpPr>
          <p:cNvPr id="18" name="Rounded Rectangle 17"/>
          <p:cNvSpPr/>
          <p:nvPr/>
        </p:nvSpPr>
        <p:spPr>
          <a:xfrm>
            <a:off x="3822700" y="2927350"/>
            <a:ext cx="1691639" cy="165100"/>
          </a:xfrm>
          <a:prstGeom prst="roundRect">
            <a:avLst>
              <a:gd name="adj" fmla="val 23076"/>
            </a:avLst>
          </a:prstGeom>
          <a:solidFill>
            <a:srgbClr val="A85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5940" y="2876550"/>
            <a:ext cx="762000" cy="254000"/>
          </a:xfrm>
          <a:prstGeom prst="rect">
            <a:avLst/>
          </a:prstGeom>
          <a:noFill/>
        </p:spPr>
        <p:txBody>
          <a:bodyPr wrap="square" anchor="t" lIns="0" rIns="0" tIns="0" bIns="0">
            <a:spAutoFit/>
          </a:bodyPr>
          <a:lstStyle/>
          <a:p>
            <a:pPr algn="l">
              <a:lnSpc>
                <a:spcPct val="83333"/>
              </a:lnSpc>
            </a:pPr>
            <a:r>
              <a:rPr sz="1600" b="1">
                <a:solidFill>
                  <a:srgbClr val="16202B"/>
                </a:solidFill>
                <a:latin typeface="Arial Narrow"/>
              </a:rPr>
              <a:t>0,622</a:t>
            </a:r>
          </a:p>
        </p:txBody>
      </p:sp>
      <p:sp>
        <p:nvSpPr>
          <p:cNvPr id="20" name="TextBox 19"/>
          <p:cNvSpPr txBox="1"/>
          <p:nvPr/>
        </p:nvSpPr>
        <p:spPr>
          <a:xfrm>
            <a:off x="901700" y="3270250"/>
            <a:ext cx="2794000" cy="2159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Validación cruzada · normal</a:t>
            </a:r>
          </a:p>
        </p:txBody>
      </p:sp>
      <p:sp>
        <p:nvSpPr>
          <p:cNvPr id="21" name="Rounded Rectangle 20"/>
          <p:cNvSpPr/>
          <p:nvPr/>
        </p:nvSpPr>
        <p:spPr>
          <a:xfrm>
            <a:off x="3822700" y="3295650"/>
            <a:ext cx="1005840" cy="165100"/>
          </a:xfrm>
          <a:prstGeom prst="roundRect">
            <a:avLst>
              <a:gd name="adj" fmla="val 23076"/>
            </a:avLst>
          </a:prstGeom>
          <a:solidFill>
            <a:srgbClr val="98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0140" y="3244850"/>
            <a:ext cx="762000" cy="254000"/>
          </a:xfrm>
          <a:prstGeom prst="rect">
            <a:avLst/>
          </a:prstGeom>
          <a:noFill/>
        </p:spPr>
        <p:txBody>
          <a:bodyPr wrap="square" anchor="t" lIns="0" rIns="0" tIns="0" bIns="0">
            <a:spAutoFit/>
          </a:bodyPr>
          <a:lstStyle/>
          <a:p>
            <a:pPr algn="l">
              <a:lnSpc>
                <a:spcPct val="83333"/>
              </a:lnSpc>
            </a:pPr>
            <a:r>
              <a:rPr sz="1600" b="1">
                <a:solidFill>
                  <a:srgbClr val="16202B"/>
                </a:solidFill>
                <a:latin typeface="Arial Narrow"/>
              </a:rPr>
              <a:t>0,532</a:t>
            </a:r>
          </a:p>
        </p:txBody>
      </p:sp>
      <p:sp>
        <p:nvSpPr>
          <p:cNvPr id="23" name="TextBox 22"/>
          <p:cNvSpPr txBox="1"/>
          <p:nvPr/>
        </p:nvSpPr>
        <p:spPr>
          <a:xfrm>
            <a:off x="901700" y="3638550"/>
            <a:ext cx="2794000" cy="215900"/>
          </a:xfrm>
          <a:prstGeom prst="rect">
            <a:avLst/>
          </a:prstGeom>
          <a:noFill/>
        </p:spPr>
        <p:txBody>
          <a:bodyPr wrap="square" anchor="t" lIns="0" rIns="0" tIns="0" bIns="0">
            <a:spAutoFit/>
          </a:bodyPr>
          <a:lstStyle/>
          <a:p>
            <a:pPr algn="l">
              <a:lnSpc>
                <a:spcPct val="83333"/>
              </a:lnSpc>
            </a:pPr>
            <a:r>
              <a:rPr sz="1200" b="1">
                <a:solidFill>
                  <a:srgbClr val="1F2A36"/>
                </a:solidFill>
                <a:latin typeface="Arial"/>
              </a:rPr>
              <a:t>Validación cruzada · ponderada</a:t>
            </a:r>
          </a:p>
        </p:txBody>
      </p:sp>
      <p:sp>
        <p:nvSpPr>
          <p:cNvPr id="24" name="Rounded Rectangle 23"/>
          <p:cNvSpPr/>
          <p:nvPr/>
        </p:nvSpPr>
        <p:spPr>
          <a:xfrm>
            <a:off x="3822700" y="3663950"/>
            <a:ext cx="761999" cy="165100"/>
          </a:xfrm>
          <a:prstGeom prst="roundRect">
            <a:avLst>
              <a:gd name="adj" fmla="val 23076"/>
            </a:avLst>
          </a:prstGeom>
          <a:solidFill>
            <a:srgbClr val="C3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86300" y="3613150"/>
            <a:ext cx="762000" cy="254000"/>
          </a:xfrm>
          <a:prstGeom prst="rect">
            <a:avLst/>
          </a:prstGeom>
          <a:noFill/>
        </p:spPr>
        <p:txBody>
          <a:bodyPr wrap="square" anchor="t" lIns="0" rIns="0" tIns="0" bIns="0">
            <a:spAutoFit/>
          </a:bodyPr>
          <a:lstStyle/>
          <a:p>
            <a:pPr algn="l">
              <a:lnSpc>
                <a:spcPct val="83333"/>
              </a:lnSpc>
            </a:pPr>
            <a:r>
              <a:rPr sz="1600" b="1">
                <a:solidFill>
                  <a:srgbClr val="16202B"/>
                </a:solidFill>
                <a:latin typeface="Arial Narrow"/>
              </a:rPr>
              <a:t>0,500</a:t>
            </a:r>
          </a:p>
        </p:txBody>
      </p:sp>
      <p:sp>
        <p:nvSpPr>
          <p:cNvPr id="26" name="TextBox 25"/>
          <p:cNvSpPr txBox="1"/>
          <p:nvPr/>
        </p:nvSpPr>
        <p:spPr>
          <a:xfrm>
            <a:off x="901700" y="4006850"/>
            <a:ext cx="2794000" cy="215900"/>
          </a:xfrm>
          <a:prstGeom prst="rect">
            <a:avLst/>
          </a:prstGeom>
          <a:noFill/>
        </p:spPr>
        <p:txBody>
          <a:bodyPr wrap="square" anchor="t" lIns="0" rIns="0" tIns="0" bIns="0">
            <a:spAutoFit/>
          </a:bodyPr>
          <a:lstStyle/>
          <a:p>
            <a:pPr algn="l">
              <a:lnSpc>
                <a:spcPct val="83333"/>
              </a:lnSpc>
            </a:pPr>
            <a:r>
              <a:rPr sz="1200" b="1">
                <a:solidFill>
                  <a:srgbClr val="C94C86"/>
                </a:solidFill>
                <a:latin typeface="Arial"/>
              </a:rPr>
              <a:t>Test público, una vez</a:t>
            </a:r>
          </a:p>
        </p:txBody>
      </p:sp>
      <p:sp>
        <p:nvSpPr>
          <p:cNvPr id="27" name="Rounded Rectangle 26"/>
          <p:cNvSpPr/>
          <p:nvPr/>
        </p:nvSpPr>
        <p:spPr>
          <a:xfrm>
            <a:off x="3822700" y="4032250"/>
            <a:ext cx="1318259" cy="165100"/>
          </a:xfrm>
          <a:prstGeom prst="roundRect">
            <a:avLst>
              <a:gd name="adj" fmla="val 23076"/>
            </a:avLst>
          </a:prstGeom>
          <a:solidFill>
            <a:srgbClr val="C94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42559" y="3981450"/>
            <a:ext cx="762000" cy="254000"/>
          </a:xfrm>
          <a:prstGeom prst="rect">
            <a:avLst/>
          </a:prstGeom>
          <a:noFill/>
        </p:spPr>
        <p:txBody>
          <a:bodyPr wrap="square" anchor="t" lIns="0" rIns="0" tIns="0" bIns="0">
            <a:spAutoFit/>
          </a:bodyPr>
          <a:lstStyle/>
          <a:p>
            <a:pPr algn="l">
              <a:lnSpc>
                <a:spcPct val="83333"/>
              </a:lnSpc>
            </a:pPr>
            <a:r>
              <a:rPr sz="1600" b="1">
                <a:solidFill>
                  <a:srgbClr val="C94C86"/>
                </a:solidFill>
                <a:latin typeface="Arial Narrow"/>
              </a:rPr>
              <a:t>0,573</a:t>
            </a:r>
          </a:p>
        </p:txBody>
      </p:sp>
      <p:sp>
        <p:nvSpPr>
          <p:cNvPr id="29" name="Rounded Rectangle 28"/>
          <p:cNvSpPr/>
          <p:nvPr/>
        </p:nvSpPr>
        <p:spPr>
          <a:xfrm>
            <a:off x="711200" y="4775200"/>
            <a:ext cx="2201333" cy="1092200"/>
          </a:xfrm>
          <a:prstGeom prst="roundRect">
            <a:avLst>
              <a:gd name="adj" fmla="val 11627"/>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3600" y="4914900"/>
            <a:ext cx="1896533" cy="215900"/>
          </a:xfrm>
          <a:prstGeom prst="rect">
            <a:avLst/>
          </a:prstGeom>
          <a:noFill/>
        </p:spPr>
        <p:txBody>
          <a:bodyPr wrap="square" anchor="t" lIns="0" rIns="0" tIns="0" bIns="0">
            <a:spAutoFit/>
          </a:bodyPr>
          <a:lstStyle/>
          <a:p>
            <a:pPr algn="l">
              <a:lnSpc>
                <a:spcPct val="83333"/>
              </a:lnSpc>
            </a:pPr>
            <a:r>
              <a:rPr sz="1200" b="1">
                <a:solidFill>
                  <a:srgbClr val="2F7DC4"/>
                </a:solidFill>
                <a:latin typeface="Arial"/>
              </a:rPr>
              <a:t>Normal vs. ponderada</a:t>
            </a:r>
          </a:p>
        </p:txBody>
      </p:sp>
      <p:sp>
        <p:nvSpPr>
          <p:cNvPr id="31" name="TextBox 30"/>
          <p:cNvSpPr txBox="1"/>
          <p:nvPr/>
        </p:nvSpPr>
        <p:spPr>
          <a:xfrm>
            <a:off x="863600" y="5156200"/>
            <a:ext cx="1896533" cy="698500"/>
          </a:xfrm>
          <a:prstGeom prst="rect">
            <a:avLst/>
          </a:prstGeom>
          <a:noFill/>
        </p:spPr>
        <p:txBody>
          <a:bodyPr wrap="square" anchor="t" lIns="0" rIns="0" tIns="0" bIns="0">
            <a:spAutoFit/>
          </a:bodyPr>
          <a:lstStyle/>
          <a:p>
            <a:pPr algn="l">
              <a:lnSpc>
                <a:spcPct val="112500"/>
              </a:lnSpc>
            </a:pPr>
            <a:r>
              <a:rPr sz="1200" b="0">
                <a:solidFill>
                  <a:srgbClr val="4F5B67"/>
                </a:solidFill>
                <a:latin typeface="Arial"/>
              </a:rPr>
              <a:t>+0,032 a favor de la normal, IC95 de −0,001 a 0,064: no demostrada.</a:t>
            </a:r>
          </a:p>
        </p:txBody>
      </p:sp>
      <p:sp>
        <p:nvSpPr>
          <p:cNvPr id="32" name="Rounded Rectangle 31"/>
          <p:cNvSpPr/>
          <p:nvPr/>
        </p:nvSpPr>
        <p:spPr>
          <a:xfrm>
            <a:off x="3039533" y="4775200"/>
            <a:ext cx="2201333" cy="1092200"/>
          </a:xfrm>
          <a:prstGeom prst="roundRect">
            <a:avLst>
              <a:gd name="adj" fmla="val 11627"/>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91933" y="4914900"/>
            <a:ext cx="1896533" cy="215900"/>
          </a:xfrm>
          <a:prstGeom prst="rect">
            <a:avLst/>
          </a:prstGeom>
          <a:noFill/>
        </p:spPr>
        <p:txBody>
          <a:bodyPr wrap="square" anchor="t" lIns="0" rIns="0" tIns="0" bIns="0">
            <a:spAutoFit/>
          </a:bodyPr>
          <a:lstStyle/>
          <a:p>
            <a:pPr algn="l">
              <a:lnSpc>
                <a:spcPct val="83333"/>
              </a:lnSpc>
            </a:pPr>
            <a:r>
              <a:rPr sz="1200" b="1">
                <a:solidFill>
                  <a:srgbClr val="C9702C"/>
                </a:solidFill>
                <a:latin typeface="Arial"/>
              </a:rPr>
              <a:t>Diagnóstico</a:t>
            </a:r>
          </a:p>
        </p:txBody>
      </p:sp>
      <p:sp>
        <p:nvSpPr>
          <p:cNvPr id="34" name="TextBox 33"/>
          <p:cNvSpPr txBox="1"/>
          <p:nvPr/>
        </p:nvSpPr>
        <p:spPr>
          <a:xfrm>
            <a:off x="3191933" y="5156200"/>
            <a:ext cx="1896533" cy="698500"/>
          </a:xfrm>
          <a:prstGeom prst="rect">
            <a:avLst/>
          </a:prstGeom>
          <a:noFill/>
        </p:spPr>
        <p:txBody>
          <a:bodyPr wrap="square" anchor="t" lIns="0" rIns="0" tIns="0" bIns="0">
            <a:spAutoFit/>
          </a:bodyPr>
          <a:lstStyle/>
          <a:p>
            <a:pPr algn="l">
              <a:lnSpc>
                <a:spcPct val="112500"/>
              </a:lnSpc>
            </a:pPr>
            <a:r>
              <a:rPr sz="1200" b="0">
                <a:solidFill>
                  <a:srgbClr val="4F5B67"/>
                </a:solidFill>
                <a:latin typeface="Arial"/>
              </a:rPr>
              <a:t>Con 2 pacientes por lote, BatchNorm borraba sus diferencias.</a:t>
            </a:r>
          </a:p>
        </p:txBody>
      </p:sp>
      <p:sp>
        <p:nvSpPr>
          <p:cNvPr id="35" name="Rounded Rectangle 34"/>
          <p:cNvSpPr/>
          <p:nvPr/>
        </p:nvSpPr>
        <p:spPr>
          <a:xfrm>
            <a:off x="5367866" y="4775200"/>
            <a:ext cx="2201333" cy="1092200"/>
          </a:xfrm>
          <a:prstGeom prst="roundRect">
            <a:avLst>
              <a:gd name="adj" fmla="val 11627"/>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20266" y="4914900"/>
            <a:ext cx="1896533" cy="215900"/>
          </a:xfrm>
          <a:prstGeom prst="rect">
            <a:avLst/>
          </a:prstGeom>
          <a:noFill/>
        </p:spPr>
        <p:txBody>
          <a:bodyPr wrap="square" anchor="t" lIns="0" rIns="0" tIns="0" bIns="0">
            <a:spAutoFit/>
          </a:bodyPr>
          <a:lstStyle/>
          <a:p>
            <a:pPr algn="l">
              <a:lnSpc>
                <a:spcPct val="83333"/>
              </a:lnSpc>
            </a:pPr>
            <a:r>
              <a:rPr sz="1200" b="1">
                <a:solidFill>
                  <a:srgbClr val="C94C86"/>
                </a:solidFill>
                <a:latin typeface="Arial"/>
              </a:rPr>
              <a:t>Por cohorte</a:t>
            </a:r>
          </a:p>
        </p:txBody>
      </p:sp>
      <p:sp>
        <p:nvSpPr>
          <p:cNvPr id="37" name="TextBox 36"/>
          <p:cNvSpPr txBox="1"/>
          <p:nvPr/>
        </p:nvSpPr>
        <p:spPr>
          <a:xfrm>
            <a:off x="5520266" y="5156200"/>
            <a:ext cx="1896533" cy="698500"/>
          </a:xfrm>
          <a:prstGeom prst="rect">
            <a:avLst/>
          </a:prstGeom>
          <a:noFill/>
        </p:spPr>
        <p:txBody>
          <a:bodyPr wrap="square" anchor="t" lIns="0" rIns="0" tIns="0" bIns="0">
            <a:spAutoFit/>
          </a:bodyPr>
          <a:lstStyle/>
          <a:p>
            <a:pPr algn="l">
              <a:lnSpc>
                <a:spcPct val="112500"/>
              </a:lnSpc>
            </a:pPr>
            <a:r>
              <a:rPr sz="1200" b="0">
                <a:solidFill>
                  <a:srgbClr val="4F5B67"/>
                </a:solidFill>
                <a:latin typeface="Arial"/>
              </a:rPr>
              <a:t>I-SPY1 0,61 · I-SPY2 0,54 · Duke 0,40, que ordena al revés.</a:t>
            </a:r>
          </a:p>
        </p:txBody>
      </p:sp>
      <p:sp>
        <p:nvSpPr>
          <p:cNvPr id="38" name="Rounded Rectangle 37"/>
          <p:cNvSpPr/>
          <p:nvPr/>
        </p:nvSpPr>
        <p:spPr>
          <a:xfrm>
            <a:off x="7747000" y="1981200"/>
            <a:ext cx="3733800" cy="3886200"/>
          </a:xfrm>
          <a:prstGeom prst="roundRect">
            <a:avLst>
              <a:gd name="adj" fmla="val 3401"/>
            </a:avLst>
          </a:prstGeom>
          <a:solidFill>
            <a:srgbClr val="FBF3F7"/>
          </a:solidFill>
          <a:ln w="9525">
            <a:solidFill>
              <a:srgbClr val="EFD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37500" y="2171700"/>
            <a:ext cx="3352800"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TEST PÚBLICO · 176 PACIENTES</a:t>
            </a:r>
          </a:p>
        </p:txBody>
      </p:sp>
      <p:sp>
        <p:nvSpPr>
          <p:cNvPr id="40" name="TextBox 39"/>
          <p:cNvSpPr txBox="1"/>
          <p:nvPr/>
        </p:nvSpPr>
        <p:spPr>
          <a:xfrm>
            <a:off x="7937500" y="2463800"/>
            <a:ext cx="3352800" cy="685800"/>
          </a:xfrm>
          <a:prstGeom prst="rect">
            <a:avLst/>
          </a:prstGeom>
          <a:noFill/>
        </p:spPr>
        <p:txBody>
          <a:bodyPr wrap="square" anchor="t" lIns="0" rIns="0" tIns="0" bIns="0">
            <a:spAutoFit/>
          </a:bodyPr>
          <a:lstStyle/>
          <a:p>
            <a:pPr algn="l">
              <a:lnSpc>
                <a:spcPct val="83333"/>
              </a:lnSpc>
            </a:pPr>
            <a:r>
              <a:rPr sz="5200" b="1">
                <a:solidFill>
                  <a:srgbClr val="16202B"/>
                </a:solidFill>
                <a:latin typeface="Arial Narrow"/>
              </a:rPr>
              <a:t>0,573</a:t>
            </a:r>
          </a:p>
        </p:txBody>
      </p:sp>
      <p:sp>
        <p:nvSpPr>
          <p:cNvPr id="41" name="TextBox 40"/>
          <p:cNvSpPr txBox="1"/>
          <p:nvPr/>
        </p:nvSpPr>
        <p:spPr>
          <a:xfrm>
            <a:off x="7937500" y="3187700"/>
            <a:ext cx="335280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AUC por paciente · IC95 0,475–0,671</a:t>
            </a:r>
          </a:p>
        </p:txBody>
      </p:sp>
      <p:sp>
        <p:nvSpPr>
          <p:cNvPr id="42" name="Rounded Rectangle 41"/>
          <p:cNvSpPr/>
          <p:nvPr/>
        </p:nvSpPr>
        <p:spPr>
          <a:xfrm>
            <a:off x="7937500" y="3543300"/>
            <a:ext cx="1644650" cy="723900"/>
          </a:xfrm>
          <a:prstGeom prst="roundRect">
            <a:avLst>
              <a:gd name="adj" fmla="val 12280"/>
            </a:avLst>
          </a:prstGeom>
          <a:solidFill>
            <a:srgbClr val="F7DDE9"/>
          </a:solidFill>
          <a:ln w="9525">
            <a:solidFill>
              <a:srgbClr val="E7B5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51800" y="3632200"/>
            <a:ext cx="1454150" cy="317500"/>
          </a:xfrm>
          <a:prstGeom prst="rect">
            <a:avLst/>
          </a:prstGeom>
          <a:noFill/>
        </p:spPr>
        <p:txBody>
          <a:bodyPr wrap="square" anchor="t" lIns="0" rIns="0" tIns="0" bIns="0">
            <a:spAutoFit/>
          </a:bodyPr>
          <a:lstStyle/>
          <a:p>
            <a:pPr algn="l">
              <a:lnSpc>
                <a:spcPct val="83333"/>
              </a:lnSpc>
            </a:pPr>
            <a:r>
              <a:rPr sz="2200" b="1">
                <a:solidFill>
                  <a:srgbClr val="16202B"/>
                </a:solidFill>
                <a:latin typeface="Arial Narrow"/>
              </a:rPr>
              <a:t>92</a:t>
            </a:r>
          </a:p>
        </p:txBody>
      </p:sp>
      <p:sp>
        <p:nvSpPr>
          <p:cNvPr id="44" name="TextBox 43"/>
          <p:cNvSpPr txBox="1"/>
          <p:nvPr/>
        </p:nvSpPr>
        <p:spPr>
          <a:xfrm>
            <a:off x="8051800" y="3975100"/>
            <a:ext cx="1454150" cy="215900"/>
          </a:xfrm>
          <a:prstGeom prst="rect">
            <a:avLst/>
          </a:prstGeom>
          <a:noFill/>
        </p:spPr>
        <p:txBody>
          <a:bodyPr wrap="square" anchor="t" lIns="0" rIns="0" tIns="0" bIns="0">
            <a:spAutoFit/>
          </a:bodyPr>
          <a:lstStyle/>
          <a:p>
            <a:pPr algn="l">
              <a:lnSpc>
                <a:spcPct val="83333"/>
              </a:lnSpc>
            </a:pPr>
            <a:r>
              <a:rPr sz="1200" b="0">
                <a:solidFill>
                  <a:srgbClr val="4F5B67"/>
                </a:solidFill>
                <a:latin typeface="Arial"/>
              </a:rPr>
              <a:t>verdaderos negativos</a:t>
            </a:r>
          </a:p>
        </p:txBody>
      </p:sp>
      <p:sp>
        <p:nvSpPr>
          <p:cNvPr id="45" name="Rounded Rectangle 44"/>
          <p:cNvSpPr/>
          <p:nvPr/>
        </p:nvSpPr>
        <p:spPr>
          <a:xfrm>
            <a:off x="9645650" y="3543300"/>
            <a:ext cx="1644650" cy="723900"/>
          </a:xfrm>
          <a:prstGeom prst="roundRect">
            <a:avLst>
              <a:gd name="adj" fmla="val 1228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59950" y="3632200"/>
            <a:ext cx="1454150" cy="317500"/>
          </a:xfrm>
          <a:prstGeom prst="rect">
            <a:avLst/>
          </a:prstGeom>
          <a:noFill/>
        </p:spPr>
        <p:txBody>
          <a:bodyPr wrap="square" anchor="t" lIns="0" rIns="0" tIns="0" bIns="0">
            <a:spAutoFit/>
          </a:bodyPr>
          <a:lstStyle/>
          <a:p>
            <a:pPr algn="l">
              <a:lnSpc>
                <a:spcPct val="83333"/>
              </a:lnSpc>
            </a:pPr>
            <a:r>
              <a:rPr sz="2200" b="1">
                <a:solidFill>
                  <a:srgbClr val="16202B"/>
                </a:solidFill>
                <a:latin typeface="Arial Narrow"/>
              </a:rPr>
              <a:t>31</a:t>
            </a:r>
          </a:p>
        </p:txBody>
      </p:sp>
      <p:sp>
        <p:nvSpPr>
          <p:cNvPr id="47" name="TextBox 46"/>
          <p:cNvSpPr txBox="1"/>
          <p:nvPr/>
        </p:nvSpPr>
        <p:spPr>
          <a:xfrm>
            <a:off x="9759950" y="3975100"/>
            <a:ext cx="145415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falsos positivos</a:t>
            </a:r>
          </a:p>
        </p:txBody>
      </p:sp>
      <p:sp>
        <p:nvSpPr>
          <p:cNvPr id="48" name="Rounded Rectangle 47"/>
          <p:cNvSpPr/>
          <p:nvPr/>
        </p:nvSpPr>
        <p:spPr>
          <a:xfrm>
            <a:off x="7937500" y="4330700"/>
            <a:ext cx="1644650" cy="723900"/>
          </a:xfrm>
          <a:prstGeom prst="roundRect">
            <a:avLst>
              <a:gd name="adj" fmla="val 1228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51800" y="4419600"/>
            <a:ext cx="1454150" cy="317500"/>
          </a:xfrm>
          <a:prstGeom prst="rect">
            <a:avLst/>
          </a:prstGeom>
          <a:noFill/>
        </p:spPr>
        <p:txBody>
          <a:bodyPr wrap="square" anchor="t" lIns="0" rIns="0" tIns="0" bIns="0">
            <a:spAutoFit/>
          </a:bodyPr>
          <a:lstStyle/>
          <a:p>
            <a:pPr algn="l">
              <a:lnSpc>
                <a:spcPct val="83333"/>
              </a:lnSpc>
            </a:pPr>
            <a:r>
              <a:rPr sz="2200" b="1">
                <a:solidFill>
                  <a:srgbClr val="16202B"/>
                </a:solidFill>
                <a:latin typeface="Arial Narrow"/>
              </a:rPr>
              <a:t>35</a:t>
            </a:r>
          </a:p>
        </p:txBody>
      </p:sp>
      <p:sp>
        <p:nvSpPr>
          <p:cNvPr id="50" name="TextBox 49"/>
          <p:cNvSpPr txBox="1"/>
          <p:nvPr/>
        </p:nvSpPr>
        <p:spPr>
          <a:xfrm>
            <a:off x="8051800" y="4762500"/>
            <a:ext cx="1454150" cy="215900"/>
          </a:xfrm>
          <a:prstGeom prst="rect">
            <a:avLst/>
          </a:prstGeom>
          <a:noFill/>
        </p:spPr>
        <p:txBody>
          <a:bodyPr wrap="square" anchor="t" lIns="0" rIns="0" tIns="0" bIns="0">
            <a:spAutoFit/>
          </a:bodyPr>
          <a:lstStyle/>
          <a:p>
            <a:pPr algn="l">
              <a:lnSpc>
                <a:spcPct val="83333"/>
              </a:lnSpc>
            </a:pPr>
            <a:r>
              <a:rPr sz="1200" b="0">
                <a:solidFill>
                  <a:srgbClr val="6E7984"/>
                </a:solidFill>
                <a:latin typeface="Arial"/>
              </a:rPr>
              <a:t>falsos negativos</a:t>
            </a:r>
          </a:p>
        </p:txBody>
      </p:sp>
      <p:sp>
        <p:nvSpPr>
          <p:cNvPr id="51" name="Rounded Rectangle 50"/>
          <p:cNvSpPr/>
          <p:nvPr/>
        </p:nvSpPr>
        <p:spPr>
          <a:xfrm>
            <a:off x="9645650" y="4330700"/>
            <a:ext cx="1644650" cy="723900"/>
          </a:xfrm>
          <a:prstGeom prst="roundRect">
            <a:avLst>
              <a:gd name="adj" fmla="val 12280"/>
            </a:avLst>
          </a:prstGeom>
          <a:solidFill>
            <a:srgbClr val="F7DDE9"/>
          </a:solidFill>
          <a:ln w="9525">
            <a:solidFill>
              <a:srgbClr val="E7B5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9950" y="4419600"/>
            <a:ext cx="1454150" cy="317500"/>
          </a:xfrm>
          <a:prstGeom prst="rect">
            <a:avLst/>
          </a:prstGeom>
          <a:noFill/>
        </p:spPr>
        <p:txBody>
          <a:bodyPr wrap="square" anchor="t" lIns="0" rIns="0" tIns="0" bIns="0">
            <a:spAutoFit/>
          </a:bodyPr>
          <a:lstStyle/>
          <a:p>
            <a:pPr algn="l">
              <a:lnSpc>
                <a:spcPct val="83333"/>
              </a:lnSpc>
            </a:pPr>
            <a:r>
              <a:rPr sz="2200" b="1">
                <a:solidFill>
                  <a:srgbClr val="16202B"/>
                </a:solidFill>
                <a:latin typeface="Arial Narrow"/>
              </a:rPr>
              <a:t>18</a:t>
            </a:r>
          </a:p>
        </p:txBody>
      </p:sp>
      <p:sp>
        <p:nvSpPr>
          <p:cNvPr id="53" name="TextBox 52"/>
          <p:cNvSpPr txBox="1"/>
          <p:nvPr/>
        </p:nvSpPr>
        <p:spPr>
          <a:xfrm>
            <a:off x="9759950" y="4762500"/>
            <a:ext cx="1454150" cy="215900"/>
          </a:xfrm>
          <a:prstGeom prst="rect">
            <a:avLst/>
          </a:prstGeom>
          <a:noFill/>
        </p:spPr>
        <p:txBody>
          <a:bodyPr wrap="square" anchor="t" lIns="0" rIns="0" tIns="0" bIns="0">
            <a:spAutoFit/>
          </a:bodyPr>
          <a:lstStyle/>
          <a:p>
            <a:pPr algn="l">
              <a:lnSpc>
                <a:spcPct val="83333"/>
              </a:lnSpc>
            </a:pPr>
            <a:r>
              <a:rPr sz="1200" b="0">
                <a:solidFill>
                  <a:srgbClr val="4F5B67"/>
                </a:solidFill>
                <a:latin typeface="Arial"/>
              </a:rPr>
              <a:t>verdaderos positivos</a:t>
            </a:r>
          </a:p>
        </p:txBody>
      </p:sp>
      <p:sp>
        <p:nvSpPr>
          <p:cNvPr id="54" name="TextBox 53"/>
          <p:cNvSpPr txBox="1"/>
          <p:nvPr/>
        </p:nvSpPr>
        <p:spPr>
          <a:xfrm>
            <a:off x="7937500" y="5207000"/>
            <a:ext cx="3352800" cy="508000"/>
          </a:xfrm>
          <a:prstGeom prst="rect">
            <a:avLst/>
          </a:prstGeom>
          <a:noFill/>
        </p:spPr>
        <p:txBody>
          <a:bodyPr wrap="square" anchor="t" lIns="0" rIns="0" tIns="0" bIns="0">
            <a:spAutoFit/>
          </a:bodyPr>
          <a:lstStyle/>
          <a:p>
            <a:pPr algn="l">
              <a:lnSpc>
                <a:spcPct val="112500"/>
              </a:lnSpc>
            </a:pPr>
            <a:r>
              <a:rPr sz="1200" b="0">
                <a:solidFill>
                  <a:srgbClr val="4F5B67"/>
                </a:solidFill>
                <a:latin typeface="Arial"/>
              </a:rPr>
              <a:t>Sensibilidad 34 % · especificidad 75 %, umbral 0,325.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956800" y="254000"/>
            <a:ext cx="1524000" cy="1143000"/>
          </a:xfrm>
          <a:prstGeom prst="rect">
            <a:avLst/>
          </a:prstGeom>
          <a:noFill/>
        </p:spPr>
        <p:txBody>
          <a:bodyPr wrap="square" anchor="t" lIns="0" rIns="0" tIns="0" bIns="0">
            <a:spAutoFit/>
          </a:bodyPr>
          <a:lstStyle/>
          <a:p>
            <a:pPr algn="r">
              <a:lnSpc>
                <a:spcPct val="83333"/>
              </a:lnSpc>
            </a:pPr>
            <a:r>
              <a:rPr sz="8500" b="1">
                <a:solidFill>
                  <a:srgbClr val="F5E4EC"/>
                </a:solidFill>
                <a:latin typeface="Arial Narrow"/>
              </a:rPr>
              <a:t>5</a:t>
            </a:r>
          </a:p>
        </p:txBody>
      </p:sp>
      <p:sp>
        <p:nvSpPr>
          <p:cNvPr id="3" name="TextBox 2"/>
          <p:cNvSpPr txBox="1"/>
          <p:nvPr/>
        </p:nvSpPr>
        <p:spPr>
          <a:xfrm>
            <a:off x="711200" y="812800"/>
            <a:ext cx="8255000" cy="215900"/>
          </a:xfrm>
          <a:prstGeom prst="rect">
            <a:avLst/>
          </a:prstGeom>
          <a:noFill/>
        </p:spPr>
        <p:txBody>
          <a:bodyPr wrap="square" anchor="t" lIns="0" rIns="0" tIns="0" bIns="0">
            <a:spAutoFit/>
          </a:bodyPr>
          <a:lstStyle/>
          <a:p>
            <a:pPr algn="l">
              <a:lnSpc>
                <a:spcPct val="83333"/>
              </a:lnSpc>
            </a:pPr>
            <a:r>
              <a:rPr sz="1200" b="1" spc="250">
                <a:solidFill>
                  <a:srgbClr val="C2477F"/>
                </a:solidFill>
                <a:latin typeface="Arial"/>
              </a:rPr>
              <a:t>05 · APLICACIÓN WEB, DEMOSTRACIÓN Y LÍMITES</a:t>
            </a:r>
          </a:p>
        </p:txBody>
      </p:sp>
      <p:sp>
        <p:nvSpPr>
          <p:cNvPr id="4" name="TextBox 3"/>
          <p:cNvSpPr txBox="1"/>
          <p:nvPr/>
        </p:nvSpPr>
        <p:spPr>
          <a:xfrm>
            <a:off x="711200" y="1054100"/>
            <a:ext cx="9207500" cy="533400"/>
          </a:xfrm>
          <a:prstGeom prst="rect">
            <a:avLst/>
          </a:prstGeom>
          <a:noFill/>
        </p:spPr>
        <p:txBody>
          <a:bodyPr wrap="square" anchor="t" lIns="0" rIns="0" tIns="0" bIns="0">
            <a:spAutoFit/>
          </a:bodyPr>
          <a:lstStyle/>
          <a:p>
            <a:pPr algn="l">
              <a:lnSpc>
                <a:spcPct val="83333"/>
              </a:lnSpc>
            </a:pPr>
            <a:r>
              <a:rPr sz="3600" b="1">
                <a:solidFill>
                  <a:srgbClr val="16202B"/>
                </a:solidFill>
                <a:latin typeface="Arial Narrow"/>
              </a:rPr>
              <a:t>La misma probabilidad en el pipeline y en la web</a:t>
            </a:r>
          </a:p>
        </p:txBody>
      </p:sp>
      <p:sp>
        <p:nvSpPr>
          <p:cNvPr id="5" name="TextBox 4"/>
          <p:cNvSpPr txBox="1"/>
          <p:nvPr/>
        </p:nvSpPr>
        <p:spPr>
          <a:xfrm>
            <a:off x="711200" y="1612900"/>
            <a:ext cx="9207500" cy="571500"/>
          </a:xfrm>
          <a:prstGeom prst="rect">
            <a:avLst/>
          </a:prstGeom>
          <a:noFill/>
        </p:spPr>
        <p:txBody>
          <a:bodyPr wrap="square" anchor="t" lIns="0" rIns="0" tIns="0" bIns="0">
            <a:spAutoFit/>
          </a:bodyPr>
          <a:lstStyle/>
          <a:p>
            <a:pPr algn="l">
              <a:lnSpc>
                <a:spcPct val="112500"/>
              </a:lnSpc>
            </a:pPr>
            <a:r>
              <a:rPr sz="1300" b="0">
                <a:solidFill>
                  <a:srgbClr val="4F5B67"/>
                </a:solidFill>
                <a:latin typeface="Arial"/>
              </a:rPr>
              <a:t>Flask sirve E57 en modo evaluación y React valida y muestra. El corte ISPY1_1001_z016 da 0,336232 por los dos caminos.</a:t>
            </a:r>
          </a:p>
        </p:txBody>
      </p:sp>
      <p:sp>
        <p:nvSpPr>
          <p:cNvPr id="6" name="TextBox 5"/>
          <p:cNvSpPr txBox="1"/>
          <p:nvPr/>
        </p:nvSpPr>
        <p:spPr>
          <a:xfrm>
            <a:off x="711200" y="6286500"/>
            <a:ext cx="5715000" cy="190500"/>
          </a:xfrm>
          <a:prstGeom prst="rect">
            <a:avLst/>
          </a:prstGeom>
          <a:noFill/>
        </p:spPr>
        <p:txBody>
          <a:bodyPr wrap="square" anchor="t" lIns="0" rIns="0" tIns="0" bIns="0">
            <a:spAutoFit/>
          </a:bodyPr>
          <a:lstStyle/>
          <a:p>
            <a:pPr algn="l">
              <a:lnSpc>
                <a:spcPct val="83333"/>
              </a:lnSpc>
            </a:pPr>
            <a:r>
              <a:rPr sz="1200" b="0" spc="150">
                <a:solidFill>
                  <a:srgbClr val="6E7984"/>
                </a:solidFill>
                <a:latin typeface="Arial"/>
              </a:rPr>
              <a:t>PREDICCIÓN DE pCR · 5 / 5</a:t>
            </a:r>
          </a:p>
        </p:txBody>
      </p:sp>
      <p:sp>
        <p:nvSpPr>
          <p:cNvPr id="7" name="TextBox 6"/>
          <p:cNvSpPr txBox="1"/>
          <p:nvPr/>
        </p:nvSpPr>
        <p:spPr>
          <a:xfrm>
            <a:off x="7035800" y="6286500"/>
            <a:ext cx="4445000" cy="190500"/>
          </a:xfrm>
          <a:prstGeom prst="rect">
            <a:avLst/>
          </a:prstGeom>
          <a:noFill/>
        </p:spPr>
        <p:txBody>
          <a:bodyPr wrap="square" anchor="t" lIns="0" rIns="0" tIns="0" bIns="0">
            <a:spAutoFit/>
          </a:bodyPr>
          <a:lstStyle/>
          <a:p>
            <a:pPr algn="r">
              <a:lnSpc>
                <a:spcPct val="83333"/>
              </a:lnSpc>
            </a:pPr>
            <a:r>
              <a:rPr sz="1200" b="0" spc="150">
                <a:solidFill>
                  <a:srgbClr val="6E7984"/>
                </a:solidFill>
                <a:latin typeface="Arial"/>
              </a:rPr>
              <a:t>RUBÉN ELICES · UAX 26/27</a:t>
            </a:r>
          </a:p>
        </p:txBody>
      </p:sp>
      <p:sp>
        <p:nvSpPr>
          <p:cNvPr id="8" name="Rounded Rectangle 7"/>
          <p:cNvSpPr/>
          <p:nvPr/>
        </p:nvSpPr>
        <p:spPr>
          <a:xfrm>
            <a:off x="711200" y="1981200"/>
            <a:ext cx="6731000" cy="2095500"/>
          </a:xfrm>
          <a:prstGeom prst="roundRect">
            <a:avLst>
              <a:gd name="adj" fmla="val 6060"/>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5500" y="2095500"/>
            <a:ext cx="6502400" cy="571500"/>
          </a:xfrm>
          <a:prstGeom prst="roundRect">
            <a:avLst>
              <a:gd name="adj" fmla="val 13333"/>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800" y="2209800"/>
            <a:ext cx="1460500" cy="177800"/>
          </a:xfrm>
          <a:prstGeom prst="rect">
            <a:avLst/>
          </a:prstGeom>
          <a:noFill/>
        </p:spPr>
        <p:txBody>
          <a:bodyPr wrap="square" anchor="t" lIns="0" rIns="0" tIns="0" bIns="0">
            <a:spAutoFit/>
          </a:bodyPr>
          <a:lstStyle/>
          <a:p>
            <a:pPr algn="l">
              <a:lnSpc>
                <a:spcPct val="83333"/>
              </a:lnSpc>
            </a:pPr>
            <a:r>
              <a:rPr sz="1000" b="1">
                <a:solidFill>
                  <a:srgbClr val="1F2A36"/>
                </a:solidFill>
                <a:latin typeface="Arial"/>
              </a:rPr>
              <a:t>Breast_MRI_592_z034</a:t>
            </a:r>
          </a:p>
        </p:txBody>
      </p:sp>
      <p:sp>
        <p:nvSpPr>
          <p:cNvPr id="11" name="TextBox 10"/>
          <p:cNvSpPr txBox="1"/>
          <p:nvPr/>
        </p:nvSpPr>
        <p:spPr>
          <a:xfrm>
            <a:off x="939800" y="2400300"/>
            <a:ext cx="1460500" cy="165100"/>
          </a:xfrm>
          <a:prstGeom prst="rect">
            <a:avLst/>
          </a:prstGeom>
          <a:noFill/>
        </p:spPr>
        <p:txBody>
          <a:bodyPr wrap="square" anchor="t" lIns="0" rIns="0" tIns="0" bIns="0">
            <a:spAutoFit/>
          </a:bodyPr>
          <a:lstStyle/>
          <a:p>
            <a:pPr algn="l">
              <a:lnSpc>
                <a:spcPct val="83333"/>
              </a:lnSpc>
            </a:pPr>
            <a:r>
              <a:rPr sz="900" b="0">
                <a:solidFill>
                  <a:srgbClr val="6E7984"/>
                </a:solidFill>
                <a:latin typeface="Arial"/>
              </a:rPr>
              <a:t>18 ms · modelo E57</a:t>
            </a:r>
          </a:p>
        </p:txBody>
      </p:sp>
      <p:pic>
        <p:nvPicPr>
          <p:cNvPr id="12" name="Picture 11" descr="PRE.png"/>
          <p:cNvPicPr>
            <a:picLocks noChangeAspect="1"/>
          </p:cNvPicPr>
          <p:nvPr/>
        </p:nvPicPr>
        <p:blipFill>
          <a:blip r:embed="rId2"/>
          <a:stretch>
            <a:fillRect/>
          </a:stretch>
        </p:blipFill>
        <p:spPr>
          <a:xfrm>
            <a:off x="2489200" y="2178050"/>
            <a:ext cx="393700" cy="393700"/>
          </a:xfrm>
          <a:prstGeom prst="rect">
            <a:avLst/>
          </a:prstGeom>
        </p:spPr>
      </p:pic>
      <p:pic>
        <p:nvPicPr>
          <p:cNvPr id="13" name="Picture 12" descr="EARLY.png"/>
          <p:cNvPicPr>
            <a:picLocks noChangeAspect="1"/>
          </p:cNvPicPr>
          <p:nvPr/>
        </p:nvPicPr>
        <p:blipFill>
          <a:blip r:embed="rId3"/>
          <a:stretch>
            <a:fillRect/>
          </a:stretch>
        </p:blipFill>
        <p:spPr>
          <a:xfrm>
            <a:off x="2908300" y="2178050"/>
            <a:ext cx="393700" cy="393700"/>
          </a:xfrm>
          <a:prstGeom prst="rect">
            <a:avLst/>
          </a:prstGeom>
        </p:spPr>
      </p:pic>
      <p:pic>
        <p:nvPicPr>
          <p:cNvPr id="14" name="Picture 13" descr="LATE.png"/>
          <p:cNvPicPr>
            <a:picLocks noChangeAspect="1"/>
          </p:cNvPicPr>
          <p:nvPr/>
        </p:nvPicPr>
        <p:blipFill>
          <a:blip r:embed="rId4"/>
          <a:stretch>
            <a:fillRect/>
          </a:stretch>
        </p:blipFill>
        <p:spPr>
          <a:xfrm>
            <a:off x="3327400" y="2178050"/>
            <a:ext cx="393700" cy="393700"/>
          </a:xfrm>
          <a:prstGeom prst="rect">
            <a:avLst/>
          </a:prstGeom>
        </p:spPr>
      </p:pic>
      <p:pic>
        <p:nvPicPr>
          <p:cNvPr id="15" name="Picture 14" descr="REALCE.png"/>
          <p:cNvPicPr>
            <a:picLocks noChangeAspect="1"/>
          </p:cNvPicPr>
          <p:nvPr/>
        </p:nvPicPr>
        <p:blipFill>
          <a:blip r:embed="rId5"/>
          <a:stretch>
            <a:fillRect/>
          </a:stretch>
        </p:blipFill>
        <p:spPr>
          <a:xfrm>
            <a:off x="3746500" y="2178050"/>
            <a:ext cx="393700" cy="393700"/>
          </a:xfrm>
          <a:prstGeom prst="rect">
            <a:avLst/>
          </a:prstGeom>
        </p:spPr>
      </p:pic>
      <p:sp>
        <p:nvSpPr>
          <p:cNvPr id="16" name="TextBox 15"/>
          <p:cNvSpPr txBox="1"/>
          <p:nvPr/>
        </p:nvSpPr>
        <p:spPr>
          <a:xfrm>
            <a:off x="4267200" y="2235200"/>
            <a:ext cx="762000" cy="2794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0,105</a:t>
            </a:r>
          </a:p>
        </p:txBody>
      </p:sp>
      <p:sp>
        <p:nvSpPr>
          <p:cNvPr id="17" name="Rounded Rectangle 16"/>
          <p:cNvSpPr/>
          <p:nvPr/>
        </p:nvSpPr>
        <p:spPr>
          <a:xfrm>
            <a:off x="4953000" y="2362200"/>
            <a:ext cx="825500" cy="38100"/>
          </a:xfrm>
          <a:prstGeom prst="roundRect">
            <a:avLst>
              <a:gd name="adj" fmla="val 50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21287" y="2298700"/>
            <a:ext cx="12700" cy="165100"/>
          </a:xfrm>
          <a:prstGeom prst="rect">
            <a:avLst/>
          </a:prstGeom>
          <a:solidFill>
            <a:srgbClr val="6E7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89125" y="2330450"/>
            <a:ext cx="101600" cy="101600"/>
          </a:xfrm>
          <a:prstGeom prst="ellipse">
            <a:avLst/>
          </a:prstGeom>
          <a:solidFill>
            <a:srgbClr val="2F7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05500" y="2171700"/>
            <a:ext cx="1270000" cy="1905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05500" y="2171700"/>
            <a:ext cx="1270000" cy="190500"/>
          </a:xfrm>
          <a:prstGeom prst="rect">
            <a:avLst/>
          </a:prstGeom>
          <a:noFill/>
        </p:spPr>
        <p:txBody>
          <a:bodyPr wrap="square" anchor="ctr" lIns="0" rIns="0" tIns="0" bIns="0">
            <a:spAutoFit/>
          </a:bodyPr>
          <a:lstStyle/>
          <a:p>
            <a:pPr algn="ctr">
              <a:lnSpc>
                <a:spcPct val="83333"/>
              </a:lnSpc>
            </a:pPr>
            <a:r>
              <a:rPr sz="900" b="1">
                <a:solidFill>
                  <a:srgbClr val="2F7DC4"/>
                </a:solidFill>
                <a:latin typeface="Arial"/>
              </a:rPr>
              <a:t>sin pCR</a:t>
            </a:r>
          </a:p>
        </p:txBody>
      </p:sp>
      <p:sp>
        <p:nvSpPr>
          <p:cNvPr id="22" name="Rounded Rectangle 21"/>
          <p:cNvSpPr/>
          <p:nvPr/>
        </p:nvSpPr>
        <p:spPr>
          <a:xfrm>
            <a:off x="5905500" y="2400300"/>
            <a:ext cx="1270000" cy="190500"/>
          </a:xfrm>
          <a:prstGeom prst="roundRect">
            <a:avLst>
              <a:gd name="adj" fmla="val 50000"/>
            </a:avLst>
          </a:prstGeom>
          <a:solidFill>
            <a:srgbClr val="E2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05500" y="2400300"/>
            <a:ext cx="1270000" cy="190500"/>
          </a:xfrm>
          <a:prstGeom prst="rect">
            <a:avLst/>
          </a:prstGeom>
          <a:noFill/>
        </p:spPr>
        <p:txBody>
          <a:bodyPr wrap="square" anchor="ctr" lIns="0" rIns="0" tIns="0" bIns="0">
            <a:spAutoFit/>
          </a:bodyPr>
          <a:lstStyle/>
          <a:p>
            <a:pPr algn="ctr">
              <a:lnSpc>
                <a:spcPct val="83333"/>
              </a:lnSpc>
            </a:pPr>
            <a:r>
              <a:rPr sz="800" b="1">
                <a:solidFill>
                  <a:srgbClr val="2E9E62"/>
                </a:solidFill>
                <a:latin typeface="Arial"/>
              </a:rPr>
              <a:t>Correcta · real: sin pCR</a:t>
            </a:r>
          </a:p>
        </p:txBody>
      </p:sp>
      <p:sp>
        <p:nvSpPr>
          <p:cNvPr id="24" name="Rounded Rectangle 23"/>
          <p:cNvSpPr/>
          <p:nvPr/>
        </p:nvSpPr>
        <p:spPr>
          <a:xfrm>
            <a:off x="825500" y="2730500"/>
            <a:ext cx="6502400" cy="571500"/>
          </a:xfrm>
          <a:prstGeom prst="roundRect">
            <a:avLst>
              <a:gd name="adj" fmla="val 13333"/>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9800" y="2844800"/>
            <a:ext cx="1460500" cy="177800"/>
          </a:xfrm>
          <a:prstGeom prst="rect">
            <a:avLst/>
          </a:prstGeom>
          <a:noFill/>
        </p:spPr>
        <p:txBody>
          <a:bodyPr wrap="square" anchor="t" lIns="0" rIns="0" tIns="0" bIns="0">
            <a:spAutoFit/>
          </a:bodyPr>
          <a:lstStyle/>
          <a:p>
            <a:pPr algn="l">
              <a:lnSpc>
                <a:spcPct val="83333"/>
              </a:lnSpc>
            </a:pPr>
            <a:r>
              <a:rPr sz="1000" b="1">
                <a:solidFill>
                  <a:srgbClr val="1F2A36"/>
                </a:solidFill>
                <a:latin typeface="Arial"/>
              </a:rPr>
              <a:t>ISPY1_1001_z016</a:t>
            </a:r>
          </a:p>
        </p:txBody>
      </p:sp>
      <p:sp>
        <p:nvSpPr>
          <p:cNvPr id="26" name="TextBox 25"/>
          <p:cNvSpPr txBox="1"/>
          <p:nvPr/>
        </p:nvSpPr>
        <p:spPr>
          <a:xfrm>
            <a:off x="939800" y="3035300"/>
            <a:ext cx="1460500" cy="165100"/>
          </a:xfrm>
          <a:prstGeom prst="rect">
            <a:avLst/>
          </a:prstGeom>
          <a:noFill/>
        </p:spPr>
        <p:txBody>
          <a:bodyPr wrap="square" anchor="t" lIns="0" rIns="0" tIns="0" bIns="0">
            <a:spAutoFit/>
          </a:bodyPr>
          <a:lstStyle/>
          <a:p>
            <a:pPr algn="l">
              <a:lnSpc>
                <a:spcPct val="83333"/>
              </a:lnSpc>
            </a:pPr>
            <a:r>
              <a:rPr sz="900" b="0">
                <a:solidFill>
                  <a:srgbClr val="6E7984"/>
                </a:solidFill>
                <a:latin typeface="Arial"/>
              </a:rPr>
              <a:t>5 ms · modelo E57</a:t>
            </a:r>
          </a:p>
        </p:txBody>
      </p:sp>
      <p:pic>
        <p:nvPicPr>
          <p:cNvPr id="27" name="Picture 26" descr="PRE.png"/>
          <p:cNvPicPr>
            <a:picLocks noChangeAspect="1"/>
          </p:cNvPicPr>
          <p:nvPr/>
        </p:nvPicPr>
        <p:blipFill>
          <a:blip r:embed="rId6"/>
          <a:stretch>
            <a:fillRect/>
          </a:stretch>
        </p:blipFill>
        <p:spPr>
          <a:xfrm>
            <a:off x="2489200" y="2813050"/>
            <a:ext cx="393700" cy="393700"/>
          </a:xfrm>
          <a:prstGeom prst="rect">
            <a:avLst/>
          </a:prstGeom>
        </p:spPr>
      </p:pic>
      <p:pic>
        <p:nvPicPr>
          <p:cNvPr id="28" name="Picture 27" descr="EARLY.png"/>
          <p:cNvPicPr>
            <a:picLocks noChangeAspect="1"/>
          </p:cNvPicPr>
          <p:nvPr/>
        </p:nvPicPr>
        <p:blipFill>
          <a:blip r:embed="rId7"/>
          <a:stretch>
            <a:fillRect/>
          </a:stretch>
        </p:blipFill>
        <p:spPr>
          <a:xfrm>
            <a:off x="2908300" y="2813050"/>
            <a:ext cx="393700" cy="393700"/>
          </a:xfrm>
          <a:prstGeom prst="rect">
            <a:avLst/>
          </a:prstGeom>
        </p:spPr>
      </p:pic>
      <p:pic>
        <p:nvPicPr>
          <p:cNvPr id="29" name="Picture 28" descr="LATE.png"/>
          <p:cNvPicPr>
            <a:picLocks noChangeAspect="1"/>
          </p:cNvPicPr>
          <p:nvPr/>
        </p:nvPicPr>
        <p:blipFill>
          <a:blip r:embed="rId8"/>
          <a:stretch>
            <a:fillRect/>
          </a:stretch>
        </p:blipFill>
        <p:spPr>
          <a:xfrm>
            <a:off x="3327400" y="2813050"/>
            <a:ext cx="393700" cy="393700"/>
          </a:xfrm>
          <a:prstGeom prst="rect">
            <a:avLst/>
          </a:prstGeom>
        </p:spPr>
      </p:pic>
      <p:pic>
        <p:nvPicPr>
          <p:cNvPr id="30" name="Picture 29" descr="REALCE.png"/>
          <p:cNvPicPr>
            <a:picLocks noChangeAspect="1"/>
          </p:cNvPicPr>
          <p:nvPr/>
        </p:nvPicPr>
        <p:blipFill>
          <a:blip r:embed="rId9"/>
          <a:stretch>
            <a:fillRect/>
          </a:stretch>
        </p:blipFill>
        <p:spPr>
          <a:xfrm>
            <a:off x="3746500" y="2813050"/>
            <a:ext cx="393700" cy="393700"/>
          </a:xfrm>
          <a:prstGeom prst="rect">
            <a:avLst/>
          </a:prstGeom>
        </p:spPr>
      </p:pic>
      <p:sp>
        <p:nvSpPr>
          <p:cNvPr id="31" name="TextBox 30"/>
          <p:cNvSpPr txBox="1"/>
          <p:nvPr/>
        </p:nvSpPr>
        <p:spPr>
          <a:xfrm>
            <a:off x="4267200" y="2870200"/>
            <a:ext cx="762000" cy="2794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0,336</a:t>
            </a:r>
          </a:p>
        </p:txBody>
      </p:sp>
      <p:sp>
        <p:nvSpPr>
          <p:cNvPr id="32" name="Rounded Rectangle 31"/>
          <p:cNvSpPr/>
          <p:nvPr/>
        </p:nvSpPr>
        <p:spPr>
          <a:xfrm>
            <a:off x="4953000" y="2997200"/>
            <a:ext cx="825500" cy="38100"/>
          </a:xfrm>
          <a:prstGeom prst="roundRect">
            <a:avLst>
              <a:gd name="adj" fmla="val 50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21287" y="2933700"/>
            <a:ext cx="12700" cy="165100"/>
          </a:xfrm>
          <a:prstGeom prst="rect">
            <a:avLst/>
          </a:prstGeom>
          <a:solidFill>
            <a:srgbClr val="6E7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179733" y="2965450"/>
            <a:ext cx="101600" cy="101600"/>
          </a:xfrm>
          <a:prstGeom prst="ellipse">
            <a:avLst/>
          </a:prstGeom>
          <a:solidFill>
            <a:srgbClr val="C94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905500" y="2806700"/>
            <a:ext cx="1270000" cy="190500"/>
          </a:xfrm>
          <a:prstGeom prst="roundRect">
            <a:avLst>
              <a:gd name="adj" fmla="val 50000"/>
            </a:avLst>
          </a:prstGeom>
          <a:solidFill>
            <a:srgbClr val="F7D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05500" y="2806700"/>
            <a:ext cx="1270000" cy="190500"/>
          </a:xfrm>
          <a:prstGeom prst="rect">
            <a:avLst/>
          </a:prstGeom>
          <a:noFill/>
        </p:spPr>
        <p:txBody>
          <a:bodyPr wrap="square" anchor="ctr" lIns="0" rIns="0" tIns="0" bIns="0">
            <a:spAutoFit/>
          </a:bodyPr>
          <a:lstStyle/>
          <a:p>
            <a:pPr algn="ctr">
              <a:lnSpc>
                <a:spcPct val="83333"/>
              </a:lnSpc>
            </a:pPr>
            <a:r>
              <a:rPr sz="900" b="1">
                <a:solidFill>
                  <a:srgbClr val="C94C86"/>
                </a:solidFill>
                <a:latin typeface="Arial"/>
              </a:rPr>
              <a:t>pCR</a:t>
            </a:r>
          </a:p>
        </p:txBody>
      </p:sp>
      <p:sp>
        <p:nvSpPr>
          <p:cNvPr id="37" name="Rounded Rectangle 36"/>
          <p:cNvSpPr/>
          <p:nvPr/>
        </p:nvSpPr>
        <p:spPr>
          <a:xfrm>
            <a:off x="5905500" y="3035300"/>
            <a:ext cx="1270000" cy="190500"/>
          </a:xfrm>
          <a:prstGeom prst="roundRect">
            <a:avLst>
              <a:gd name="adj" fmla="val 50000"/>
            </a:avLst>
          </a:prstGeom>
          <a:solidFill>
            <a:srgbClr val="FB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05500" y="3035300"/>
            <a:ext cx="1270000" cy="190500"/>
          </a:xfrm>
          <a:prstGeom prst="rect">
            <a:avLst/>
          </a:prstGeom>
          <a:noFill/>
        </p:spPr>
        <p:txBody>
          <a:bodyPr wrap="square" anchor="ctr" lIns="0" rIns="0" tIns="0" bIns="0">
            <a:spAutoFit/>
          </a:bodyPr>
          <a:lstStyle/>
          <a:p>
            <a:pPr algn="ctr">
              <a:lnSpc>
                <a:spcPct val="83333"/>
              </a:lnSpc>
            </a:pPr>
            <a:r>
              <a:rPr sz="800" b="1">
                <a:solidFill>
                  <a:srgbClr val="C9702C"/>
                </a:solidFill>
                <a:latin typeface="Arial"/>
              </a:rPr>
              <a:t>Incorrecta · real: sin pCR</a:t>
            </a:r>
          </a:p>
        </p:txBody>
      </p:sp>
      <p:sp>
        <p:nvSpPr>
          <p:cNvPr id="39" name="Rounded Rectangle 38"/>
          <p:cNvSpPr/>
          <p:nvPr/>
        </p:nvSpPr>
        <p:spPr>
          <a:xfrm>
            <a:off x="825500" y="3365500"/>
            <a:ext cx="6502400" cy="571500"/>
          </a:xfrm>
          <a:prstGeom prst="roundRect">
            <a:avLst>
              <a:gd name="adj" fmla="val 13333"/>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800" y="3479800"/>
            <a:ext cx="1460500" cy="177800"/>
          </a:xfrm>
          <a:prstGeom prst="rect">
            <a:avLst/>
          </a:prstGeom>
          <a:noFill/>
        </p:spPr>
        <p:txBody>
          <a:bodyPr wrap="square" anchor="t" lIns="0" rIns="0" tIns="0" bIns="0">
            <a:spAutoFit/>
          </a:bodyPr>
          <a:lstStyle/>
          <a:p>
            <a:pPr algn="l">
              <a:lnSpc>
                <a:spcPct val="83333"/>
              </a:lnSpc>
            </a:pPr>
            <a:r>
              <a:rPr sz="1000" b="1">
                <a:solidFill>
                  <a:srgbClr val="1F2A36"/>
                </a:solidFill>
                <a:latin typeface="Arial"/>
              </a:rPr>
              <a:t>ISPY2-923968_z035</a:t>
            </a:r>
          </a:p>
        </p:txBody>
      </p:sp>
      <p:sp>
        <p:nvSpPr>
          <p:cNvPr id="41" name="TextBox 40"/>
          <p:cNvSpPr txBox="1"/>
          <p:nvPr/>
        </p:nvSpPr>
        <p:spPr>
          <a:xfrm>
            <a:off x="939800" y="3670300"/>
            <a:ext cx="1460500" cy="165100"/>
          </a:xfrm>
          <a:prstGeom prst="rect">
            <a:avLst/>
          </a:prstGeom>
          <a:noFill/>
        </p:spPr>
        <p:txBody>
          <a:bodyPr wrap="square" anchor="t" lIns="0" rIns="0" tIns="0" bIns="0">
            <a:spAutoFit/>
          </a:bodyPr>
          <a:lstStyle/>
          <a:p>
            <a:pPr algn="l">
              <a:lnSpc>
                <a:spcPct val="83333"/>
              </a:lnSpc>
            </a:pPr>
            <a:r>
              <a:rPr sz="900" b="0">
                <a:solidFill>
                  <a:srgbClr val="6E7984"/>
                </a:solidFill>
                <a:latin typeface="Arial"/>
              </a:rPr>
              <a:t>4 ms · modelo E57</a:t>
            </a:r>
          </a:p>
        </p:txBody>
      </p:sp>
      <p:pic>
        <p:nvPicPr>
          <p:cNvPr id="42" name="Picture 41" descr="PRE.png"/>
          <p:cNvPicPr>
            <a:picLocks noChangeAspect="1"/>
          </p:cNvPicPr>
          <p:nvPr/>
        </p:nvPicPr>
        <p:blipFill>
          <a:blip r:embed="rId10"/>
          <a:stretch>
            <a:fillRect/>
          </a:stretch>
        </p:blipFill>
        <p:spPr>
          <a:xfrm>
            <a:off x="2489200" y="3448050"/>
            <a:ext cx="393700" cy="393700"/>
          </a:xfrm>
          <a:prstGeom prst="rect">
            <a:avLst/>
          </a:prstGeom>
        </p:spPr>
      </p:pic>
      <p:pic>
        <p:nvPicPr>
          <p:cNvPr id="43" name="Picture 42" descr="EARLY.png"/>
          <p:cNvPicPr>
            <a:picLocks noChangeAspect="1"/>
          </p:cNvPicPr>
          <p:nvPr/>
        </p:nvPicPr>
        <p:blipFill>
          <a:blip r:embed="rId11"/>
          <a:stretch>
            <a:fillRect/>
          </a:stretch>
        </p:blipFill>
        <p:spPr>
          <a:xfrm>
            <a:off x="2908300" y="3448050"/>
            <a:ext cx="393700" cy="393700"/>
          </a:xfrm>
          <a:prstGeom prst="rect">
            <a:avLst/>
          </a:prstGeom>
        </p:spPr>
      </p:pic>
      <p:pic>
        <p:nvPicPr>
          <p:cNvPr id="44" name="Picture 43" descr="LATE.png"/>
          <p:cNvPicPr>
            <a:picLocks noChangeAspect="1"/>
          </p:cNvPicPr>
          <p:nvPr/>
        </p:nvPicPr>
        <p:blipFill>
          <a:blip r:embed="rId12"/>
          <a:stretch>
            <a:fillRect/>
          </a:stretch>
        </p:blipFill>
        <p:spPr>
          <a:xfrm>
            <a:off x="3327400" y="3448050"/>
            <a:ext cx="393700" cy="393700"/>
          </a:xfrm>
          <a:prstGeom prst="rect">
            <a:avLst/>
          </a:prstGeom>
        </p:spPr>
      </p:pic>
      <p:pic>
        <p:nvPicPr>
          <p:cNvPr id="45" name="Picture 44" descr="REALCE.png"/>
          <p:cNvPicPr>
            <a:picLocks noChangeAspect="1"/>
          </p:cNvPicPr>
          <p:nvPr/>
        </p:nvPicPr>
        <p:blipFill>
          <a:blip r:embed="rId13"/>
          <a:stretch>
            <a:fillRect/>
          </a:stretch>
        </p:blipFill>
        <p:spPr>
          <a:xfrm>
            <a:off x="3746500" y="3448050"/>
            <a:ext cx="393700" cy="393700"/>
          </a:xfrm>
          <a:prstGeom prst="rect">
            <a:avLst/>
          </a:prstGeom>
        </p:spPr>
      </p:pic>
      <p:sp>
        <p:nvSpPr>
          <p:cNvPr id="46" name="TextBox 45"/>
          <p:cNvSpPr txBox="1"/>
          <p:nvPr/>
        </p:nvSpPr>
        <p:spPr>
          <a:xfrm>
            <a:off x="4267200" y="3505200"/>
            <a:ext cx="762000" cy="279400"/>
          </a:xfrm>
          <a:prstGeom prst="rect">
            <a:avLst/>
          </a:prstGeom>
          <a:noFill/>
        </p:spPr>
        <p:txBody>
          <a:bodyPr wrap="square" anchor="t" lIns="0" rIns="0" tIns="0" bIns="0">
            <a:spAutoFit/>
          </a:bodyPr>
          <a:lstStyle/>
          <a:p>
            <a:pPr algn="l">
              <a:lnSpc>
                <a:spcPct val="83333"/>
              </a:lnSpc>
            </a:pPr>
            <a:r>
              <a:rPr sz="1800" b="1">
                <a:solidFill>
                  <a:srgbClr val="16202B"/>
                </a:solidFill>
                <a:latin typeface="Arial Narrow"/>
              </a:rPr>
              <a:t>0,325</a:t>
            </a:r>
          </a:p>
        </p:txBody>
      </p:sp>
      <p:sp>
        <p:nvSpPr>
          <p:cNvPr id="47" name="Rounded Rectangle 46"/>
          <p:cNvSpPr/>
          <p:nvPr/>
        </p:nvSpPr>
        <p:spPr>
          <a:xfrm>
            <a:off x="4953000" y="3632200"/>
            <a:ext cx="825500" cy="38100"/>
          </a:xfrm>
          <a:prstGeom prst="roundRect">
            <a:avLst>
              <a:gd name="adj" fmla="val 50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21287" y="3568700"/>
            <a:ext cx="12700" cy="165100"/>
          </a:xfrm>
          <a:prstGeom prst="rect">
            <a:avLst/>
          </a:prstGeom>
          <a:solidFill>
            <a:srgbClr val="6E7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170322" y="3600450"/>
            <a:ext cx="101600" cy="101600"/>
          </a:xfrm>
          <a:prstGeom prst="ellipse">
            <a:avLst/>
          </a:prstGeom>
          <a:solidFill>
            <a:srgbClr val="2F7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5905500" y="3441700"/>
            <a:ext cx="1270000" cy="190500"/>
          </a:xfrm>
          <a:prstGeom prst="roundRect">
            <a:avLst>
              <a:gd name="adj" fmla="val 5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05500" y="3441700"/>
            <a:ext cx="1270000" cy="190500"/>
          </a:xfrm>
          <a:prstGeom prst="rect">
            <a:avLst/>
          </a:prstGeom>
          <a:noFill/>
        </p:spPr>
        <p:txBody>
          <a:bodyPr wrap="square" anchor="ctr" lIns="0" rIns="0" tIns="0" bIns="0">
            <a:spAutoFit/>
          </a:bodyPr>
          <a:lstStyle/>
          <a:p>
            <a:pPr algn="ctr">
              <a:lnSpc>
                <a:spcPct val="83333"/>
              </a:lnSpc>
            </a:pPr>
            <a:r>
              <a:rPr sz="900" b="1">
                <a:solidFill>
                  <a:srgbClr val="2F7DC4"/>
                </a:solidFill>
                <a:latin typeface="Arial"/>
              </a:rPr>
              <a:t>sin pCR</a:t>
            </a:r>
          </a:p>
        </p:txBody>
      </p:sp>
      <p:sp>
        <p:nvSpPr>
          <p:cNvPr id="52" name="Rounded Rectangle 51"/>
          <p:cNvSpPr/>
          <p:nvPr/>
        </p:nvSpPr>
        <p:spPr>
          <a:xfrm>
            <a:off x="5905500" y="3670300"/>
            <a:ext cx="1270000" cy="190500"/>
          </a:xfrm>
          <a:prstGeom prst="roundRect">
            <a:avLst>
              <a:gd name="adj" fmla="val 50000"/>
            </a:avLst>
          </a:prstGeom>
          <a:solidFill>
            <a:srgbClr val="FB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05500" y="3670300"/>
            <a:ext cx="1270000" cy="190500"/>
          </a:xfrm>
          <a:prstGeom prst="rect">
            <a:avLst/>
          </a:prstGeom>
          <a:noFill/>
        </p:spPr>
        <p:txBody>
          <a:bodyPr wrap="square" anchor="ctr" lIns="0" rIns="0" tIns="0" bIns="0">
            <a:spAutoFit/>
          </a:bodyPr>
          <a:lstStyle/>
          <a:p>
            <a:pPr algn="ctr">
              <a:lnSpc>
                <a:spcPct val="83333"/>
              </a:lnSpc>
            </a:pPr>
            <a:r>
              <a:rPr sz="800" b="1">
                <a:solidFill>
                  <a:srgbClr val="C9702C"/>
                </a:solidFill>
                <a:latin typeface="Arial"/>
              </a:rPr>
              <a:t>Incorrecta · real: pCR</a:t>
            </a:r>
          </a:p>
        </p:txBody>
      </p:sp>
      <p:sp>
        <p:nvSpPr>
          <p:cNvPr id="54" name="Rounded Rectangle 53"/>
          <p:cNvSpPr/>
          <p:nvPr/>
        </p:nvSpPr>
        <p:spPr>
          <a:xfrm>
            <a:off x="711200" y="4203700"/>
            <a:ext cx="1406525" cy="609600"/>
          </a:xfrm>
          <a:prstGeom prst="roundRect">
            <a:avLst>
              <a:gd name="adj" fmla="val 14583"/>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4700" y="4203700"/>
            <a:ext cx="1279525" cy="609600"/>
          </a:xfrm>
          <a:prstGeom prst="rect">
            <a:avLst/>
          </a:prstGeom>
          <a:noFill/>
        </p:spPr>
        <p:txBody>
          <a:bodyPr wrap="square" anchor="ctr" lIns="0" rIns="0" tIns="0" bIns="0">
            <a:spAutoFit/>
          </a:bodyPr>
          <a:lstStyle/>
          <a:p>
            <a:pPr algn="ctr">
              <a:lnSpc>
                <a:spcPct val="100000"/>
              </a:lnSpc>
            </a:pPr>
            <a:r>
              <a:rPr sz="1200" b="0">
                <a:solidFill>
                  <a:srgbClr val="16202B"/>
                </a:solidFill>
                <a:latin typeface="Arial"/>
              </a:rPr>
              <a:t>3 PNG del corte</a:t>
            </a:r>
          </a:p>
        </p:txBody>
      </p:sp>
      <p:sp>
        <p:nvSpPr>
          <p:cNvPr id="56" name="TextBox 55"/>
          <p:cNvSpPr txBox="1"/>
          <p:nvPr/>
        </p:nvSpPr>
        <p:spPr>
          <a:xfrm>
            <a:off x="2117725" y="4203700"/>
            <a:ext cx="368300" cy="609600"/>
          </a:xfrm>
          <a:prstGeom prst="rect">
            <a:avLst/>
          </a:prstGeom>
          <a:noFill/>
        </p:spPr>
        <p:txBody>
          <a:bodyPr wrap="square" anchor="ctr" lIns="0" rIns="0" tIns="0" bIns="0">
            <a:spAutoFit/>
          </a:bodyPr>
          <a:lstStyle/>
          <a:p>
            <a:pPr algn="ctr">
              <a:lnSpc>
                <a:spcPct val="83333"/>
              </a:lnSpc>
            </a:pPr>
            <a:r>
              <a:rPr sz="1700" b="1">
                <a:solidFill>
                  <a:srgbClr val="8A949D"/>
                </a:solidFill>
                <a:latin typeface="Arial"/>
              </a:rPr>
              <a:t>→</a:t>
            </a:r>
          </a:p>
        </p:txBody>
      </p:sp>
      <p:sp>
        <p:nvSpPr>
          <p:cNvPr id="57" name="Rounded Rectangle 56"/>
          <p:cNvSpPr/>
          <p:nvPr/>
        </p:nvSpPr>
        <p:spPr>
          <a:xfrm>
            <a:off x="2486025" y="4203700"/>
            <a:ext cx="1406525" cy="609600"/>
          </a:xfrm>
          <a:prstGeom prst="roundRect">
            <a:avLst>
              <a:gd name="adj" fmla="val 14583"/>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49525" y="4203700"/>
            <a:ext cx="1279525" cy="609600"/>
          </a:xfrm>
          <a:prstGeom prst="rect">
            <a:avLst/>
          </a:prstGeom>
          <a:noFill/>
        </p:spPr>
        <p:txBody>
          <a:bodyPr wrap="square" anchor="ctr" lIns="0" rIns="0" tIns="0" bIns="0">
            <a:spAutoFit/>
          </a:bodyPr>
          <a:lstStyle/>
          <a:p>
            <a:pPr algn="ctr">
              <a:lnSpc>
                <a:spcPct val="100000"/>
              </a:lnSpc>
            </a:pPr>
            <a:r>
              <a:rPr sz="1200" b="0">
                <a:solidFill>
                  <a:srgbClr val="16202B"/>
                </a:solidFill>
                <a:latin typeface="Arial"/>
              </a:rPr>
              <a:t>Validación de fases</a:t>
            </a:r>
          </a:p>
        </p:txBody>
      </p:sp>
      <p:sp>
        <p:nvSpPr>
          <p:cNvPr id="59" name="TextBox 58"/>
          <p:cNvSpPr txBox="1"/>
          <p:nvPr/>
        </p:nvSpPr>
        <p:spPr>
          <a:xfrm>
            <a:off x="3892550" y="4203700"/>
            <a:ext cx="368300" cy="609600"/>
          </a:xfrm>
          <a:prstGeom prst="rect">
            <a:avLst/>
          </a:prstGeom>
          <a:noFill/>
        </p:spPr>
        <p:txBody>
          <a:bodyPr wrap="square" anchor="ctr" lIns="0" rIns="0" tIns="0" bIns="0">
            <a:spAutoFit/>
          </a:bodyPr>
          <a:lstStyle/>
          <a:p>
            <a:pPr algn="ctr">
              <a:lnSpc>
                <a:spcPct val="83333"/>
              </a:lnSpc>
            </a:pPr>
            <a:r>
              <a:rPr sz="1700" b="1">
                <a:solidFill>
                  <a:srgbClr val="8A949D"/>
                </a:solidFill>
                <a:latin typeface="Arial"/>
              </a:rPr>
              <a:t>→</a:t>
            </a:r>
          </a:p>
        </p:txBody>
      </p:sp>
      <p:sp>
        <p:nvSpPr>
          <p:cNvPr id="60" name="Rounded Rectangle 59"/>
          <p:cNvSpPr/>
          <p:nvPr/>
        </p:nvSpPr>
        <p:spPr>
          <a:xfrm>
            <a:off x="4260850" y="4203700"/>
            <a:ext cx="1406525" cy="609600"/>
          </a:xfrm>
          <a:prstGeom prst="roundRect">
            <a:avLst>
              <a:gd name="adj" fmla="val 14583"/>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324350" y="4203700"/>
            <a:ext cx="1279525" cy="609600"/>
          </a:xfrm>
          <a:prstGeom prst="rect">
            <a:avLst/>
          </a:prstGeom>
          <a:noFill/>
        </p:spPr>
        <p:txBody>
          <a:bodyPr wrap="square" anchor="ctr" lIns="0" rIns="0" tIns="0" bIns="0">
            <a:spAutoFit/>
          </a:bodyPr>
          <a:lstStyle/>
          <a:p>
            <a:pPr algn="ctr">
              <a:lnSpc>
                <a:spcPct val="100000"/>
              </a:lnSpc>
            </a:pPr>
            <a:r>
              <a:rPr sz="1200" b="0">
                <a:solidFill>
                  <a:srgbClr val="16202B"/>
                </a:solidFill>
                <a:latin typeface="Arial"/>
              </a:rPr>
              <a:t>÷ 255, como al entrenar</a:t>
            </a:r>
          </a:p>
        </p:txBody>
      </p:sp>
      <p:sp>
        <p:nvSpPr>
          <p:cNvPr id="62" name="TextBox 61"/>
          <p:cNvSpPr txBox="1"/>
          <p:nvPr/>
        </p:nvSpPr>
        <p:spPr>
          <a:xfrm>
            <a:off x="5667375" y="4203700"/>
            <a:ext cx="368300" cy="609600"/>
          </a:xfrm>
          <a:prstGeom prst="rect">
            <a:avLst/>
          </a:prstGeom>
          <a:noFill/>
        </p:spPr>
        <p:txBody>
          <a:bodyPr wrap="square" anchor="ctr" lIns="0" rIns="0" tIns="0" bIns="0">
            <a:spAutoFit/>
          </a:bodyPr>
          <a:lstStyle/>
          <a:p>
            <a:pPr algn="ctr">
              <a:lnSpc>
                <a:spcPct val="83333"/>
              </a:lnSpc>
            </a:pPr>
            <a:r>
              <a:rPr sz="1700" b="1">
                <a:solidFill>
                  <a:srgbClr val="8A949D"/>
                </a:solidFill>
                <a:latin typeface="Arial"/>
              </a:rPr>
              <a:t>→</a:t>
            </a:r>
          </a:p>
        </p:txBody>
      </p:sp>
      <p:sp>
        <p:nvSpPr>
          <p:cNvPr id="63" name="Rounded Rectangle 62"/>
          <p:cNvSpPr/>
          <p:nvPr/>
        </p:nvSpPr>
        <p:spPr>
          <a:xfrm>
            <a:off x="6035675" y="4203700"/>
            <a:ext cx="1406525" cy="609600"/>
          </a:xfrm>
          <a:prstGeom prst="roundRect">
            <a:avLst>
              <a:gd name="adj" fmla="val 14583"/>
            </a:avLst>
          </a:prstGeom>
          <a:solidFill>
            <a:srgbClr val="FBF3F7"/>
          </a:solidFill>
          <a:ln w="9525">
            <a:solidFill>
              <a:srgbClr val="EFD0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099175" y="4203700"/>
            <a:ext cx="1279525" cy="609600"/>
          </a:xfrm>
          <a:prstGeom prst="rect">
            <a:avLst/>
          </a:prstGeom>
          <a:noFill/>
        </p:spPr>
        <p:txBody>
          <a:bodyPr wrap="square" anchor="ctr" lIns="0" rIns="0" tIns="0" bIns="0">
            <a:spAutoFit/>
          </a:bodyPr>
          <a:lstStyle/>
          <a:p>
            <a:pPr algn="ctr">
              <a:lnSpc>
                <a:spcPct val="100000"/>
              </a:lnSpc>
            </a:pPr>
            <a:r>
              <a:rPr sz="1200" b="1">
                <a:solidFill>
                  <a:srgbClr val="16202B"/>
                </a:solidFill>
                <a:latin typeface="Arial"/>
              </a:rPr>
              <a:t>E57 en eval, sin gradientes</a:t>
            </a:r>
          </a:p>
        </p:txBody>
      </p:sp>
      <p:sp>
        <p:nvSpPr>
          <p:cNvPr id="65" name="TextBox 64"/>
          <p:cNvSpPr txBox="1"/>
          <p:nvPr/>
        </p:nvSpPr>
        <p:spPr>
          <a:xfrm>
            <a:off x="711200" y="4940300"/>
            <a:ext cx="6731000" cy="508000"/>
          </a:xfrm>
          <a:prstGeom prst="rect">
            <a:avLst/>
          </a:prstGeom>
          <a:noFill/>
        </p:spPr>
        <p:txBody>
          <a:bodyPr wrap="square" anchor="t" lIns="0" rIns="0" tIns="0" bIns="0">
            <a:spAutoFit/>
          </a:bodyPr>
          <a:lstStyle/>
          <a:p>
            <a:pPr algn="l">
              <a:lnSpc>
                <a:spcPct val="112500"/>
              </a:lnSpc>
            </a:pPr>
            <a:r>
              <a:rPr sz="1200" b="0">
                <a:solidFill>
                  <a:srgbClr val="6E7984"/>
                </a:solidFill>
                <a:latin typeface="Arial"/>
              </a:rPr>
              <a:t>Responde con probabilidad, clase, umbral, versión y SHA-256 de los pesos, dispositivo y tiempo. Varios cortes a la vez en la sección Pruebas.</a:t>
            </a:r>
          </a:p>
        </p:txBody>
      </p:sp>
      <p:sp>
        <p:nvSpPr>
          <p:cNvPr id="66" name="Rounded Rectangle 65"/>
          <p:cNvSpPr/>
          <p:nvPr/>
        </p:nvSpPr>
        <p:spPr>
          <a:xfrm>
            <a:off x="7620000" y="1981200"/>
            <a:ext cx="3860800" cy="1905000"/>
          </a:xfrm>
          <a:prstGeom prst="roundRect">
            <a:avLst>
              <a:gd name="adj" fmla="val 6666"/>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10500" y="2171700"/>
            <a:ext cx="3479800" cy="215900"/>
          </a:xfrm>
          <a:prstGeom prst="rect">
            <a:avLst/>
          </a:prstGeom>
          <a:noFill/>
        </p:spPr>
        <p:txBody>
          <a:bodyPr wrap="square" anchor="t" lIns="0" rIns="0" tIns="0" bIns="0">
            <a:spAutoFit/>
          </a:bodyPr>
          <a:lstStyle/>
          <a:p>
            <a:pPr algn="l">
              <a:lnSpc>
                <a:spcPct val="83333"/>
              </a:lnSpc>
            </a:pPr>
            <a:r>
              <a:rPr sz="1200" b="1" spc="200">
                <a:solidFill>
                  <a:srgbClr val="C2477F"/>
                </a:solidFill>
                <a:latin typeface="Arial"/>
              </a:rPr>
              <a:t>PREPARADA PARA LA DEFENSA</a:t>
            </a:r>
          </a:p>
        </p:txBody>
      </p:sp>
      <p:sp>
        <p:nvSpPr>
          <p:cNvPr id="68" name="TextBox 67"/>
          <p:cNvSpPr txBox="1"/>
          <p:nvPr/>
        </p:nvSpPr>
        <p:spPr>
          <a:xfrm>
            <a:off x="7810500" y="2463800"/>
            <a:ext cx="3479800" cy="571500"/>
          </a:xfrm>
          <a:prstGeom prst="rect">
            <a:avLst/>
          </a:prstGeom>
          <a:noFill/>
        </p:spPr>
        <p:txBody>
          <a:bodyPr wrap="square" anchor="t" lIns="0" rIns="0" tIns="0" bIns="0">
            <a:spAutoFit/>
          </a:bodyPr>
          <a:lstStyle/>
          <a:p>
            <a:pPr algn="l">
              <a:lnSpc>
                <a:spcPct val="112500"/>
              </a:lnSpc>
            </a:pPr>
            <a:r>
              <a:rPr sz="1300" b="0">
                <a:solidFill>
                  <a:srgbClr val="1F2A36"/>
                </a:solidFill>
                <a:latin typeface="Arial"/>
              </a:rPr>
              <a:t>Cinco cortes de cinco pacientes, uno a uno, sin tocar el código ni reiniciar.</a:t>
            </a:r>
          </a:p>
        </p:txBody>
      </p:sp>
      <p:sp>
        <p:nvSpPr>
          <p:cNvPr id="69" name="TextBox 68"/>
          <p:cNvSpPr txBox="1"/>
          <p:nvPr/>
        </p:nvSpPr>
        <p:spPr>
          <a:xfrm>
            <a:off x="7810500" y="3098800"/>
            <a:ext cx="3479800" cy="698500"/>
          </a:xfrm>
          <a:prstGeom prst="rect">
            <a:avLst/>
          </a:prstGeom>
          <a:noFill/>
        </p:spPr>
        <p:txBody>
          <a:bodyPr wrap="square" anchor="t" lIns="0" rIns="0" tIns="0" bIns="0">
            <a:spAutoFit/>
          </a:bodyPr>
          <a:lstStyle/>
          <a:p>
            <a:pPr algn="l">
              <a:lnSpc>
                <a:spcPct val="112500"/>
              </a:lnSpc>
            </a:pPr>
            <a:r>
              <a:rPr sz="1200" b="0">
                <a:solidFill>
                  <a:srgbClr val="6E7984"/>
                </a:solidFill>
                <a:latin typeface="Arial"/>
              </a:rPr>
              <a:t>Errores probados: falta una fase, 512 px, fase en color, fichero no PNG e imagen dañada.</a:t>
            </a:r>
          </a:p>
        </p:txBody>
      </p:sp>
      <p:sp>
        <p:nvSpPr>
          <p:cNvPr id="70" name="Rounded Rectangle 69"/>
          <p:cNvSpPr/>
          <p:nvPr/>
        </p:nvSpPr>
        <p:spPr>
          <a:xfrm>
            <a:off x="7620000" y="4013200"/>
            <a:ext cx="3860800" cy="1841500"/>
          </a:xfrm>
          <a:prstGeom prst="roundRect">
            <a:avLst>
              <a:gd name="adj" fmla="val 6896"/>
            </a:avLst>
          </a:prstGeom>
          <a:solidFill>
            <a:srgbClr val="F4F6F9"/>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810500" y="4203700"/>
            <a:ext cx="3479800" cy="215900"/>
          </a:xfrm>
          <a:prstGeom prst="rect">
            <a:avLst/>
          </a:prstGeom>
          <a:noFill/>
        </p:spPr>
        <p:txBody>
          <a:bodyPr wrap="square" anchor="t" lIns="0" rIns="0" tIns="0" bIns="0">
            <a:spAutoFit/>
          </a:bodyPr>
          <a:lstStyle/>
          <a:p>
            <a:pPr algn="l">
              <a:lnSpc>
                <a:spcPct val="83333"/>
              </a:lnSpc>
            </a:pPr>
            <a:r>
              <a:rPr sz="1200" b="1" spc="200">
                <a:solidFill>
                  <a:srgbClr val="C9702C"/>
                </a:solidFill>
                <a:latin typeface="Arial"/>
              </a:rPr>
              <a:t>LÍMITES</a:t>
            </a:r>
          </a:p>
        </p:txBody>
      </p:sp>
      <p:sp>
        <p:nvSpPr>
          <p:cNvPr id="72" name="TextBox 71"/>
          <p:cNvSpPr txBox="1"/>
          <p:nvPr/>
        </p:nvSpPr>
        <p:spPr>
          <a:xfrm>
            <a:off x="7810500" y="4495800"/>
            <a:ext cx="3479800" cy="1270000"/>
          </a:xfrm>
          <a:prstGeom prst="rect">
            <a:avLst/>
          </a:prstGeom>
          <a:noFill/>
        </p:spPr>
        <p:txBody>
          <a:bodyPr wrap="square" anchor="t" lIns="0" rIns="0" tIns="0" bIns="0">
            <a:spAutoFit/>
          </a:bodyPr>
          <a:lstStyle/>
          <a:p>
            <a:pPr algn="l">
              <a:lnSpc>
                <a:spcPct val="108333"/>
              </a:lnSpc>
            </a:pPr>
            <a:r>
              <a:rPr sz="1200" b="0">
                <a:solidFill>
                  <a:srgbClr val="4F5B67"/>
                </a:solidFill>
                <a:latin typeface="Arial"/>
              </a:rPr>
              <a:t>•  AUC modesto, con un intervalo amplio</a:t>
            </a:r>
          </a:p>
          <a:p>
            <a:pPr algn="l">
              <a:lnSpc>
                <a:spcPct val="108333"/>
              </a:lnSpc>
            </a:pPr>
            <a:r>
              <a:rPr sz="1200" b="0">
                <a:solidFill>
                  <a:srgbClr val="4F5B67"/>
                </a:solidFill>
                <a:latin typeface="Arial"/>
              </a:rPr>
              <a:t>•  Señal en parte ligada a la cohorte</a:t>
            </a:r>
          </a:p>
          <a:p>
            <a:pPr algn="l">
              <a:lnSpc>
                <a:spcPct val="108333"/>
              </a:lnSpc>
            </a:pPr>
            <a:r>
              <a:rPr sz="1200" b="0">
                <a:solidFill>
                  <a:srgbClr val="4F5B67"/>
                </a:solidFill>
                <a:latin typeface="Arial"/>
              </a:rPr>
              <a:t>•  Umbral elegido por paciente, aplicado a un corte</a:t>
            </a:r>
          </a:p>
          <a:p>
            <a:pPr algn="l">
              <a:lnSpc>
                <a:spcPct val="108333"/>
              </a:lnSpc>
            </a:pPr>
            <a:r>
              <a:rPr sz="1200" b="0">
                <a:solidFill>
                  <a:srgbClr val="4F5B67"/>
                </a:solidFill>
                <a:latin typeface="Arial"/>
              </a:rPr>
              <a:t>•  Sin validez clínica</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M Roman 10">
      <a:majorFont>
        <a:latin typeface="LM Roman 10"/>
        <a:ea typeface=""/>
        <a:cs typeface=""/>
      </a:majorFont>
      <a:minorFont>
        <a:latin typeface="LM Roman 1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roceso xmlns="4bd470e1-a810-4dc7-a7f4-504af0e5f80d">PE01.01</Proceso>
    <Macroproceso xmlns="4bd470e1-a810-4dc7-a7f4-504af0e5f80d">LIDERAZGO Y ESTRATEGIA</Macroproceso>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B84DA0D6C2ADE46966ECE7A6B7DD2B5" ma:contentTypeVersion="8" ma:contentTypeDescription="Crear nuevo documento." ma:contentTypeScope="" ma:versionID="36dcda6161a342f68f8c529063e8cda3">
  <xsd:schema xmlns:xsd="http://www.w3.org/2001/XMLSchema" xmlns:xs="http://www.w3.org/2001/XMLSchema" xmlns:p="http://schemas.microsoft.com/office/2006/metadata/properties" xmlns:ns2="4bd470e1-a810-4dc7-a7f4-504af0e5f80d" xmlns:ns3="94bf27de-86a6-4ac7-874e-21eaa1714b2f" targetNamespace="http://schemas.microsoft.com/office/2006/metadata/properties" ma:root="true" ma:fieldsID="0e2e7ed13747b05cb62c0c7df8d0962a" ns2:_="" ns3:_="">
    <xsd:import namespace="4bd470e1-a810-4dc7-a7f4-504af0e5f80d"/>
    <xsd:import namespace="94bf27de-86a6-4ac7-874e-21eaa1714b2f"/>
    <xsd:element name="properties">
      <xsd:complexType>
        <xsd:sequence>
          <xsd:element name="documentManagement">
            <xsd:complexType>
              <xsd:all>
                <xsd:element ref="ns2:MediaServiceMetadata" minOccurs="0"/>
                <xsd:element ref="ns2:MediaServiceFastMetadata" minOccurs="0"/>
                <xsd:element ref="ns2:Macroproceso" minOccurs="0"/>
                <xsd:element ref="ns2:Proceso"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d470e1-a810-4dc7-a7f4-504af0e5f8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acroproceso" ma:index="10" nillable="true" ma:displayName="Macroproceso" ma:format="Dropdown" ma:internalName="Macroproceso">
      <xsd:simpleType>
        <xsd:restriction base="dms:Text">
          <xsd:maxLength value="255"/>
        </xsd:restriction>
      </xsd:simpleType>
    </xsd:element>
    <xsd:element name="Proceso" ma:index="11" nillable="true" ma:displayName="Proceso" ma:format="Dropdown" ma:internalName="Proceso">
      <xsd:simpleType>
        <xsd:restriction base="dms:Text">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bf27de-86a6-4ac7-874e-21eaa1714b2f"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FC8CCB-90C7-4014-A3CC-51D62035841A}">
  <ds:schemaRefs>
    <ds:schemaRef ds:uri="http://schemas.microsoft.com/office/2006/metadata/properties"/>
    <ds:schemaRef ds:uri="http://schemas.microsoft.com/office/infopath/2007/PartnerControls"/>
    <ds:schemaRef ds:uri="4bd470e1-a810-4dc7-a7f4-504af0e5f80d"/>
  </ds:schemaRefs>
</ds:datastoreItem>
</file>

<file path=customXml/itemProps2.xml><?xml version="1.0" encoding="utf-8"?>
<ds:datastoreItem xmlns:ds="http://schemas.openxmlformats.org/officeDocument/2006/customXml" ds:itemID="{FF8CADC5-B4F8-4677-9B61-54BC6C46CF0F}">
  <ds:schemaRefs>
    <ds:schemaRef ds:uri="http://schemas.microsoft.com/sharepoint/v3/contenttype/forms"/>
  </ds:schemaRefs>
</ds:datastoreItem>
</file>

<file path=customXml/itemProps3.xml><?xml version="1.0" encoding="utf-8"?>
<ds:datastoreItem xmlns:ds="http://schemas.openxmlformats.org/officeDocument/2006/customXml" ds:itemID="{2487E67B-EA3D-412C-8702-4A89E4D9D8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d470e1-a810-4dc7-a7f4-504af0e5f80d"/>
    <ds:schemaRef ds:uri="94bf27de-86a6-4ac7-874e-21eaa1714b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11871</TotalTime>
  <Words>17</Words>
  <Application>Microsoft Office PowerPoint</Application>
  <PresentationFormat>Panorámica</PresentationFormat>
  <Paragraphs>12</Paragraphs>
  <Slides>4</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Muli</vt:lpstr>
      <vt:lpstr>Tema de Office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Revisión por la Dirección</dc:title>
  <dc:creator>Javier Medina de Moya</dc:creator>
  <cp:lastModifiedBy>JACINTO VELASCO</cp:lastModifiedBy>
  <cp:revision>82</cp:revision>
  <cp:lastPrinted>2023-04-11T15:07:57Z</cp:lastPrinted>
  <dcterms:created xsi:type="dcterms:W3CDTF">2023-02-27T08:54:16Z</dcterms:created>
  <dcterms:modified xsi:type="dcterms:W3CDTF">2025-09-14T11:44:01Z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0x0101009B84DA0D6C2ADE46966ECE7A6B7DD2B5</vt:lpwstr>
  </property>
</Properties>
</file>