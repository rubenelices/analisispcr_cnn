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wdp" ContentType="image/vnd.ms-photo"/>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9"/>
  </p:notesMasterIdLst>
  <p:sldIdLst>
    <p:sldId id="260" r:id="rId5"/>
    <p:sldId id="281" r:id="rId6"/>
    <p:sldId id="282" r:id="rId16"/>
    <p:sldId id="283" r:id="rId17"/>
    <p:sldId id="284" r:id="rId18"/>
    <p:sldId id="285" r:id="rId19"/>
    <p:sldId id="279" r:id="rId8"/>
  </p:sldIdLst>
  <p:sldSz cx="12192000" cy="6858000"/>
  <p:notesSz cx="7099300" cy="10234613"/>
  <p:defaultTex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760AB"/>
    <a:srgbClr val="065CA9"/>
    <a:srgbClr val="0A849F"/>
    <a:srgbClr val="2F528F"/>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D9FF113-18B1-4199-BECE-1CF61A95F0F8}" v="1" dt="2025-09-14T11:43:24.170"/>
  </p1510:revLst>
</p1510:revInfo>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3"/>
    <p:restoredTop sz="94648"/>
  </p:normalViewPr>
  <p:slideViewPr>
    <p:cSldViewPr snapToGrid="0">
      <p:cViewPr varScale="1">
        <p:scale>
          <a:sx n="97" d="100"/>
          <a:sy n="97" d="100"/>
        </p:scale>
        <p:origin x="1110" y="30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 Id="rId14" Type="http://schemas.microsoft.com/office/2016/11/relationships/changesInfo" Target="changesInfos/changesInfo1.xml"/><Relationship Id="rId15" Type="http://schemas.microsoft.com/office/2015/10/relationships/revisionInfo" Target="revisionInfo.xml"/><Relationship Id="rId16" Type="http://schemas.openxmlformats.org/officeDocument/2006/relationships/slide" Target="slides/slide3.xml"/><Relationship Id="rId17" Type="http://schemas.openxmlformats.org/officeDocument/2006/relationships/slide" Target="slides/slide4.xml"/><Relationship Id="rId18" Type="http://schemas.openxmlformats.org/officeDocument/2006/relationships/slide" Target="slides/slide5.xml"/><Relationship Id="rId19" Type="http://schemas.openxmlformats.org/officeDocument/2006/relationships/slide" Target="slides/slide6.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acinto Velasco Rebolledo" userId="00c16d92-95bd-422a-9db4-b068f123e6b5" providerId="ADAL" clId="{49660F42-3C57-4A2B-BBDF-092BBF142813}"/>
    <pc:docChg chg="modSld">
      <pc:chgData name="Jacinto Velasco Rebolledo" userId="00c16d92-95bd-422a-9db4-b068f123e6b5" providerId="ADAL" clId="{49660F42-3C57-4A2B-BBDF-092BBF142813}" dt="2025-09-14T11:43:55.495" v="2" actId="2711"/>
      <pc:docMkLst>
        <pc:docMk/>
      </pc:docMkLst>
      <pc:sldChg chg="modSp mod">
        <pc:chgData name="Jacinto Velasco Rebolledo" userId="00c16d92-95bd-422a-9db4-b068f123e6b5" providerId="ADAL" clId="{49660F42-3C57-4A2B-BBDF-092BBF142813}" dt="2025-09-14T11:43:45.945" v="1" actId="14100"/>
        <pc:sldMkLst>
          <pc:docMk/>
          <pc:sldMk cId="3644063140" sldId="260"/>
        </pc:sldMkLst>
        <pc:spChg chg="mod">
          <ac:chgData name="Jacinto Velasco Rebolledo" userId="00c16d92-95bd-422a-9db4-b068f123e6b5" providerId="ADAL" clId="{49660F42-3C57-4A2B-BBDF-092BBF142813}" dt="2025-09-14T11:43:42.098" v="0" actId="2711"/>
          <ac:spMkLst>
            <pc:docMk/>
            <pc:sldMk cId="3644063140" sldId="260"/>
            <ac:spMk id="2" creationId="{8AA243A7-AFC0-B88E-E363-1E709C1BB91E}"/>
          </ac:spMkLst>
        </pc:spChg>
        <pc:spChg chg="mod">
          <ac:chgData name="Jacinto Velasco Rebolledo" userId="00c16d92-95bd-422a-9db4-b068f123e6b5" providerId="ADAL" clId="{49660F42-3C57-4A2B-BBDF-092BBF142813}" dt="2025-09-14T11:43:45.945" v="1" actId="14100"/>
          <ac:spMkLst>
            <pc:docMk/>
            <pc:sldMk cId="3644063140" sldId="260"/>
            <ac:spMk id="12" creationId="{D2B11345-E8EA-ACC7-79CF-9FA1F48C198A}"/>
          </ac:spMkLst>
        </pc:spChg>
      </pc:sldChg>
      <pc:sldChg chg="modSp mod">
        <pc:chgData name="Jacinto Velasco Rebolledo" userId="00c16d92-95bd-422a-9db4-b068f123e6b5" providerId="ADAL" clId="{49660F42-3C57-4A2B-BBDF-092BBF142813}" dt="2025-09-14T11:43:55.495" v="2" actId="2711"/>
        <pc:sldMkLst>
          <pc:docMk/>
          <pc:sldMk cId="110221906" sldId="279"/>
        </pc:sldMkLst>
        <pc:spChg chg="mod">
          <ac:chgData name="Jacinto Velasco Rebolledo" userId="00c16d92-95bd-422a-9db4-b068f123e6b5" providerId="ADAL" clId="{49660F42-3C57-4A2B-BBDF-092BBF142813}" dt="2025-09-14T11:43:55.495" v="2" actId="2711"/>
          <ac:spMkLst>
            <pc:docMk/>
            <pc:sldMk cId="110221906" sldId="279"/>
            <ac:spMk id="2" creationId="{AD7A7B74-ACDE-3952-607E-91F98A156E41}"/>
          </ac:spMkLst>
        </pc:spChg>
        <pc:spChg chg="mod">
          <ac:chgData name="Jacinto Velasco Rebolledo" userId="00c16d92-95bd-422a-9db4-b068f123e6b5" providerId="ADAL" clId="{49660F42-3C57-4A2B-BBDF-092BBF142813}" dt="2025-09-14T11:43:55.495" v="2" actId="2711"/>
          <ac:spMkLst>
            <pc:docMk/>
            <pc:sldMk cId="110221906" sldId="279"/>
            <ac:spMk id="7" creationId="{49E18F14-67C1-03FD-1B54-7C091E7B083A}"/>
          </ac:spMkLst>
        </pc:spChg>
        <pc:spChg chg="mod">
          <ac:chgData name="Jacinto Velasco Rebolledo" userId="00c16d92-95bd-422a-9db4-b068f123e6b5" providerId="ADAL" clId="{49660F42-3C57-4A2B-BBDF-092BBF142813}" dt="2025-09-14T11:43:55.495" v="2" actId="2711"/>
          <ac:spMkLst>
            <pc:docMk/>
            <pc:sldMk cId="110221906" sldId="279"/>
            <ac:spMk id="9" creationId="{F2D642AB-E684-4603-A6BD-4087E8D9F867}"/>
          </ac:spMkLst>
        </pc:spChg>
      </pc:sldChg>
    </pc:docChg>
  </pc:docChgLst>
  <pc:docChgLst>
    <pc:chgData name="Jacinto Velasco Rebolledo" userId="00c16d92-95bd-422a-9db4-b068f123e6b5" providerId="ADAL" clId="{E4C91ED7-1767-414D-99BB-228530B558FA}"/>
    <pc:docChg chg="undo custSel addSld modSld sldOrd addMainMaster delMainMaster modMainMaster">
      <pc:chgData name="Jacinto Velasco Rebolledo" userId="00c16d92-95bd-422a-9db4-b068f123e6b5" providerId="ADAL" clId="{E4C91ED7-1767-414D-99BB-228530B558FA}" dt="2024-10-12T18:45:19.342" v="20"/>
      <pc:docMkLst>
        <pc:docMk/>
      </pc:docMkLst>
      <pc:sldChg chg="mod ord modClrScheme chgLayout">
        <pc:chgData name="Jacinto Velasco Rebolledo" userId="00c16d92-95bd-422a-9db4-b068f123e6b5" providerId="ADAL" clId="{E4C91ED7-1767-414D-99BB-228530B558FA}" dt="2024-10-12T18:45:19.342" v="20"/>
        <pc:sldMkLst>
          <pc:docMk/>
          <pc:sldMk cId="479785776" sldId="280"/>
        </pc:sldMkLst>
      </pc:sldChg>
      <pc:sldChg chg="new">
        <pc:chgData name="Jacinto Velasco Rebolledo" userId="00c16d92-95bd-422a-9db4-b068f123e6b5" providerId="ADAL" clId="{E4C91ED7-1767-414D-99BB-228530B558FA}" dt="2024-10-12T18:45:17.580" v="18" actId="680"/>
        <pc:sldMkLst>
          <pc:docMk/>
          <pc:sldMk cId="3418853889" sldId="281"/>
        </pc:sldMkLst>
      </pc:sldChg>
      <pc:sldMasterChg chg="modSldLayout sldLayoutOrd">
        <pc:chgData name="Jacinto Velasco Rebolledo" userId="00c16d92-95bd-422a-9db4-b068f123e6b5" providerId="ADAL" clId="{E4C91ED7-1767-414D-99BB-228530B558FA}" dt="2024-10-12T18:44:56.816" v="17" actId="20578"/>
        <pc:sldMasterMkLst>
          <pc:docMk/>
          <pc:sldMasterMk cId="3668580849" sldId="2147483648"/>
        </pc:sldMasterMkLst>
        <pc:sldLayoutChg chg="ord">
          <pc:chgData name="Jacinto Velasco Rebolledo" userId="00c16d92-95bd-422a-9db4-b068f123e6b5" providerId="ADAL" clId="{E4C91ED7-1767-414D-99BB-228530B558FA}" dt="2024-10-12T18:44:56.816" v="17" actId="20578"/>
          <pc:sldLayoutMkLst>
            <pc:docMk/>
            <pc:sldMasterMk cId="3668580849" sldId="2147483648"/>
            <pc:sldLayoutMk cId="3744013589" sldId="2147483649"/>
          </pc:sldLayoutMkLst>
        </pc:sldLayoutChg>
        <pc:sldLayoutChg chg="modSp mod ord">
          <pc:chgData name="Jacinto Velasco Rebolledo" userId="00c16d92-95bd-422a-9db4-b068f123e6b5" providerId="ADAL" clId="{E4C91ED7-1767-414D-99BB-228530B558FA}" dt="2024-10-12T18:43:06.462" v="7" actId="20578"/>
          <pc:sldLayoutMkLst>
            <pc:docMk/>
            <pc:sldMasterMk cId="3668580849" sldId="2147483648"/>
            <pc:sldLayoutMk cId="3538840014" sldId="2147483652"/>
          </pc:sldLayoutMkLst>
        </pc:sldLayoutChg>
        <pc:sldLayoutChg chg="delSp modSp mod ord">
          <pc:chgData name="Jacinto Velasco Rebolledo" userId="00c16d92-95bd-422a-9db4-b068f123e6b5" providerId="ADAL" clId="{E4C91ED7-1767-414D-99BB-228530B558FA}" dt="2024-10-12T18:43:59.199" v="15" actId="478"/>
          <pc:sldLayoutMkLst>
            <pc:docMk/>
            <pc:sldMasterMk cId="3668580849" sldId="2147483648"/>
            <pc:sldLayoutMk cId="1876234934" sldId="2147483671"/>
          </pc:sldLayoutMkLst>
        </pc:sldLayoutChg>
      </pc:sldMasterChg>
      <pc:sldMasterChg chg="new del mod addSldLayout delSldLayout">
        <pc:chgData name="Jacinto Velasco Rebolledo" userId="00c16d92-95bd-422a-9db4-b068f123e6b5" providerId="ADAL" clId="{E4C91ED7-1767-414D-99BB-228530B558FA}" dt="2024-10-12T18:42:47.529" v="4" actId="6938"/>
        <pc:sldMasterMkLst>
          <pc:docMk/>
          <pc:sldMasterMk cId="14194649" sldId="2147483650"/>
        </pc:sldMasterMkLst>
        <pc:sldLayoutChg chg="new del replId">
          <pc:chgData name="Jacinto Velasco Rebolledo" userId="00c16d92-95bd-422a-9db4-b068f123e6b5" providerId="ADAL" clId="{E4C91ED7-1767-414D-99BB-228530B558FA}" dt="2024-10-12T18:42:47.529" v="4" actId="6938"/>
          <pc:sldLayoutMkLst>
            <pc:docMk/>
            <pc:sldMasterMk cId="14194649" sldId="2147483650"/>
            <pc:sldLayoutMk cId="2002821661" sldId="2147483651"/>
          </pc:sldLayoutMkLst>
        </pc:sldLayoutChg>
        <pc:sldLayoutChg chg="new del replId">
          <pc:chgData name="Jacinto Velasco Rebolledo" userId="00c16d92-95bd-422a-9db4-b068f123e6b5" providerId="ADAL" clId="{E4C91ED7-1767-414D-99BB-228530B558FA}" dt="2024-10-12T18:42:47.529" v="4" actId="6938"/>
          <pc:sldLayoutMkLst>
            <pc:docMk/>
            <pc:sldMasterMk cId="14194649" sldId="2147483650"/>
            <pc:sldLayoutMk cId="1798808468" sldId="2147483652"/>
          </pc:sldLayoutMkLst>
        </pc:sldLayoutChg>
        <pc:sldLayoutChg chg="new del replId">
          <pc:chgData name="Jacinto Velasco Rebolledo" userId="00c16d92-95bd-422a-9db4-b068f123e6b5" providerId="ADAL" clId="{E4C91ED7-1767-414D-99BB-228530B558FA}" dt="2024-10-12T18:42:47.529" v="4" actId="6938"/>
          <pc:sldLayoutMkLst>
            <pc:docMk/>
            <pc:sldMasterMk cId="14194649" sldId="2147483650"/>
            <pc:sldLayoutMk cId="1297023848" sldId="2147483653"/>
          </pc:sldLayoutMkLst>
        </pc:sldLayoutChg>
        <pc:sldLayoutChg chg="new del replId">
          <pc:chgData name="Jacinto Velasco Rebolledo" userId="00c16d92-95bd-422a-9db4-b068f123e6b5" providerId="ADAL" clId="{E4C91ED7-1767-414D-99BB-228530B558FA}" dt="2024-10-12T18:42:47.529" v="4" actId="6938"/>
          <pc:sldLayoutMkLst>
            <pc:docMk/>
            <pc:sldMasterMk cId="14194649" sldId="2147483650"/>
            <pc:sldLayoutMk cId="1423452817" sldId="2147483654"/>
          </pc:sldLayoutMkLst>
        </pc:sldLayoutChg>
        <pc:sldLayoutChg chg="new del replId">
          <pc:chgData name="Jacinto Velasco Rebolledo" userId="00c16d92-95bd-422a-9db4-b068f123e6b5" providerId="ADAL" clId="{E4C91ED7-1767-414D-99BB-228530B558FA}" dt="2024-10-12T18:42:47.529" v="4" actId="6938"/>
          <pc:sldLayoutMkLst>
            <pc:docMk/>
            <pc:sldMasterMk cId="14194649" sldId="2147483650"/>
            <pc:sldLayoutMk cId="3462523771" sldId="2147483655"/>
          </pc:sldLayoutMkLst>
        </pc:sldLayoutChg>
        <pc:sldLayoutChg chg="new del replId">
          <pc:chgData name="Jacinto Velasco Rebolledo" userId="00c16d92-95bd-422a-9db4-b068f123e6b5" providerId="ADAL" clId="{E4C91ED7-1767-414D-99BB-228530B558FA}" dt="2024-10-12T18:42:47.529" v="4" actId="6938"/>
          <pc:sldLayoutMkLst>
            <pc:docMk/>
            <pc:sldMasterMk cId="14194649" sldId="2147483650"/>
            <pc:sldLayoutMk cId="1732825384" sldId="2147483656"/>
          </pc:sldLayoutMkLst>
        </pc:sldLayoutChg>
        <pc:sldLayoutChg chg="new del replId">
          <pc:chgData name="Jacinto Velasco Rebolledo" userId="00c16d92-95bd-422a-9db4-b068f123e6b5" providerId="ADAL" clId="{E4C91ED7-1767-414D-99BB-228530B558FA}" dt="2024-10-12T18:42:47.529" v="4" actId="6938"/>
          <pc:sldLayoutMkLst>
            <pc:docMk/>
            <pc:sldMasterMk cId="14194649" sldId="2147483650"/>
            <pc:sldLayoutMk cId="3419123074" sldId="2147483657"/>
          </pc:sldLayoutMkLst>
        </pc:sldLayoutChg>
        <pc:sldLayoutChg chg="new del replId">
          <pc:chgData name="Jacinto Velasco Rebolledo" userId="00c16d92-95bd-422a-9db4-b068f123e6b5" providerId="ADAL" clId="{E4C91ED7-1767-414D-99BB-228530B558FA}" dt="2024-10-12T18:42:47.529" v="4" actId="6938"/>
          <pc:sldLayoutMkLst>
            <pc:docMk/>
            <pc:sldMasterMk cId="14194649" sldId="2147483650"/>
            <pc:sldLayoutMk cId="407924216" sldId="2147483658"/>
          </pc:sldLayoutMkLst>
        </pc:sldLayoutChg>
        <pc:sldLayoutChg chg="new del replId">
          <pc:chgData name="Jacinto Velasco Rebolledo" userId="00c16d92-95bd-422a-9db4-b068f123e6b5" providerId="ADAL" clId="{E4C91ED7-1767-414D-99BB-228530B558FA}" dt="2024-10-12T18:42:47.529" v="4" actId="6938"/>
          <pc:sldLayoutMkLst>
            <pc:docMk/>
            <pc:sldMasterMk cId="14194649" sldId="2147483650"/>
            <pc:sldLayoutMk cId="262922064" sldId="2147483659"/>
          </pc:sldLayoutMkLst>
        </pc:sldLayoutChg>
        <pc:sldLayoutChg chg="new del replId">
          <pc:chgData name="Jacinto Velasco Rebolledo" userId="00c16d92-95bd-422a-9db4-b068f123e6b5" providerId="ADAL" clId="{E4C91ED7-1767-414D-99BB-228530B558FA}" dt="2024-10-12T18:42:47.529" v="4" actId="6938"/>
          <pc:sldLayoutMkLst>
            <pc:docMk/>
            <pc:sldMasterMk cId="14194649" sldId="2147483650"/>
            <pc:sldLayoutMk cId="23251519" sldId="2147483660"/>
          </pc:sldLayoutMkLst>
        </pc:sldLayoutChg>
        <pc:sldLayoutChg chg="new del replId">
          <pc:chgData name="Jacinto Velasco Rebolledo" userId="00c16d92-95bd-422a-9db4-b068f123e6b5" providerId="ADAL" clId="{E4C91ED7-1767-414D-99BB-228530B558FA}" dt="2024-10-12T18:42:47.529" v="4" actId="6938"/>
          <pc:sldLayoutMkLst>
            <pc:docMk/>
            <pc:sldMasterMk cId="14194649" sldId="2147483650"/>
            <pc:sldLayoutMk cId="3395872813" sldId="2147483661"/>
          </pc:sldLayoutMkLst>
        </pc:sldLayoutChg>
      </pc:sldMasterChg>
      <pc:sldMasterChg chg="del modSldLayout sldLayoutOrd">
        <pc:chgData name="Jacinto Velasco Rebolledo" userId="00c16d92-95bd-422a-9db4-b068f123e6b5" providerId="ADAL" clId="{E4C91ED7-1767-414D-99BB-228530B558FA}" dt="2024-10-12T18:44:25.694" v="16" actId="2696"/>
        <pc:sldMasterMkLst>
          <pc:docMk/>
          <pc:sldMasterMk cId="1090411801" sldId="2147483650"/>
        </pc:sldMasterMkLst>
        <pc:sldLayoutChg chg="ord">
          <pc:chgData name="Jacinto Velasco Rebolledo" userId="00c16d92-95bd-422a-9db4-b068f123e6b5" providerId="ADAL" clId="{E4C91ED7-1767-414D-99BB-228530B558FA}" dt="2024-10-12T18:43:01.905" v="5" actId="20578"/>
          <pc:sldLayoutMkLst>
            <pc:docMk/>
            <pc:sldMasterMk cId="3668580849" sldId="2147483648"/>
            <pc:sldLayoutMk cId="3538840014" sldId="2147483652"/>
          </pc:sldLayoutMkLst>
        </pc:sldLayoutChg>
        <pc:sldLayoutChg chg="ord">
          <pc:chgData name="Jacinto Velasco Rebolledo" userId="00c16d92-95bd-422a-9db4-b068f123e6b5" providerId="ADAL" clId="{E4C91ED7-1767-414D-99BB-228530B558FA}" dt="2024-10-12T18:43:46.671" v="11" actId="20578"/>
          <pc:sldLayoutMkLst>
            <pc:docMk/>
            <pc:sldMasterMk cId="3668580849" sldId="2147483648"/>
            <pc:sldLayoutMk cId="1876234934" sldId="2147483671"/>
          </pc:sldLayoutMkLst>
        </pc:sldLayoutChg>
      </pc:sldMasterChg>
      <pc:sldMasterChg chg="del">
        <pc:chgData name="Jacinto Velasco Rebolledo" userId="00c16d92-95bd-422a-9db4-b068f123e6b5" providerId="ADAL" clId="{E4C91ED7-1767-414D-99BB-228530B558FA}" dt="2024-10-12T18:42:37.238" v="2" actId="2696"/>
        <pc:sldMasterMkLst>
          <pc:docMk/>
          <pc:sldMasterMk cId="2683707030" sldId="2147483650"/>
        </pc:sldMasterMkLst>
      </pc:sldMaster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200" b="1">
                <a:solidFill>
                  <a:srgbClr val="16202B"/>
                </a:solidFill>
              </a:rPr>
              <a:t>AUC por época</a:t>
            </a:r>
          </a:p>
        </c:rich>
      </c:tx>
      <c:layout/>
      <c:overlay val="0"/>
    </c:title>
    <c:autoTitleDeleted val="0"/>
    <c:plotArea>
      <c:lineChart>
        <c:grouping val="standard"/>
        <c:varyColors val="0"/>
        <c:ser>
          <c:idx val="0"/>
          <c:order val="0"/>
          <c:tx>
            <c:strRef>
              <c:f>Sheet1!$B$1</c:f>
              <c:strCache>
                <c:ptCount val="1"/>
                <c:pt idx="0">
                  <c:v>FIT</c:v>
                </c:pt>
              </c:strCache>
            </c:strRef>
          </c:tx>
          <c:spPr>
            <a:ln w="25400">
              <a:solidFill>
                <a:srgbClr val="2F6FB5"/>
              </a:solidFill>
            </a:ln>
          </c:spPr>
          <c:marker>
            <c:symbol val="none"/>
          </c:marker>
          <c:cat>
            <c:strRef>
              <c:f>Sheet1!$A$2:$A$13</c:f>
              <c:strCache>
                <c:ptCount val="12"/>
                <c:pt idx="0">
                  <c:v>1</c:v>
                </c:pt>
                <c:pt idx="1">
                  <c:v>2</c:v>
                </c:pt>
                <c:pt idx="2">
                  <c:v>3</c:v>
                </c:pt>
                <c:pt idx="3">
                  <c:v>4</c:v>
                </c:pt>
                <c:pt idx="4">
                  <c:v>5</c:v>
                </c:pt>
                <c:pt idx="5">
                  <c:v>6</c:v>
                </c:pt>
                <c:pt idx="6">
                  <c:v>7</c:v>
                </c:pt>
                <c:pt idx="7">
                  <c:v>8</c:v>
                </c:pt>
                <c:pt idx="8">
                  <c:v>9</c:v>
                </c:pt>
                <c:pt idx="9">
                  <c:v>10</c:v>
                </c:pt>
                <c:pt idx="10">
                  <c:v>11</c:v>
                </c:pt>
                <c:pt idx="11">
                  <c:v>12</c:v>
                </c:pt>
              </c:strCache>
            </c:strRef>
          </c:cat>
          <c:val>
            <c:numRef>
              <c:f>Sheet1!$B$2:$B$13</c:f>
              <c:numCache>
                <c:formatCode>0.00</c:formatCode>
                <c:ptCount val="12"/>
                <c:pt idx="0">
                  <c:v>0.5164</c:v>
                </c:pt>
                <c:pt idx="1">
                  <c:v>0.5052</c:v>
                </c:pt>
                <c:pt idx="2">
                  <c:v>0.5109</c:v>
                </c:pt>
                <c:pt idx="3">
                  <c:v>0.5681</c:v>
                </c:pt>
                <c:pt idx="4">
                  <c:v>0.5053</c:v>
                </c:pt>
                <c:pt idx="5">
                  <c:v>0.5094</c:v>
                </c:pt>
                <c:pt idx="6">
                  <c:v>0.5238</c:v>
                </c:pt>
                <c:pt idx="7">
                  <c:v>0.5294</c:v>
                </c:pt>
                <c:pt idx="8">
                  <c:v>0.4715</c:v>
                </c:pt>
                <c:pt idx="9">
                  <c:v>0.5349</c:v>
                </c:pt>
                <c:pt idx="10">
                  <c:v>0.5428</c:v>
                </c:pt>
                <c:pt idx="11">
                  <c:v>0.5406</c:v>
                </c:pt>
              </c:numCache>
            </c:numRef>
          </c:val>
          <c:smooth val="0"/>
        </c:ser>
        <c:ser>
          <c:idx val="1"/>
          <c:order val="1"/>
          <c:tx>
            <c:strRef>
              <c:f>Sheet1!$C$1</c:f>
              <c:strCache>
                <c:ptCount val="1"/>
                <c:pt idx="0">
                  <c:v>Val. interna</c:v>
                </c:pt>
              </c:strCache>
            </c:strRef>
          </c:tx>
          <c:spPr>
            <a:ln w="25400">
              <a:solidFill>
                <a:srgbClr val="C8742E"/>
              </a:solidFill>
            </a:ln>
          </c:spPr>
          <c:marker>
            <c:symbol val="none"/>
          </c:marker>
          <c:dPt>
            <c:idx val="1"/>
            <c:marker>
              <c:symbol val="circle"/>
              <c:size val="8"/>
              <c:spPr>
                <a:solidFill>
                  <a:srgbClr val="C2477F"/>
                </a:solidFill>
                <a:ln>
                  <a:solidFill>
                    <a:srgbClr val="C2477F"/>
                  </a:solidFill>
                </a:ln>
              </c:spPr>
            </c:marker>
          </c:dPt>
          <c:dLbls>
            <c:dLbl>
              <c:idx val="1"/>
              <c:tx>
                <c:rich>
                  <a:bodyPr/>
                  <a:lstStyle/>
                  <a:p>
                    <a:r>
                      <a:rPr sz="1000" b="1">
                        <a:solidFill>
                          <a:srgbClr val="C2477F"/>
                        </a:solidFill>
                      </a:rPr>
                      <a:t>Ép. 2</a:t>
                    </a:r>
                  </a:p>
                </c:rich>
              </c:tx>
              <c:dLblPos val="b"/>
              <c:showLegendKey val="0"/>
              <c:showVal val="1"/>
              <c:showCatName val="0"/>
              <c:showSerName val="0"/>
              <c:showPercent val="0"/>
              <c:showBubbleSize val="0"/>
            </c:dLbl>
            <c:showLegendKey val="0"/>
            <c:showVal val="0"/>
            <c:showCatName val="0"/>
            <c:showSerName val="0"/>
            <c:showPercent val="0"/>
            <c:showBubbleSize val="0"/>
            <c:showLeaderLines val="1"/>
          </c:dLbls>
          <c:cat>
            <c:strRef>
              <c:f>Sheet1!$A$2:$A$13</c:f>
              <c:strCache>
                <c:ptCount val="12"/>
                <c:pt idx="0">
                  <c:v>1</c:v>
                </c:pt>
                <c:pt idx="1">
                  <c:v>2</c:v>
                </c:pt>
                <c:pt idx="2">
                  <c:v>3</c:v>
                </c:pt>
                <c:pt idx="3">
                  <c:v>4</c:v>
                </c:pt>
                <c:pt idx="4">
                  <c:v>5</c:v>
                </c:pt>
                <c:pt idx="5">
                  <c:v>6</c:v>
                </c:pt>
                <c:pt idx="6">
                  <c:v>7</c:v>
                </c:pt>
                <c:pt idx="7">
                  <c:v>8</c:v>
                </c:pt>
                <c:pt idx="8">
                  <c:v>9</c:v>
                </c:pt>
                <c:pt idx="9">
                  <c:v>10</c:v>
                </c:pt>
                <c:pt idx="10">
                  <c:v>11</c:v>
                </c:pt>
                <c:pt idx="11">
                  <c:v>12</c:v>
                </c:pt>
              </c:strCache>
            </c:strRef>
          </c:cat>
          <c:val>
            <c:numRef>
              <c:f>Sheet1!$C$2:$C$13</c:f>
              <c:numCache>
                <c:formatCode>0.00</c:formatCode>
                <c:ptCount val="12"/>
                <c:pt idx="0">
                  <c:v>0.5717</c:v>
                </c:pt>
                <c:pt idx="1">
                  <c:v>0.5721</c:v>
                </c:pt>
                <c:pt idx="2">
                  <c:v>0.4957</c:v>
                </c:pt>
                <c:pt idx="3">
                  <c:v>0.534</c:v>
                </c:pt>
                <c:pt idx="4">
                  <c:v>0.5665</c:v>
                </c:pt>
                <c:pt idx="5">
                  <c:v>0.5047</c:v>
                </c:pt>
                <c:pt idx="6">
                  <c:v>0.4891</c:v>
                </c:pt>
                <c:pt idx="7">
                  <c:v>0.5101</c:v>
                </c:pt>
                <c:pt idx="8">
                  <c:v>0.4743</c:v>
                </c:pt>
                <c:pt idx="9">
                  <c:v>0.5095</c:v>
                </c:pt>
                <c:pt idx="10">
                  <c:v>0.5402</c:v>
                </c:pt>
                <c:pt idx="11">
                  <c:v>0.5578</c:v>
                </c:pt>
              </c:numCache>
            </c:numRef>
          </c:val>
          <c:smooth val="0"/>
        </c:ser>
        <c:ser>
          <c:idx val="2"/>
          <c:order val="2"/>
          <c:tx>
            <c:strRef>
              <c:f>Sheet1!$D$1</c:f>
              <c:strCache>
                <c:ptCount val="1"/>
                <c:pt idx="0">
                  <c:v>Exterior</c:v>
                </c:pt>
              </c:strCache>
            </c:strRef>
          </c:tx>
          <c:spPr>
            <a:ln w="19050">
              <a:solidFill>
                <a:srgbClr val="16202B"/>
              </a:solidFill>
              <a:prstDash val="dash"/>
            </a:ln>
          </c:spPr>
          <c:marker>
            <c:symbol val="none"/>
          </c:marker>
          <c:dLbls>
            <c:dLbl>
              <c:idx val="10"/>
              <c:tx>
                <c:rich>
                  <a:bodyPr/>
                  <a:lstStyle/>
                  <a:p>
                    <a:r>
                      <a:rPr sz="1000" b="1">
                        <a:solidFill>
                          <a:srgbClr val="16202B"/>
                        </a:solidFill>
                      </a:rPr>
                      <a:t>0,617</a:t>
                    </a:r>
                  </a:p>
                </c:rich>
              </c:tx>
              <c:dLblPos val="t"/>
              <c:showLegendKey val="0"/>
              <c:showVal val="1"/>
              <c:showCatName val="0"/>
              <c:showSerName val="0"/>
              <c:showPercent val="0"/>
              <c:showBubbleSize val="0"/>
            </c:dLbl>
            <c:showLegendKey val="0"/>
            <c:showVal val="0"/>
            <c:showCatName val="0"/>
            <c:showSerName val="0"/>
            <c:showPercent val="0"/>
            <c:showBubbleSize val="0"/>
            <c:showLeaderLines val="1"/>
          </c:dLbls>
          <c:cat>
            <c:strRef>
              <c:f>Sheet1!$A$2:$A$13</c:f>
              <c:strCache>
                <c:ptCount val="12"/>
                <c:pt idx="0">
                  <c:v>1</c:v>
                </c:pt>
                <c:pt idx="1">
                  <c:v>2</c:v>
                </c:pt>
                <c:pt idx="2">
                  <c:v>3</c:v>
                </c:pt>
                <c:pt idx="3">
                  <c:v>4</c:v>
                </c:pt>
                <c:pt idx="4">
                  <c:v>5</c:v>
                </c:pt>
                <c:pt idx="5">
                  <c:v>6</c:v>
                </c:pt>
                <c:pt idx="6">
                  <c:v>7</c:v>
                </c:pt>
                <c:pt idx="7">
                  <c:v>8</c:v>
                </c:pt>
                <c:pt idx="8">
                  <c:v>9</c:v>
                </c:pt>
                <c:pt idx="9">
                  <c:v>10</c:v>
                </c:pt>
                <c:pt idx="10">
                  <c:v>11</c:v>
                </c:pt>
                <c:pt idx="11">
                  <c:v>12</c:v>
                </c:pt>
              </c:strCache>
            </c:strRef>
          </c:cat>
          <c:val>
            <c:numRef>
              <c:f>Sheet1!$D$2:$D$13</c:f>
              <c:numCache>
                <c:formatCode>0.00</c:formatCode>
                <c:ptCount val="12"/>
                <c:pt idx="0">
                  <c:v>0.6165</c:v>
                </c:pt>
                <c:pt idx="1">
                  <c:v>0.6165</c:v>
                </c:pt>
                <c:pt idx="2">
                  <c:v>0.6165</c:v>
                </c:pt>
                <c:pt idx="3">
                  <c:v>0.6165</c:v>
                </c:pt>
                <c:pt idx="4">
                  <c:v>0.6165</c:v>
                </c:pt>
                <c:pt idx="5">
                  <c:v>0.6165</c:v>
                </c:pt>
                <c:pt idx="6">
                  <c:v>0.6165</c:v>
                </c:pt>
                <c:pt idx="7">
                  <c:v>0.6165</c:v>
                </c:pt>
                <c:pt idx="8">
                  <c:v>0.6165</c:v>
                </c:pt>
                <c:pt idx="9">
                  <c:v>0.6165</c:v>
                </c:pt>
                <c:pt idx="10">
                  <c:v>0.6165</c:v>
                </c:pt>
                <c:pt idx="11">
                  <c:v>0.6165</c:v>
                </c:pt>
              </c:numCache>
            </c:numRef>
          </c:val>
          <c:smooth val="0"/>
        </c:ser>
        <c:marker val="1"/>
        <c:smooth val="0"/>
        <c:axId val="2118791784"/>
        <c:axId val="2140495176"/>
      </c:lineChart>
      <c:catAx>
        <c:axId val="2118791784"/>
        <c:scaling>
          <c:orientation val="minMax"/>
        </c:scaling>
        <c:delete val="0"/>
        <c:axPos val="b"/>
        <c:majorTickMark val="out"/>
        <c:minorTickMark val="none"/>
        <c:tickLblPos val="low"/>
        <c:spPr>
          <a:ln>
            <a:solidFill>
              <a:srgbClr val="DFE5EC"/>
            </a:solidFill>
          </a:ln>
        </c:spPr>
        <c:crossAx val="2140495176"/>
        <c:crosses val="autoZero"/>
        <c:auto val="1"/>
        <c:lblAlgn val="ctr"/>
        <c:lblOffset val="100"/>
        <c:noMultiLvlLbl val="0"/>
      </c:catAx>
      <c:valAx>
        <c:axId val="2140495176"/>
        <c:scaling>
          <c:max val="0.7"/>
          <c:min val="0.4"/>
        </c:scaling>
        <c:delete val="0"/>
        <c:axPos val="l"/>
        <c:majorGridlines>
          <c:spPr>
            <a:ln>
              <a:solidFill>
                <a:srgbClr val="DFE5EC"/>
              </a:solidFill>
            </a:ln>
          </c:spPr>
        </c:majorGridlines>
        <c:numFmt formatCode="0.0" sourceLinked="0"/>
        <c:majorTickMark val="out"/>
        <c:minorTickMark val="none"/>
        <c:tickLblPos val="nextTo"/>
        <c:spPr>
          <a:ln>
            <a:noFill/>
          </a:ln>
        </c:spPr>
        <c:crossAx val="2118791784"/>
        <c:crosses val="autoZero"/>
        <c:majorUnit val="0.1"/>
      </c:valAx>
    </c:plotArea>
    <c:legend>
      <c:legendPos val="b"/>
      <c:layout/>
      <c:overlay val="0"/>
      <c:txPr>
        <a:bodyPr/>
        <a:lstStyle/>
        <a:p>
          <a:pPr>
            <a:defRPr sz="1000"/>
          </a:pPr>
        </a:p>
      </c:txPr>
    </c:legend>
    <c:plotVisOnly val="1"/>
    <c:dispBlanksAs val="gap"/>
    <c:showDLblsOverMax val="0"/>
  </c:chart>
  <c:txPr>
    <a:bodyPr/>
    <a:lstStyle/>
    <a:p>
      <a:pPr>
        <a:defRPr sz="1000">
          <a:solidFill>
            <a:srgbClr val="6E7984"/>
          </a:solidFill>
          <a:latin typeface="Arial"/>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200" b="1">
                <a:solidFill>
                  <a:srgbClr val="16202B"/>
                </a:solidFill>
              </a:rPr>
              <a:t>BCE por época</a:t>
            </a:r>
          </a:p>
        </c:rich>
      </c:tx>
      <c:layout/>
      <c:overlay val="0"/>
    </c:title>
    <c:autoTitleDeleted val="0"/>
    <c:plotArea>
      <c:lineChart>
        <c:grouping val="standard"/>
        <c:varyColors val="0"/>
        <c:ser>
          <c:idx val="0"/>
          <c:order val="0"/>
          <c:tx>
            <c:strRef>
              <c:f>Sheet1!$B$1</c:f>
              <c:strCache>
                <c:ptCount val="1"/>
                <c:pt idx="0">
                  <c:v>FIT</c:v>
                </c:pt>
              </c:strCache>
            </c:strRef>
          </c:tx>
          <c:spPr>
            <a:ln w="25400">
              <a:solidFill>
                <a:srgbClr val="2F6FB5"/>
              </a:solidFill>
            </a:ln>
          </c:spPr>
          <c:marker>
            <c:symbol val="none"/>
          </c:marker>
          <c:cat>
            <c:strRef>
              <c:f>Sheet1!$A$2:$A$13</c:f>
              <c:strCache>
                <c:ptCount val="12"/>
                <c:pt idx="0">
                  <c:v>1</c:v>
                </c:pt>
                <c:pt idx="1">
                  <c:v>2</c:v>
                </c:pt>
                <c:pt idx="2">
                  <c:v>3</c:v>
                </c:pt>
                <c:pt idx="3">
                  <c:v>4</c:v>
                </c:pt>
                <c:pt idx="4">
                  <c:v>5</c:v>
                </c:pt>
                <c:pt idx="5">
                  <c:v>6</c:v>
                </c:pt>
                <c:pt idx="6">
                  <c:v>7</c:v>
                </c:pt>
                <c:pt idx="7">
                  <c:v>8</c:v>
                </c:pt>
                <c:pt idx="8">
                  <c:v>9</c:v>
                </c:pt>
                <c:pt idx="9">
                  <c:v>10</c:v>
                </c:pt>
                <c:pt idx="10">
                  <c:v>11</c:v>
                </c:pt>
                <c:pt idx="11">
                  <c:v>12</c:v>
                </c:pt>
              </c:strCache>
            </c:strRef>
          </c:cat>
          <c:val>
            <c:numRef>
              <c:f>Sheet1!$B$2:$B$13</c:f>
              <c:numCache>
                <c:formatCode>0.00</c:formatCode>
                <c:ptCount val="12"/>
                <c:pt idx="0">
                  <c:v>0.6908</c:v>
                </c:pt>
                <c:pt idx="1">
                  <c:v>0.6179</c:v>
                </c:pt>
                <c:pt idx="2">
                  <c:v>0.6231</c:v>
                </c:pt>
                <c:pt idx="3">
                  <c:v>0.6028</c:v>
                </c:pt>
                <c:pt idx="4">
                  <c:v>0.6122</c:v>
                </c:pt>
                <c:pt idx="5">
                  <c:v>0.6076</c:v>
                </c:pt>
                <c:pt idx="6">
                  <c:v>0.6071</c:v>
                </c:pt>
                <c:pt idx="7">
                  <c:v>0.6059</c:v>
                </c:pt>
                <c:pt idx="8">
                  <c:v>0.6212</c:v>
                </c:pt>
                <c:pt idx="9">
                  <c:v>0.6071</c:v>
                </c:pt>
                <c:pt idx="10">
                  <c:v>0.6042</c:v>
                </c:pt>
                <c:pt idx="11">
                  <c:v>0.6041</c:v>
                </c:pt>
              </c:numCache>
            </c:numRef>
          </c:val>
          <c:smooth val="0"/>
        </c:ser>
        <c:ser>
          <c:idx val="1"/>
          <c:order val="1"/>
          <c:tx>
            <c:strRef>
              <c:f>Sheet1!$C$1</c:f>
              <c:strCache>
                <c:ptCount val="1"/>
                <c:pt idx="0">
                  <c:v>Val. interna</c:v>
                </c:pt>
              </c:strCache>
            </c:strRef>
          </c:tx>
          <c:spPr>
            <a:ln w="25400">
              <a:solidFill>
                <a:srgbClr val="C8742E"/>
              </a:solidFill>
            </a:ln>
          </c:spPr>
          <c:marker>
            <c:symbol val="none"/>
          </c:marker>
          <c:dPt>
            <c:idx val="1"/>
            <c:marker>
              <c:symbol val="circle"/>
              <c:size val="8"/>
              <c:spPr>
                <a:solidFill>
                  <a:srgbClr val="C2477F"/>
                </a:solidFill>
                <a:ln>
                  <a:solidFill>
                    <a:srgbClr val="C2477F"/>
                  </a:solidFill>
                </a:ln>
              </c:spPr>
            </c:marker>
          </c:dPt>
          <c:dLbls>
            <c:dLbl>
              <c:idx val="1"/>
              <c:tx>
                <c:rich>
                  <a:bodyPr/>
                  <a:lstStyle/>
                  <a:p>
                    <a:r>
                      <a:rPr sz="1000" b="1">
                        <a:solidFill>
                          <a:srgbClr val="C2477F"/>
                        </a:solidFill>
                      </a:rPr>
                      <a:t>Ép. 2</a:t>
                    </a:r>
                  </a:p>
                </c:rich>
              </c:tx>
              <c:dLblPos val="b"/>
              <c:showLegendKey val="0"/>
              <c:showVal val="1"/>
              <c:showCatName val="0"/>
              <c:showSerName val="0"/>
              <c:showPercent val="0"/>
              <c:showBubbleSize val="0"/>
            </c:dLbl>
            <c:showLegendKey val="0"/>
            <c:showVal val="0"/>
            <c:showCatName val="0"/>
            <c:showSerName val="0"/>
            <c:showPercent val="0"/>
            <c:showBubbleSize val="0"/>
            <c:showLeaderLines val="1"/>
          </c:dLbls>
          <c:cat>
            <c:strRef>
              <c:f>Sheet1!$A$2:$A$13</c:f>
              <c:strCache>
                <c:ptCount val="12"/>
                <c:pt idx="0">
                  <c:v>1</c:v>
                </c:pt>
                <c:pt idx="1">
                  <c:v>2</c:v>
                </c:pt>
                <c:pt idx="2">
                  <c:v>3</c:v>
                </c:pt>
                <c:pt idx="3">
                  <c:v>4</c:v>
                </c:pt>
                <c:pt idx="4">
                  <c:v>5</c:v>
                </c:pt>
                <c:pt idx="5">
                  <c:v>6</c:v>
                </c:pt>
                <c:pt idx="6">
                  <c:v>7</c:v>
                </c:pt>
                <c:pt idx="7">
                  <c:v>8</c:v>
                </c:pt>
                <c:pt idx="8">
                  <c:v>9</c:v>
                </c:pt>
                <c:pt idx="9">
                  <c:v>10</c:v>
                </c:pt>
                <c:pt idx="10">
                  <c:v>11</c:v>
                </c:pt>
                <c:pt idx="11">
                  <c:v>12</c:v>
                </c:pt>
              </c:strCache>
            </c:strRef>
          </c:cat>
          <c:val>
            <c:numRef>
              <c:f>Sheet1!$C$2:$C$13</c:f>
              <c:numCache>
                <c:formatCode>0.00</c:formatCode>
                <c:ptCount val="12"/>
                <c:pt idx="0">
                  <c:v>0.6533</c:v>
                </c:pt>
                <c:pt idx="1">
                  <c:v>0.6026</c:v>
                </c:pt>
                <c:pt idx="2">
                  <c:v>0.6215</c:v>
                </c:pt>
                <c:pt idx="3">
                  <c:v>0.608</c:v>
                </c:pt>
                <c:pt idx="4">
                  <c:v>0.6031</c:v>
                </c:pt>
                <c:pt idx="5">
                  <c:v>0.605</c:v>
                </c:pt>
                <c:pt idx="6">
                  <c:v>0.6072</c:v>
                </c:pt>
                <c:pt idx="7">
                  <c:v>0.6066</c:v>
                </c:pt>
                <c:pt idx="8">
                  <c:v>0.6243</c:v>
                </c:pt>
                <c:pt idx="9">
                  <c:v>0.612</c:v>
                </c:pt>
                <c:pt idx="10">
                  <c:v>0.605</c:v>
                </c:pt>
                <c:pt idx="11">
                  <c:v>0.6043</c:v>
                </c:pt>
              </c:numCache>
            </c:numRef>
          </c:val>
          <c:smooth val="0"/>
        </c:ser>
        <c:ser>
          <c:idx val="2"/>
          <c:order val="2"/>
          <c:tx>
            <c:strRef>
              <c:f>Sheet1!$D$1</c:f>
              <c:strCache>
                <c:ptCount val="1"/>
                <c:pt idx="0">
                  <c:v>Constante</c:v>
                </c:pt>
              </c:strCache>
            </c:strRef>
          </c:tx>
          <c:spPr>
            <a:ln w="15875">
              <a:solidFill>
                <a:srgbClr val="6E7984"/>
              </a:solidFill>
              <a:prstDash val="dash"/>
            </a:ln>
          </c:spPr>
          <c:marker>
            <c:symbol val="none"/>
          </c:marker>
          <c:cat>
            <c:strRef>
              <c:f>Sheet1!$A$2:$A$13</c:f>
              <c:strCache>
                <c:ptCount val="12"/>
                <c:pt idx="0">
                  <c:v>1</c:v>
                </c:pt>
                <c:pt idx="1">
                  <c:v>2</c:v>
                </c:pt>
                <c:pt idx="2">
                  <c:v>3</c:v>
                </c:pt>
                <c:pt idx="3">
                  <c:v>4</c:v>
                </c:pt>
                <c:pt idx="4">
                  <c:v>5</c:v>
                </c:pt>
                <c:pt idx="5">
                  <c:v>6</c:v>
                </c:pt>
                <c:pt idx="6">
                  <c:v>7</c:v>
                </c:pt>
                <c:pt idx="7">
                  <c:v>8</c:v>
                </c:pt>
                <c:pt idx="8">
                  <c:v>9</c:v>
                </c:pt>
                <c:pt idx="9">
                  <c:v>10</c:v>
                </c:pt>
                <c:pt idx="10">
                  <c:v>11</c:v>
                </c:pt>
                <c:pt idx="11">
                  <c:v>12</c:v>
                </c:pt>
              </c:strCache>
            </c:strRef>
          </c:cat>
          <c:val>
            <c:numRef>
              <c:f>Sheet1!$D$2:$D$13</c:f>
              <c:numCache>
                <c:formatCode>0.00</c:formatCode>
                <c:ptCount val="12"/>
                <c:pt idx="0">
                  <c:v>0.6048</c:v>
                </c:pt>
                <c:pt idx="1">
                  <c:v>0.6048</c:v>
                </c:pt>
                <c:pt idx="2">
                  <c:v>0.6048</c:v>
                </c:pt>
                <c:pt idx="3">
                  <c:v>0.6048</c:v>
                </c:pt>
                <c:pt idx="4">
                  <c:v>0.6048</c:v>
                </c:pt>
                <c:pt idx="5">
                  <c:v>0.6048</c:v>
                </c:pt>
                <c:pt idx="6">
                  <c:v>0.6048</c:v>
                </c:pt>
                <c:pt idx="7">
                  <c:v>0.6048</c:v>
                </c:pt>
                <c:pt idx="8">
                  <c:v>0.6048</c:v>
                </c:pt>
                <c:pt idx="9">
                  <c:v>0.6048</c:v>
                </c:pt>
                <c:pt idx="10">
                  <c:v>0.6048</c:v>
                </c:pt>
                <c:pt idx="11">
                  <c:v>0.6048</c:v>
                </c:pt>
              </c:numCache>
            </c:numRef>
          </c:val>
          <c:smooth val="0"/>
        </c:ser>
        <c:marker val="1"/>
        <c:smooth val="0"/>
        <c:axId val="2118791784"/>
        <c:axId val="2140495176"/>
      </c:lineChart>
      <c:catAx>
        <c:axId val="2118791784"/>
        <c:scaling>
          <c:orientation val="minMax"/>
        </c:scaling>
        <c:delete val="0"/>
        <c:axPos val="b"/>
        <c:majorTickMark val="out"/>
        <c:minorTickMark val="none"/>
        <c:tickLblPos val="low"/>
        <c:spPr>
          <a:ln>
            <a:solidFill>
              <a:srgbClr val="DFE5EC"/>
            </a:solidFill>
          </a:ln>
        </c:spPr>
        <c:crossAx val="2140495176"/>
        <c:crosses val="autoZero"/>
        <c:auto val="1"/>
        <c:lblAlgn val="ctr"/>
        <c:lblOffset val="100"/>
        <c:noMultiLvlLbl val="0"/>
      </c:catAx>
      <c:valAx>
        <c:axId val="2140495176"/>
        <c:scaling>
          <c:max val="0.7"/>
          <c:min val="0.58"/>
        </c:scaling>
        <c:delete val="0"/>
        <c:axPos val="l"/>
        <c:majorGridlines>
          <c:spPr>
            <a:ln>
              <a:solidFill>
                <a:srgbClr val="DFE5EC"/>
              </a:solidFill>
            </a:ln>
          </c:spPr>
        </c:majorGridlines>
        <c:numFmt formatCode="0.00" sourceLinked="0"/>
        <c:majorTickMark val="out"/>
        <c:minorTickMark val="none"/>
        <c:tickLblPos val="nextTo"/>
        <c:spPr>
          <a:ln>
            <a:noFill/>
          </a:ln>
        </c:spPr>
        <c:crossAx val="2118791784"/>
        <c:crosses val="autoZero"/>
        <c:majorUnit val="0.02"/>
      </c:valAx>
    </c:plotArea>
    <c:legend>
      <c:legendPos val="b"/>
      <c:layout/>
      <c:overlay val="0"/>
      <c:txPr>
        <a:bodyPr/>
        <a:lstStyle/>
        <a:p>
          <a:pPr>
            <a:defRPr sz="1000"/>
          </a:pPr>
        </a:p>
      </c:txPr>
    </c:legend>
    <c:plotVisOnly val="1"/>
    <c:dispBlanksAs val="gap"/>
    <c:showDLblsOverMax val="0"/>
  </c:chart>
  <c:txPr>
    <a:bodyPr/>
    <a:lstStyle/>
    <a:p>
      <a:pPr>
        <a:defRPr sz="1000">
          <a:solidFill>
            <a:srgbClr val="6E7984"/>
          </a:solidFill>
          <a:latin typeface="Arial"/>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chart>
    <c:title>
      <c:tx>
        <c:rich>
          <a:bodyPr/>
          <a:lstStyle/>
          <a:p>
            <a:r>
              <a:rPr sz="1100" b="1">
                <a:solidFill>
                  <a:srgbClr val="16202B"/>
                </a:solidFill>
              </a:rPr>
              <a:t>Curva ROC</a:t>
            </a:r>
          </a:p>
        </c:rich>
      </c:tx>
      <c:layout/>
      <c:overlay val="0"/>
    </c:title>
    <c:plotArea>
      <c:scatterChart>
        <c:scatterStyle val="lineMarker"/>
        <c:varyColors val="0"/>
        <c:ser>
          <c:idx val="0"/>
          <c:order val="0"/>
          <c:tx>
            <c:strRef>
              <c:f>Sheet1!$B$1</c:f>
              <c:strCache>
                <c:ptCount val="1"/>
                <c:pt idx="0">
                  <c:v>Validación</c:v>
                </c:pt>
              </c:strCache>
            </c:strRef>
          </c:tx>
          <c:spPr>
            <a:ln w="19050">
              <a:solidFill>
                <a:srgbClr val="C8742E"/>
              </a:solidFill>
            </a:ln>
          </c:spPr>
          <c:marker>
            <c:symbol val="none"/>
          </c:marker>
          <c:xVal>
            <c:numRef>
              <c:f>Sheet1!$A$2:$A$80</c:f>
              <c:numCache>
                <c:formatCode>General</c:formatCode>
                <c:ptCount val="79"/>
                <c:pt idx="0">
                  <c:v>0.0</c:v>
                </c:pt>
                <c:pt idx="1">
                  <c:v>0.0065</c:v>
                </c:pt>
                <c:pt idx="2">
                  <c:v>0.0129</c:v>
                </c:pt>
                <c:pt idx="3">
                  <c:v>0.0129</c:v>
                </c:pt>
                <c:pt idx="4">
                  <c:v>0.0194</c:v>
                </c:pt>
                <c:pt idx="5">
                  <c:v>0.0194</c:v>
                </c:pt>
                <c:pt idx="6">
                  <c:v>0.0387</c:v>
                </c:pt>
                <c:pt idx="7">
                  <c:v>0.0387</c:v>
                </c:pt>
                <c:pt idx="8">
                  <c:v>0.0452</c:v>
                </c:pt>
                <c:pt idx="9">
                  <c:v>0.0452</c:v>
                </c:pt>
                <c:pt idx="10">
                  <c:v>0.0516</c:v>
                </c:pt>
                <c:pt idx="11">
                  <c:v>0.0516</c:v>
                </c:pt>
                <c:pt idx="12">
                  <c:v>0.1161</c:v>
                </c:pt>
                <c:pt idx="13">
                  <c:v>0.1161</c:v>
                </c:pt>
                <c:pt idx="14">
                  <c:v>0.1226</c:v>
                </c:pt>
                <c:pt idx="15">
                  <c:v>0.1226</c:v>
                </c:pt>
                <c:pt idx="16">
                  <c:v>0.1355</c:v>
                </c:pt>
                <c:pt idx="17">
                  <c:v>0.1355</c:v>
                </c:pt>
                <c:pt idx="18">
                  <c:v>0.1613</c:v>
                </c:pt>
                <c:pt idx="19">
                  <c:v>0.1613</c:v>
                </c:pt>
                <c:pt idx="20">
                  <c:v>0.1742</c:v>
                </c:pt>
                <c:pt idx="21">
                  <c:v>0.1742</c:v>
                </c:pt>
                <c:pt idx="22">
                  <c:v>0.1806</c:v>
                </c:pt>
                <c:pt idx="23">
                  <c:v>0.1806</c:v>
                </c:pt>
                <c:pt idx="24">
                  <c:v>0.2</c:v>
                </c:pt>
                <c:pt idx="25">
                  <c:v>0.2</c:v>
                </c:pt>
                <c:pt idx="26">
                  <c:v>0.2452</c:v>
                </c:pt>
                <c:pt idx="27">
                  <c:v>0.2452</c:v>
                </c:pt>
                <c:pt idx="28">
                  <c:v>0.2903</c:v>
                </c:pt>
                <c:pt idx="29">
                  <c:v>0.2903</c:v>
                </c:pt>
                <c:pt idx="30">
                  <c:v>0.2968</c:v>
                </c:pt>
                <c:pt idx="31">
                  <c:v>0.2968</c:v>
                </c:pt>
                <c:pt idx="32">
                  <c:v>0.329</c:v>
                </c:pt>
                <c:pt idx="33">
                  <c:v>0.329</c:v>
                </c:pt>
                <c:pt idx="34">
                  <c:v>0.3355</c:v>
                </c:pt>
                <c:pt idx="35">
                  <c:v>0.3355</c:v>
                </c:pt>
                <c:pt idx="36">
                  <c:v>0.3677</c:v>
                </c:pt>
                <c:pt idx="37">
                  <c:v>0.3677</c:v>
                </c:pt>
                <c:pt idx="38">
                  <c:v>0.3806</c:v>
                </c:pt>
                <c:pt idx="39">
                  <c:v>0.3806</c:v>
                </c:pt>
                <c:pt idx="40">
                  <c:v>0.4</c:v>
                </c:pt>
                <c:pt idx="41">
                  <c:v>0.4</c:v>
                </c:pt>
                <c:pt idx="42">
                  <c:v>0.4065</c:v>
                </c:pt>
                <c:pt idx="43">
                  <c:v>0.4065</c:v>
                </c:pt>
                <c:pt idx="44">
                  <c:v>0.4194</c:v>
                </c:pt>
                <c:pt idx="45">
                  <c:v>0.4194</c:v>
                </c:pt>
                <c:pt idx="46">
                  <c:v>0.4323</c:v>
                </c:pt>
                <c:pt idx="47">
                  <c:v>0.4323</c:v>
                </c:pt>
                <c:pt idx="48">
                  <c:v>0.4968</c:v>
                </c:pt>
                <c:pt idx="49">
                  <c:v>0.4968</c:v>
                </c:pt>
                <c:pt idx="50">
                  <c:v>0.5032</c:v>
                </c:pt>
                <c:pt idx="51">
                  <c:v>0.5032</c:v>
                </c:pt>
                <c:pt idx="52">
                  <c:v>0.5097</c:v>
                </c:pt>
                <c:pt idx="53">
                  <c:v>0.5097</c:v>
                </c:pt>
                <c:pt idx="54">
                  <c:v>0.5935</c:v>
                </c:pt>
                <c:pt idx="55">
                  <c:v>0.5935</c:v>
                </c:pt>
                <c:pt idx="56">
                  <c:v>0.6194</c:v>
                </c:pt>
                <c:pt idx="57">
                  <c:v>0.6194</c:v>
                </c:pt>
                <c:pt idx="58">
                  <c:v>0.6258</c:v>
                </c:pt>
                <c:pt idx="59">
                  <c:v>0.6258</c:v>
                </c:pt>
                <c:pt idx="60">
                  <c:v>0.6581</c:v>
                </c:pt>
                <c:pt idx="61">
                  <c:v>0.6581</c:v>
                </c:pt>
                <c:pt idx="62">
                  <c:v>0.6645</c:v>
                </c:pt>
                <c:pt idx="63">
                  <c:v>0.6645</c:v>
                </c:pt>
                <c:pt idx="64">
                  <c:v>0.7032</c:v>
                </c:pt>
                <c:pt idx="65">
                  <c:v>0.7032</c:v>
                </c:pt>
                <c:pt idx="66">
                  <c:v>0.729</c:v>
                </c:pt>
                <c:pt idx="67">
                  <c:v>0.729</c:v>
                </c:pt>
                <c:pt idx="68">
                  <c:v>0.7742</c:v>
                </c:pt>
                <c:pt idx="69">
                  <c:v>0.7742</c:v>
                </c:pt>
                <c:pt idx="70">
                  <c:v>0.8903</c:v>
                </c:pt>
                <c:pt idx="71">
                  <c:v>0.8903</c:v>
                </c:pt>
                <c:pt idx="72">
                  <c:v>0.9161</c:v>
                </c:pt>
                <c:pt idx="73">
                  <c:v>0.9161</c:v>
                </c:pt>
                <c:pt idx="74">
                  <c:v>0.9419</c:v>
                </c:pt>
                <c:pt idx="75">
                  <c:v>0.9419</c:v>
                </c:pt>
                <c:pt idx="76">
                  <c:v>0.9742</c:v>
                </c:pt>
                <c:pt idx="77">
                  <c:v>0.9742</c:v>
                </c:pt>
                <c:pt idx="78">
                  <c:v>1.0</c:v>
                </c:pt>
              </c:numCache>
            </c:numRef>
          </c:xVal>
          <c:yVal>
            <c:numRef>
              <c:f>Sheet1!$B$2:$B$80</c:f>
              <c:numCache>
                <c:formatCode>General</c:formatCode>
                <c:ptCount val="79"/>
                <c:pt idx="0">
                  <c:v>0.0</c:v>
                </c:pt>
                <c:pt idx="1">
                  <c:v>0.0</c:v>
                </c:pt>
                <c:pt idx="2">
                  <c:v>0.0</c:v>
                </c:pt>
                <c:pt idx="3">
                  <c:v>0.0156</c:v>
                </c:pt>
                <c:pt idx="4">
                  <c:v>0.0156</c:v>
                </c:pt>
                <c:pt idx="5">
                  <c:v>0.0312</c:v>
                </c:pt>
                <c:pt idx="6">
                  <c:v>0.0312</c:v>
                </c:pt>
                <c:pt idx="7">
                  <c:v>0.0625</c:v>
                </c:pt>
                <c:pt idx="8">
                  <c:v>0.0625</c:v>
                </c:pt>
                <c:pt idx="9">
                  <c:v>0.0938</c:v>
                </c:pt>
                <c:pt idx="10">
                  <c:v>0.0938</c:v>
                </c:pt>
                <c:pt idx="11">
                  <c:v>0.2031</c:v>
                </c:pt>
                <c:pt idx="12">
                  <c:v>0.2031</c:v>
                </c:pt>
                <c:pt idx="13">
                  <c:v>0.2188</c:v>
                </c:pt>
                <c:pt idx="14">
                  <c:v>0.2188</c:v>
                </c:pt>
                <c:pt idx="15">
                  <c:v>0.2344</c:v>
                </c:pt>
                <c:pt idx="16">
                  <c:v>0.2344</c:v>
                </c:pt>
                <c:pt idx="17">
                  <c:v>0.2656</c:v>
                </c:pt>
                <c:pt idx="18">
                  <c:v>0.2656</c:v>
                </c:pt>
                <c:pt idx="19">
                  <c:v>0.2969</c:v>
                </c:pt>
                <c:pt idx="20">
                  <c:v>0.2969</c:v>
                </c:pt>
                <c:pt idx="21">
                  <c:v>0.3594</c:v>
                </c:pt>
                <c:pt idx="22">
                  <c:v>0.3594</c:v>
                </c:pt>
                <c:pt idx="23">
                  <c:v>0.4531</c:v>
                </c:pt>
                <c:pt idx="24">
                  <c:v>0.4531</c:v>
                </c:pt>
                <c:pt idx="25">
                  <c:v>0.4688</c:v>
                </c:pt>
                <c:pt idx="26">
                  <c:v>0.4688</c:v>
                </c:pt>
                <c:pt idx="27">
                  <c:v>0.4844</c:v>
                </c:pt>
                <c:pt idx="28">
                  <c:v>0.4844</c:v>
                </c:pt>
                <c:pt idx="29">
                  <c:v>0.5312</c:v>
                </c:pt>
                <c:pt idx="30">
                  <c:v>0.5312</c:v>
                </c:pt>
                <c:pt idx="31">
                  <c:v>0.5625</c:v>
                </c:pt>
                <c:pt idx="32">
                  <c:v>0.5625</c:v>
                </c:pt>
                <c:pt idx="33">
                  <c:v>0.5938</c:v>
                </c:pt>
                <c:pt idx="34">
                  <c:v>0.5938</c:v>
                </c:pt>
                <c:pt idx="35">
                  <c:v>0.6094</c:v>
                </c:pt>
                <c:pt idx="36">
                  <c:v>0.6094</c:v>
                </c:pt>
                <c:pt idx="37">
                  <c:v>0.625</c:v>
                </c:pt>
                <c:pt idx="38">
                  <c:v>0.625</c:v>
                </c:pt>
                <c:pt idx="39">
                  <c:v>0.6406</c:v>
                </c:pt>
                <c:pt idx="40">
                  <c:v>0.6406</c:v>
                </c:pt>
                <c:pt idx="41">
                  <c:v>0.6719</c:v>
                </c:pt>
                <c:pt idx="42">
                  <c:v>0.6719</c:v>
                </c:pt>
                <c:pt idx="43">
                  <c:v>0.6875</c:v>
                </c:pt>
                <c:pt idx="44">
                  <c:v>0.6875</c:v>
                </c:pt>
                <c:pt idx="45">
                  <c:v>0.7188</c:v>
                </c:pt>
                <c:pt idx="46">
                  <c:v>0.7188</c:v>
                </c:pt>
                <c:pt idx="47">
                  <c:v>0.7344</c:v>
                </c:pt>
                <c:pt idx="48">
                  <c:v>0.7344</c:v>
                </c:pt>
                <c:pt idx="49">
                  <c:v>0.7656</c:v>
                </c:pt>
                <c:pt idx="50">
                  <c:v>0.7656</c:v>
                </c:pt>
                <c:pt idx="51">
                  <c:v>0.7812</c:v>
                </c:pt>
                <c:pt idx="52">
                  <c:v>0.7812</c:v>
                </c:pt>
                <c:pt idx="53">
                  <c:v>0.7969</c:v>
                </c:pt>
                <c:pt idx="54">
                  <c:v>0.7969</c:v>
                </c:pt>
                <c:pt idx="55">
                  <c:v>0.8125</c:v>
                </c:pt>
                <c:pt idx="56">
                  <c:v>0.8125</c:v>
                </c:pt>
                <c:pt idx="57">
                  <c:v>0.8281</c:v>
                </c:pt>
                <c:pt idx="58">
                  <c:v>0.8281</c:v>
                </c:pt>
                <c:pt idx="59">
                  <c:v>0.8438</c:v>
                </c:pt>
                <c:pt idx="60">
                  <c:v>0.8438</c:v>
                </c:pt>
                <c:pt idx="61">
                  <c:v>0.8594</c:v>
                </c:pt>
                <c:pt idx="62">
                  <c:v>0.8594</c:v>
                </c:pt>
                <c:pt idx="63">
                  <c:v>0.875</c:v>
                </c:pt>
                <c:pt idx="64">
                  <c:v>0.875</c:v>
                </c:pt>
                <c:pt idx="65">
                  <c:v>0.9062</c:v>
                </c:pt>
                <c:pt idx="66">
                  <c:v>0.9062</c:v>
                </c:pt>
                <c:pt idx="67">
                  <c:v>0.9219</c:v>
                </c:pt>
                <c:pt idx="68">
                  <c:v>0.9219</c:v>
                </c:pt>
                <c:pt idx="69">
                  <c:v>0.9375</c:v>
                </c:pt>
                <c:pt idx="70">
                  <c:v>0.9375</c:v>
                </c:pt>
                <c:pt idx="71">
                  <c:v>0.9531</c:v>
                </c:pt>
                <c:pt idx="72">
                  <c:v>0.9531</c:v>
                </c:pt>
                <c:pt idx="73">
                  <c:v>0.9688</c:v>
                </c:pt>
                <c:pt idx="74">
                  <c:v>0.9688</c:v>
                </c:pt>
                <c:pt idx="75">
                  <c:v>0.9844</c:v>
                </c:pt>
                <c:pt idx="76">
                  <c:v>0.9844</c:v>
                </c:pt>
                <c:pt idx="77">
                  <c:v>1.0</c:v>
                </c:pt>
                <c:pt idx="78">
                  <c:v>1.0</c:v>
                </c:pt>
              </c:numCache>
            </c:numRef>
          </c:yVal>
          <c:smooth val="0"/>
        </c:ser>
        <c:ser>
          <c:idx val="1"/>
          <c:order val="1"/>
          <c:tx>
            <c:strRef>
              <c:f>Sheet1!$B$82</c:f>
              <c:strCache>
                <c:ptCount val="1"/>
                <c:pt idx="0">
                  <c:v>Test</c:v>
                </c:pt>
              </c:strCache>
            </c:strRef>
          </c:tx>
          <c:spPr>
            <a:ln w="22225">
              <a:solidFill>
                <a:srgbClr val="C2477F"/>
              </a:solidFill>
            </a:ln>
          </c:spPr>
          <c:marker>
            <c:symbol val="none"/>
          </c:marker>
          <c:xVal>
            <c:numRef>
              <c:f>Sheet1!$A$83:$A$163</c:f>
              <c:numCache>
                <c:formatCode>General</c:formatCode>
                <c:ptCount val="81"/>
                <c:pt idx="0">
                  <c:v>0.0</c:v>
                </c:pt>
                <c:pt idx="1">
                  <c:v>0.0</c:v>
                </c:pt>
                <c:pt idx="2">
                  <c:v>0.0081</c:v>
                </c:pt>
                <c:pt idx="3">
                  <c:v>0.0081</c:v>
                </c:pt>
                <c:pt idx="4">
                  <c:v>0.0163</c:v>
                </c:pt>
                <c:pt idx="5">
                  <c:v>0.0163</c:v>
                </c:pt>
                <c:pt idx="6">
                  <c:v>0.0244</c:v>
                </c:pt>
                <c:pt idx="7">
                  <c:v>0.0244</c:v>
                </c:pt>
                <c:pt idx="8">
                  <c:v>0.0407</c:v>
                </c:pt>
                <c:pt idx="9">
                  <c:v>0.0407</c:v>
                </c:pt>
                <c:pt idx="10">
                  <c:v>0.0488</c:v>
                </c:pt>
                <c:pt idx="11">
                  <c:v>0.0488</c:v>
                </c:pt>
                <c:pt idx="12">
                  <c:v>0.065</c:v>
                </c:pt>
                <c:pt idx="13">
                  <c:v>0.065</c:v>
                </c:pt>
                <c:pt idx="14">
                  <c:v>0.0732</c:v>
                </c:pt>
                <c:pt idx="15">
                  <c:v>0.0732</c:v>
                </c:pt>
                <c:pt idx="16">
                  <c:v>0.0813</c:v>
                </c:pt>
                <c:pt idx="17">
                  <c:v>0.0813</c:v>
                </c:pt>
                <c:pt idx="18">
                  <c:v>0.1138</c:v>
                </c:pt>
                <c:pt idx="19">
                  <c:v>0.1138</c:v>
                </c:pt>
                <c:pt idx="20">
                  <c:v>0.1301</c:v>
                </c:pt>
                <c:pt idx="21">
                  <c:v>0.1301</c:v>
                </c:pt>
                <c:pt idx="22">
                  <c:v>0.1382</c:v>
                </c:pt>
                <c:pt idx="23">
                  <c:v>0.1382</c:v>
                </c:pt>
                <c:pt idx="24">
                  <c:v>0.2195</c:v>
                </c:pt>
                <c:pt idx="25">
                  <c:v>0.2195</c:v>
                </c:pt>
                <c:pt idx="26">
                  <c:v>0.252</c:v>
                </c:pt>
                <c:pt idx="27">
                  <c:v>0.252</c:v>
                </c:pt>
                <c:pt idx="28">
                  <c:v>0.2602</c:v>
                </c:pt>
                <c:pt idx="29">
                  <c:v>0.2602</c:v>
                </c:pt>
                <c:pt idx="30">
                  <c:v>0.3252</c:v>
                </c:pt>
                <c:pt idx="31">
                  <c:v>0.3252</c:v>
                </c:pt>
                <c:pt idx="32">
                  <c:v>0.3577</c:v>
                </c:pt>
                <c:pt idx="33">
                  <c:v>0.3577</c:v>
                </c:pt>
                <c:pt idx="34">
                  <c:v>0.3659</c:v>
                </c:pt>
                <c:pt idx="35">
                  <c:v>0.3659</c:v>
                </c:pt>
                <c:pt idx="36">
                  <c:v>0.4065</c:v>
                </c:pt>
                <c:pt idx="37">
                  <c:v>0.4065</c:v>
                </c:pt>
                <c:pt idx="38">
                  <c:v>0.4472</c:v>
                </c:pt>
                <c:pt idx="39">
                  <c:v>0.4472</c:v>
                </c:pt>
                <c:pt idx="40">
                  <c:v>0.4553</c:v>
                </c:pt>
                <c:pt idx="41">
                  <c:v>0.4553</c:v>
                </c:pt>
                <c:pt idx="42">
                  <c:v>0.4634</c:v>
                </c:pt>
                <c:pt idx="43">
                  <c:v>0.4634</c:v>
                </c:pt>
                <c:pt idx="44">
                  <c:v>0.4797</c:v>
                </c:pt>
                <c:pt idx="45">
                  <c:v>0.4797</c:v>
                </c:pt>
                <c:pt idx="46">
                  <c:v>0.4959</c:v>
                </c:pt>
                <c:pt idx="47">
                  <c:v>0.4959</c:v>
                </c:pt>
                <c:pt idx="48">
                  <c:v>0.5366</c:v>
                </c:pt>
                <c:pt idx="49">
                  <c:v>0.5366</c:v>
                </c:pt>
                <c:pt idx="50">
                  <c:v>0.561</c:v>
                </c:pt>
                <c:pt idx="51">
                  <c:v>0.561</c:v>
                </c:pt>
                <c:pt idx="52">
                  <c:v>0.5691</c:v>
                </c:pt>
                <c:pt idx="53">
                  <c:v>0.5691</c:v>
                </c:pt>
                <c:pt idx="54">
                  <c:v>0.6504</c:v>
                </c:pt>
                <c:pt idx="55">
                  <c:v>0.6504</c:v>
                </c:pt>
                <c:pt idx="56">
                  <c:v>0.6829</c:v>
                </c:pt>
                <c:pt idx="57">
                  <c:v>0.6829</c:v>
                </c:pt>
                <c:pt idx="58">
                  <c:v>0.6992</c:v>
                </c:pt>
                <c:pt idx="59">
                  <c:v>0.6992</c:v>
                </c:pt>
                <c:pt idx="60">
                  <c:v>0.7073</c:v>
                </c:pt>
                <c:pt idx="61">
                  <c:v>0.7073</c:v>
                </c:pt>
                <c:pt idx="62">
                  <c:v>0.7236</c:v>
                </c:pt>
                <c:pt idx="63">
                  <c:v>0.7236</c:v>
                </c:pt>
                <c:pt idx="64">
                  <c:v>0.7561</c:v>
                </c:pt>
                <c:pt idx="65">
                  <c:v>0.7561</c:v>
                </c:pt>
                <c:pt idx="66">
                  <c:v>0.7886</c:v>
                </c:pt>
                <c:pt idx="67">
                  <c:v>0.7886</c:v>
                </c:pt>
                <c:pt idx="68">
                  <c:v>0.7967</c:v>
                </c:pt>
                <c:pt idx="69">
                  <c:v>0.7967</c:v>
                </c:pt>
                <c:pt idx="70">
                  <c:v>0.8537</c:v>
                </c:pt>
                <c:pt idx="71">
                  <c:v>0.8537</c:v>
                </c:pt>
                <c:pt idx="72">
                  <c:v>0.8862</c:v>
                </c:pt>
                <c:pt idx="73">
                  <c:v>0.8862</c:v>
                </c:pt>
                <c:pt idx="74">
                  <c:v>0.9024</c:v>
                </c:pt>
                <c:pt idx="75">
                  <c:v>0.9024</c:v>
                </c:pt>
                <c:pt idx="76">
                  <c:v>0.9106</c:v>
                </c:pt>
                <c:pt idx="77">
                  <c:v>0.9106</c:v>
                </c:pt>
                <c:pt idx="78">
                  <c:v>0.935</c:v>
                </c:pt>
                <c:pt idx="79">
                  <c:v>0.935</c:v>
                </c:pt>
                <c:pt idx="80">
                  <c:v>1.0</c:v>
                </c:pt>
              </c:numCache>
            </c:numRef>
          </c:xVal>
          <c:yVal>
            <c:numRef>
              <c:f>Sheet1!$B$83:$B$163</c:f>
              <c:numCache>
                <c:formatCode>General</c:formatCode>
                <c:ptCount val="81"/>
                <c:pt idx="0">
                  <c:v>0.0</c:v>
                </c:pt>
                <c:pt idx="1">
                  <c:v>0.0189</c:v>
                </c:pt>
                <c:pt idx="2">
                  <c:v>0.0189</c:v>
                </c:pt>
                <c:pt idx="3">
                  <c:v>0.0755</c:v>
                </c:pt>
                <c:pt idx="4">
                  <c:v>0.0755</c:v>
                </c:pt>
                <c:pt idx="5">
                  <c:v>0.0943</c:v>
                </c:pt>
                <c:pt idx="6">
                  <c:v>0.0943</c:v>
                </c:pt>
                <c:pt idx="7">
                  <c:v>0.1132</c:v>
                </c:pt>
                <c:pt idx="8">
                  <c:v>0.1132</c:v>
                </c:pt>
                <c:pt idx="9">
                  <c:v>0.1321</c:v>
                </c:pt>
                <c:pt idx="10">
                  <c:v>0.1321</c:v>
                </c:pt>
                <c:pt idx="11">
                  <c:v>0.1509</c:v>
                </c:pt>
                <c:pt idx="12">
                  <c:v>0.1509</c:v>
                </c:pt>
                <c:pt idx="13">
                  <c:v>0.1698</c:v>
                </c:pt>
                <c:pt idx="14">
                  <c:v>0.1698</c:v>
                </c:pt>
                <c:pt idx="15">
                  <c:v>0.2075</c:v>
                </c:pt>
                <c:pt idx="16">
                  <c:v>0.2075</c:v>
                </c:pt>
                <c:pt idx="17">
                  <c:v>0.2264</c:v>
                </c:pt>
                <c:pt idx="18">
                  <c:v>0.2264</c:v>
                </c:pt>
                <c:pt idx="19">
                  <c:v>0.2453</c:v>
                </c:pt>
                <c:pt idx="20">
                  <c:v>0.2453</c:v>
                </c:pt>
                <c:pt idx="21">
                  <c:v>0.283</c:v>
                </c:pt>
                <c:pt idx="22">
                  <c:v>0.283</c:v>
                </c:pt>
                <c:pt idx="23">
                  <c:v>0.3019</c:v>
                </c:pt>
                <c:pt idx="24">
                  <c:v>0.3019</c:v>
                </c:pt>
                <c:pt idx="25">
                  <c:v>0.3208</c:v>
                </c:pt>
                <c:pt idx="26">
                  <c:v>0.3208</c:v>
                </c:pt>
                <c:pt idx="27">
                  <c:v>0.3962</c:v>
                </c:pt>
                <c:pt idx="28">
                  <c:v>0.3962</c:v>
                </c:pt>
                <c:pt idx="29">
                  <c:v>0.4151</c:v>
                </c:pt>
                <c:pt idx="30">
                  <c:v>0.4151</c:v>
                </c:pt>
                <c:pt idx="31">
                  <c:v>0.434</c:v>
                </c:pt>
                <c:pt idx="32">
                  <c:v>0.434</c:v>
                </c:pt>
                <c:pt idx="33">
                  <c:v>0.4528</c:v>
                </c:pt>
                <c:pt idx="34">
                  <c:v>0.4528</c:v>
                </c:pt>
                <c:pt idx="35">
                  <c:v>0.4906</c:v>
                </c:pt>
                <c:pt idx="36">
                  <c:v>0.4906</c:v>
                </c:pt>
                <c:pt idx="37">
                  <c:v>0.5094</c:v>
                </c:pt>
                <c:pt idx="38">
                  <c:v>0.5094</c:v>
                </c:pt>
                <c:pt idx="39">
                  <c:v>0.5283</c:v>
                </c:pt>
                <c:pt idx="40">
                  <c:v>0.5283</c:v>
                </c:pt>
                <c:pt idx="41">
                  <c:v>0.5472</c:v>
                </c:pt>
                <c:pt idx="42">
                  <c:v>0.5472</c:v>
                </c:pt>
                <c:pt idx="43">
                  <c:v>0.566</c:v>
                </c:pt>
                <c:pt idx="44">
                  <c:v>0.566</c:v>
                </c:pt>
                <c:pt idx="45">
                  <c:v>0.5849</c:v>
                </c:pt>
                <c:pt idx="46">
                  <c:v>0.5849</c:v>
                </c:pt>
                <c:pt idx="47">
                  <c:v>0.6038</c:v>
                </c:pt>
                <c:pt idx="48">
                  <c:v>0.6038</c:v>
                </c:pt>
                <c:pt idx="49">
                  <c:v>0.6415</c:v>
                </c:pt>
                <c:pt idx="50">
                  <c:v>0.6415</c:v>
                </c:pt>
                <c:pt idx="51">
                  <c:v>0.6604</c:v>
                </c:pt>
                <c:pt idx="52">
                  <c:v>0.6604</c:v>
                </c:pt>
                <c:pt idx="53">
                  <c:v>0.6792</c:v>
                </c:pt>
                <c:pt idx="54">
                  <c:v>0.6792</c:v>
                </c:pt>
                <c:pt idx="55">
                  <c:v>0.6981</c:v>
                </c:pt>
                <c:pt idx="56">
                  <c:v>0.6981</c:v>
                </c:pt>
                <c:pt idx="57">
                  <c:v>0.717</c:v>
                </c:pt>
                <c:pt idx="58">
                  <c:v>0.717</c:v>
                </c:pt>
                <c:pt idx="59">
                  <c:v>0.7358</c:v>
                </c:pt>
                <c:pt idx="60">
                  <c:v>0.7358</c:v>
                </c:pt>
                <c:pt idx="61">
                  <c:v>0.7547</c:v>
                </c:pt>
                <c:pt idx="62">
                  <c:v>0.7547</c:v>
                </c:pt>
                <c:pt idx="63">
                  <c:v>0.7736</c:v>
                </c:pt>
                <c:pt idx="64">
                  <c:v>0.7736</c:v>
                </c:pt>
                <c:pt idx="65">
                  <c:v>0.8113</c:v>
                </c:pt>
                <c:pt idx="66">
                  <c:v>0.8113</c:v>
                </c:pt>
                <c:pt idx="67">
                  <c:v>0.8302</c:v>
                </c:pt>
                <c:pt idx="68">
                  <c:v>0.8302</c:v>
                </c:pt>
                <c:pt idx="69">
                  <c:v>0.8491</c:v>
                </c:pt>
                <c:pt idx="70">
                  <c:v>0.8491</c:v>
                </c:pt>
                <c:pt idx="71">
                  <c:v>0.8679</c:v>
                </c:pt>
                <c:pt idx="72">
                  <c:v>0.8679</c:v>
                </c:pt>
                <c:pt idx="73">
                  <c:v>0.8868</c:v>
                </c:pt>
                <c:pt idx="74">
                  <c:v>0.8868</c:v>
                </c:pt>
                <c:pt idx="75">
                  <c:v>0.9057</c:v>
                </c:pt>
                <c:pt idx="76">
                  <c:v>0.9057</c:v>
                </c:pt>
                <c:pt idx="77">
                  <c:v>0.9434</c:v>
                </c:pt>
                <c:pt idx="78">
                  <c:v>0.9434</c:v>
                </c:pt>
                <c:pt idx="79">
                  <c:v>1.0</c:v>
                </c:pt>
                <c:pt idx="80">
                  <c:v>1.0</c:v>
                </c:pt>
              </c:numCache>
            </c:numRef>
          </c:yVal>
          <c:smooth val="0"/>
        </c:ser>
        <c:ser>
          <c:idx val="2"/>
          <c:order val="2"/>
          <c:tx>
            <c:strRef>
              <c:f>Sheet1!$B$165</c:f>
              <c:strCache>
                <c:ptCount val="1"/>
                <c:pt idx="0">
                  <c:v>Azar</c:v>
                </c:pt>
              </c:strCache>
            </c:strRef>
          </c:tx>
          <c:spPr>
            <a:ln w="12700">
              <a:solidFill>
                <a:srgbClr val="6E7984"/>
              </a:solidFill>
              <a:prstDash val="dash"/>
            </a:ln>
          </c:spPr>
          <c:marker>
            <c:symbol val="none"/>
          </c:marker>
          <c:xVal>
            <c:numRef>
              <c:f>Sheet1!$A$166:$A$167</c:f>
              <c:numCache>
                <c:formatCode>General</c:formatCode>
                <c:ptCount val="2"/>
                <c:pt idx="0">
                  <c:v>0</c:v>
                </c:pt>
                <c:pt idx="1">
                  <c:v>1</c:v>
                </c:pt>
              </c:numCache>
            </c:numRef>
          </c:xVal>
          <c:yVal>
            <c:numRef>
              <c:f>Sheet1!$B$166:$B$167</c:f>
              <c:numCache>
                <c:formatCode>General</c:formatCode>
                <c:ptCount val="2"/>
                <c:pt idx="0">
                  <c:v>0</c:v>
                </c:pt>
                <c:pt idx="1">
                  <c:v>1</c:v>
                </c:pt>
              </c:numCache>
            </c:numRef>
          </c:yVal>
          <c:smooth val="0"/>
        </c:ser>
        <c:axId val="-2128940872"/>
        <c:axId val="-2129643912"/>
      </c:scatterChart>
      <c:valAx>
        <c:axId val="-2128940872"/>
        <c:scaling>
          <c:orientation val="minMax"/>
          <c:max val="1.0"/>
          <c:min val="0.0"/>
        </c:scaling>
        <c:delete val="0"/>
        <c:axPos val="b"/>
        <c:numFmt formatCode="0.0" sourceLinked="0"/>
        <c:majorTickMark val="out"/>
        <c:minorTickMark val="none"/>
        <c:tickLblPos val="nextTo"/>
        <c:spPr>
          <a:ln>
            <a:solidFill>
              <a:srgbClr val="C9D1DA"/>
            </a:solidFill>
          </a:ln>
        </c:spPr>
        <c:crossAx val="-2129643912"/>
        <c:crosses val="autoZero"/>
        <c:crossBetween val="midCat"/>
        <c:majorUnit val="0.5"/>
      </c:valAx>
      <c:valAx>
        <c:axId val="-2129643912"/>
        <c:scaling>
          <c:orientation val="minMax"/>
          <c:max val="1.0"/>
          <c:min val="0.0"/>
        </c:scaling>
        <c:delete val="0"/>
        <c:axPos val="l"/>
        <c:numFmt formatCode="0.0" sourceLinked="0"/>
        <c:majorTickMark val="out"/>
        <c:minorTickMark val="none"/>
        <c:tickLblPos val="nextTo"/>
        <c:spPr>
          <a:ln>
            <a:solidFill>
              <a:srgbClr val="C9D1DA"/>
            </a:solidFill>
          </a:ln>
        </c:spPr>
        <c:crossAx val="-2128940872"/>
        <c:crosses val="autoZero"/>
        <c:crossBetween val="midCat"/>
        <c:majorUnit val="0.5"/>
      </c:valAx>
    </c:plotArea>
    <c:plotVisOnly val="1"/>
    <c:dispBlanksAs val="gap"/>
    <c:showDLblsOverMax val="0"/>
  </c:chart>
  <c:txPr>
    <a:bodyPr/>
    <a:lstStyle/>
    <a:p>
      <a:pPr>
        <a:defRPr sz="1000">
          <a:solidFill>
            <a:srgbClr val="6E7984"/>
          </a:solidFill>
          <a:latin typeface="Arial"/>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chart>
    <c:title>
      <c:tx>
        <c:rich>
          <a:bodyPr/>
          <a:lstStyle/>
          <a:p>
            <a:r>
              <a:rPr sz="1100" b="1">
                <a:solidFill>
                  <a:srgbClr val="16202B"/>
                </a:solidFill>
              </a:rPr>
              <a:t>Precisión-recall</a:t>
            </a:r>
          </a:p>
        </c:rich>
      </c:tx>
      <c:layout/>
      <c:overlay val="0"/>
    </c:title>
    <c:plotArea>
      <c:scatterChart>
        <c:scatterStyle val="lineMarker"/>
        <c:varyColors val="0"/>
        <c:ser>
          <c:idx val="0"/>
          <c:order val="0"/>
          <c:tx>
            <c:strRef>
              <c:f>Sheet1!$B$1</c:f>
              <c:strCache>
                <c:ptCount val="1"/>
                <c:pt idx="0">
                  <c:v>Validación</c:v>
                </c:pt>
              </c:strCache>
            </c:strRef>
          </c:tx>
          <c:spPr>
            <a:ln w="19050">
              <a:solidFill>
                <a:srgbClr val="C8742E"/>
              </a:solidFill>
            </a:ln>
          </c:spPr>
          <c:marker>
            <c:symbol val="none"/>
          </c:marker>
          <c:xVal>
            <c:numRef>
              <c:f>Sheet1!$A$2:$A$120</c:f>
              <c:numCache>
                <c:formatCode>General</c:formatCode>
                <c:ptCount val="119"/>
                <c:pt idx="0">
                  <c:v>0.0</c:v>
                </c:pt>
                <c:pt idx="1">
                  <c:v>0.0156</c:v>
                </c:pt>
                <c:pt idx="2">
                  <c:v>0.0312</c:v>
                </c:pt>
                <c:pt idx="3">
                  <c:v>0.0312</c:v>
                </c:pt>
                <c:pt idx="4">
                  <c:v>0.0469</c:v>
                </c:pt>
                <c:pt idx="5">
                  <c:v>0.0625</c:v>
                </c:pt>
                <c:pt idx="6">
                  <c:v>0.0938</c:v>
                </c:pt>
                <c:pt idx="7">
                  <c:v>0.1094</c:v>
                </c:pt>
                <c:pt idx="8">
                  <c:v>0.1406</c:v>
                </c:pt>
                <c:pt idx="9">
                  <c:v>0.1562</c:v>
                </c:pt>
                <c:pt idx="10">
                  <c:v>0.1875</c:v>
                </c:pt>
                <c:pt idx="11">
                  <c:v>0.2031</c:v>
                </c:pt>
                <c:pt idx="12">
                  <c:v>0.2031</c:v>
                </c:pt>
                <c:pt idx="13">
                  <c:v>0.2031</c:v>
                </c:pt>
                <c:pt idx="14">
                  <c:v>0.2031</c:v>
                </c:pt>
                <c:pt idx="15">
                  <c:v>0.2031</c:v>
                </c:pt>
                <c:pt idx="16">
                  <c:v>0.2031</c:v>
                </c:pt>
                <c:pt idx="17">
                  <c:v>0.2188</c:v>
                </c:pt>
                <c:pt idx="18">
                  <c:v>0.2344</c:v>
                </c:pt>
                <c:pt idx="19">
                  <c:v>0.25</c:v>
                </c:pt>
                <c:pt idx="20">
                  <c:v>0.2656</c:v>
                </c:pt>
                <c:pt idx="21">
                  <c:v>0.2656</c:v>
                </c:pt>
                <c:pt idx="22">
                  <c:v>0.2656</c:v>
                </c:pt>
                <c:pt idx="23">
                  <c:v>0.2969</c:v>
                </c:pt>
                <c:pt idx="24">
                  <c:v>0.2969</c:v>
                </c:pt>
                <c:pt idx="25">
                  <c:v>0.3281</c:v>
                </c:pt>
                <c:pt idx="26">
                  <c:v>0.3594</c:v>
                </c:pt>
                <c:pt idx="27">
                  <c:v>0.375</c:v>
                </c:pt>
                <c:pt idx="28">
                  <c:v>0.3906</c:v>
                </c:pt>
                <c:pt idx="29">
                  <c:v>0.4219</c:v>
                </c:pt>
                <c:pt idx="30">
                  <c:v>0.4531</c:v>
                </c:pt>
                <c:pt idx="31">
                  <c:v>0.4531</c:v>
                </c:pt>
                <c:pt idx="32">
                  <c:v>0.4688</c:v>
                </c:pt>
                <c:pt idx="33">
                  <c:v>0.4688</c:v>
                </c:pt>
                <c:pt idx="34">
                  <c:v>0.4688</c:v>
                </c:pt>
                <c:pt idx="35">
                  <c:v>0.4688</c:v>
                </c:pt>
                <c:pt idx="36">
                  <c:v>0.4688</c:v>
                </c:pt>
                <c:pt idx="37">
                  <c:v>0.4844</c:v>
                </c:pt>
                <c:pt idx="38">
                  <c:v>0.4844</c:v>
                </c:pt>
                <c:pt idx="39">
                  <c:v>0.4844</c:v>
                </c:pt>
                <c:pt idx="40">
                  <c:v>0.4844</c:v>
                </c:pt>
                <c:pt idx="41">
                  <c:v>0.5</c:v>
                </c:pt>
                <c:pt idx="42">
                  <c:v>0.5312</c:v>
                </c:pt>
                <c:pt idx="43">
                  <c:v>0.5469</c:v>
                </c:pt>
                <c:pt idx="44">
                  <c:v>0.5625</c:v>
                </c:pt>
                <c:pt idx="45">
                  <c:v>0.5625</c:v>
                </c:pt>
                <c:pt idx="46">
                  <c:v>0.5625</c:v>
                </c:pt>
                <c:pt idx="47">
                  <c:v>0.5781</c:v>
                </c:pt>
                <c:pt idx="48">
                  <c:v>0.5938</c:v>
                </c:pt>
                <c:pt idx="49">
                  <c:v>0.6094</c:v>
                </c:pt>
                <c:pt idx="50">
                  <c:v>0.6094</c:v>
                </c:pt>
                <c:pt idx="51">
                  <c:v>0.6094</c:v>
                </c:pt>
                <c:pt idx="52">
                  <c:v>0.625</c:v>
                </c:pt>
                <c:pt idx="53">
                  <c:v>0.625</c:v>
                </c:pt>
                <c:pt idx="54">
                  <c:v>0.6406</c:v>
                </c:pt>
                <c:pt idx="55">
                  <c:v>0.6406</c:v>
                </c:pt>
                <c:pt idx="56">
                  <c:v>0.6719</c:v>
                </c:pt>
                <c:pt idx="57">
                  <c:v>0.6875</c:v>
                </c:pt>
                <c:pt idx="58">
                  <c:v>0.6875</c:v>
                </c:pt>
                <c:pt idx="59">
                  <c:v>0.7031</c:v>
                </c:pt>
                <c:pt idx="60">
                  <c:v>0.7188</c:v>
                </c:pt>
                <c:pt idx="61">
                  <c:v>0.7344</c:v>
                </c:pt>
                <c:pt idx="62">
                  <c:v>0.7344</c:v>
                </c:pt>
                <c:pt idx="63">
                  <c:v>0.7344</c:v>
                </c:pt>
                <c:pt idx="64">
                  <c:v>0.7344</c:v>
                </c:pt>
                <c:pt idx="65">
                  <c:v>0.7344</c:v>
                </c:pt>
                <c:pt idx="66">
                  <c:v>0.7344</c:v>
                </c:pt>
                <c:pt idx="67">
                  <c:v>0.75</c:v>
                </c:pt>
                <c:pt idx="68">
                  <c:v>0.7656</c:v>
                </c:pt>
                <c:pt idx="69">
                  <c:v>0.7812</c:v>
                </c:pt>
                <c:pt idx="70">
                  <c:v>0.7969</c:v>
                </c:pt>
                <c:pt idx="71">
                  <c:v>0.7969</c:v>
                </c:pt>
                <c:pt idx="72">
                  <c:v>0.7969</c:v>
                </c:pt>
                <c:pt idx="73">
                  <c:v>0.7969</c:v>
                </c:pt>
                <c:pt idx="74">
                  <c:v>0.7969</c:v>
                </c:pt>
                <c:pt idx="75">
                  <c:v>0.7969</c:v>
                </c:pt>
                <c:pt idx="76">
                  <c:v>0.7969</c:v>
                </c:pt>
                <c:pt idx="77">
                  <c:v>0.8125</c:v>
                </c:pt>
                <c:pt idx="78">
                  <c:v>0.8125</c:v>
                </c:pt>
                <c:pt idx="79">
                  <c:v>0.8125</c:v>
                </c:pt>
                <c:pt idx="80">
                  <c:v>0.8281</c:v>
                </c:pt>
                <c:pt idx="81">
                  <c:v>0.8438</c:v>
                </c:pt>
                <c:pt idx="82">
                  <c:v>0.8438</c:v>
                </c:pt>
                <c:pt idx="83">
                  <c:v>0.8438</c:v>
                </c:pt>
                <c:pt idx="84">
                  <c:v>0.8438</c:v>
                </c:pt>
                <c:pt idx="85">
                  <c:v>0.8594</c:v>
                </c:pt>
                <c:pt idx="86">
                  <c:v>0.875</c:v>
                </c:pt>
                <c:pt idx="87">
                  <c:v>0.875</c:v>
                </c:pt>
                <c:pt idx="88">
                  <c:v>0.875</c:v>
                </c:pt>
                <c:pt idx="89">
                  <c:v>0.8906</c:v>
                </c:pt>
                <c:pt idx="90">
                  <c:v>0.9062</c:v>
                </c:pt>
                <c:pt idx="91">
                  <c:v>0.9062</c:v>
                </c:pt>
                <c:pt idx="92">
                  <c:v>0.9062</c:v>
                </c:pt>
                <c:pt idx="93">
                  <c:v>0.9219</c:v>
                </c:pt>
                <c:pt idx="94">
                  <c:v>0.9219</c:v>
                </c:pt>
                <c:pt idx="95">
                  <c:v>0.9219</c:v>
                </c:pt>
                <c:pt idx="96">
                  <c:v>0.9219</c:v>
                </c:pt>
                <c:pt idx="97">
                  <c:v>0.9375</c:v>
                </c:pt>
                <c:pt idx="98">
                  <c:v>0.9375</c:v>
                </c:pt>
                <c:pt idx="99">
                  <c:v>0.9375</c:v>
                </c:pt>
                <c:pt idx="100">
                  <c:v>0.9375</c:v>
                </c:pt>
                <c:pt idx="101">
                  <c:v>0.9375</c:v>
                </c:pt>
                <c:pt idx="102">
                  <c:v>0.9375</c:v>
                </c:pt>
                <c:pt idx="103">
                  <c:v>0.9375</c:v>
                </c:pt>
                <c:pt idx="104">
                  <c:v>0.9375</c:v>
                </c:pt>
                <c:pt idx="105">
                  <c:v>0.9375</c:v>
                </c:pt>
                <c:pt idx="106">
                  <c:v>0.9375</c:v>
                </c:pt>
                <c:pt idx="107">
                  <c:v>0.9531</c:v>
                </c:pt>
                <c:pt idx="108">
                  <c:v>0.9531</c:v>
                </c:pt>
                <c:pt idx="109">
                  <c:v>0.9531</c:v>
                </c:pt>
                <c:pt idx="110">
                  <c:v>0.9688</c:v>
                </c:pt>
                <c:pt idx="111">
                  <c:v>0.9688</c:v>
                </c:pt>
                <c:pt idx="112">
                  <c:v>0.9688</c:v>
                </c:pt>
                <c:pt idx="113">
                  <c:v>0.9844</c:v>
                </c:pt>
                <c:pt idx="114">
                  <c:v>0.9844</c:v>
                </c:pt>
                <c:pt idx="115">
                  <c:v>0.9844</c:v>
                </c:pt>
                <c:pt idx="116">
                  <c:v>1.0</c:v>
                </c:pt>
                <c:pt idx="117">
                  <c:v>1.0</c:v>
                </c:pt>
                <c:pt idx="118">
                  <c:v>1.0</c:v>
                </c:pt>
              </c:numCache>
            </c:numRef>
          </c:xVal>
          <c:yVal>
            <c:numRef>
              <c:f>Sheet1!$B$2:$B$120</c:f>
              <c:numCache>
                <c:formatCode>General</c:formatCode>
                <c:ptCount val="119"/>
                <c:pt idx="0">
                  <c:v>0.0</c:v>
                </c:pt>
                <c:pt idx="1">
                  <c:v>0.25</c:v>
                </c:pt>
                <c:pt idx="2">
                  <c:v>0.3333</c:v>
                </c:pt>
                <c:pt idx="3">
                  <c:v>0.2857</c:v>
                </c:pt>
                <c:pt idx="4">
                  <c:v>0.3333</c:v>
                </c:pt>
                <c:pt idx="5">
                  <c:v>0.3636</c:v>
                </c:pt>
                <c:pt idx="6">
                  <c:v>0.4615</c:v>
                </c:pt>
                <c:pt idx="7">
                  <c:v>0.4667</c:v>
                </c:pt>
                <c:pt idx="8">
                  <c:v>0.5294</c:v>
                </c:pt>
                <c:pt idx="9">
                  <c:v>0.5556</c:v>
                </c:pt>
                <c:pt idx="10">
                  <c:v>0.6</c:v>
                </c:pt>
                <c:pt idx="11">
                  <c:v>0.4815</c:v>
                </c:pt>
                <c:pt idx="12">
                  <c:v>0.5</c:v>
                </c:pt>
                <c:pt idx="13">
                  <c:v>0.5417</c:v>
                </c:pt>
                <c:pt idx="14">
                  <c:v>0.619</c:v>
                </c:pt>
                <c:pt idx="15">
                  <c:v>0.4483</c:v>
                </c:pt>
                <c:pt idx="16">
                  <c:v>0.5909</c:v>
                </c:pt>
                <c:pt idx="17">
                  <c:v>0.4242</c:v>
                </c:pt>
                <c:pt idx="18">
                  <c:v>0.4286</c:v>
                </c:pt>
                <c:pt idx="19">
                  <c:v>0.4324</c:v>
                </c:pt>
                <c:pt idx="20">
                  <c:v>0.4474</c:v>
                </c:pt>
                <c:pt idx="21">
                  <c:v>0.4359</c:v>
                </c:pt>
                <c:pt idx="22">
                  <c:v>0.4048</c:v>
                </c:pt>
                <c:pt idx="23">
                  <c:v>0.4222</c:v>
                </c:pt>
                <c:pt idx="24">
                  <c:v>0.4318</c:v>
                </c:pt>
                <c:pt idx="25">
                  <c:v>0.4375</c:v>
                </c:pt>
                <c:pt idx="26">
                  <c:v>0.46</c:v>
                </c:pt>
                <c:pt idx="27">
                  <c:v>0.4615</c:v>
                </c:pt>
                <c:pt idx="28">
                  <c:v>0.4717</c:v>
                </c:pt>
                <c:pt idx="29">
                  <c:v>0.4909</c:v>
                </c:pt>
                <c:pt idx="30">
                  <c:v>0.4833</c:v>
                </c:pt>
                <c:pt idx="31">
                  <c:v>0.5</c:v>
                </c:pt>
                <c:pt idx="32">
                  <c:v>0.4839</c:v>
                </c:pt>
                <c:pt idx="33">
                  <c:v>0.4688</c:v>
                </c:pt>
                <c:pt idx="34">
                  <c:v>0.4615</c:v>
                </c:pt>
                <c:pt idx="35">
                  <c:v>0.4478</c:v>
                </c:pt>
                <c:pt idx="36">
                  <c:v>0.4918</c:v>
                </c:pt>
                <c:pt idx="37">
                  <c:v>0.4133</c:v>
                </c:pt>
                <c:pt idx="38">
                  <c:v>0.4247</c:v>
                </c:pt>
                <c:pt idx="39">
                  <c:v>0.4429</c:v>
                </c:pt>
                <c:pt idx="40">
                  <c:v>0.4493</c:v>
                </c:pt>
                <c:pt idx="41">
                  <c:v>0.4156</c:v>
                </c:pt>
                <c:pt idx="42">
                  <c:v>0.4304</c:v>
                </c:pt>
                <c:pt idx="43">
                  <c:v>0.4321</c:v>
                </c:pt>
                <c:pt idx="44">
                  <c:v>0.4186</c:v>
                </c:pt>
                <c:pt idx="45">
                  <c:v>0.4337</c:v>
                </c:pt>
                <c:pt idx="46">
                  <c:v>0.439</c:v>
                </c:pt>
                <c:pt idx="47">
                  <c:v>0.4205</c:v>
                </c:pt>
                <c:pt idx="48">
                  <c:v>0.4222</c:v>
                </c:pt>
                <c:pt idx="49">
                  <c:v>0.4239</c:v>
                </c:pt>
                <c:pt idx="50">
                  <c:v>0.4149</c:v>
                </c:pt>
                <c:pt idx="51">
                  <c:v>0.4062</c:v>
                </c:pt>
                <c:pt idx="52">
                  <c:v>0.4082</c:v>
                </c:pt>
                <c:pt idx="53">
                  <c:v>0.4124</c:v>
                </c:pt>
                <c:pt idx="54">
                  <c:v>0.4059</c:v>
                </c:pt>
                <c:pt idx="55">
                  <c:v>0.3981</c:v>
                </c:pt>
                <c:pt idx="56">
                  <c:v>0.4095</c:v>
                </c:pt>
                <c:pt idx="57">
                  <c:v>0.4112</c:v>
                </c:pt>
                <c:pt idx="58">
                  <c:v>0.4037</c:v>
                </c:pt>
                <c:pt idx="59">
                  <c:v>0.4091</c:v>
                </c:pt>
                <c:pt idx="60">
                  <c:v>0.4144</c:v>
                </c:pt>
                <c:pt idx="61">
                  <c:v>0.4123</c:v>
                </c:pt>
                <c:pt idx="62">
                  <c:v>0.3852</c:v>
                </c:pt>
                <c:pt idx="63">
                  <c:v>0.3917</c:v>
                </c:pt>
                <c:pt idx="64">
                  <c:v>0.3983</c:v>
                </c:pt>
                <c:pt idx="65">
                  <c:v>0.4017</c:v>
                </c:pt>
                <c:pt idx="66">
                  <c:v>0.4087</c:v>
                </c:pt>
                <c:pt idx="67">
                  <c:v>0.384</c:v>
                </c:pt>
                <c:pt idx="68">
                  <c:v>0.3858</c:v>
                </c:pt>
                <c:pt idx="69">
                  <c:v>0.3876</c:v>
                </c:pt>
                <c:pt idx="70">
                  <c:v>0.3566</c:v>
                </c:pt>
                <c:pt idx="71">
                  <c:v>0.3617</c:v>
                </c:pt>
                <c:pt idx="72">
                  <c:v>0.3723</c:v>
                </c:pt>
                <c:pt idx="73">
                  <c:v>0.3778</c:v>
                </c:pt>
                <c:pt idx="74">
                  <c:v>0.3923</c:v>
                </c:pt>
                <c:pt idx="75">
                  <c:v>0.3669</c:v>
                </c:pt>
                <c:pt idx="76">
                  <c:v>0.3806</c:v>
                </c:pt>
                <c:pt idx="77">
                  <c:v>0.3611</c:v>
                </c:pt>
                <c:pt idx="78">
                  <c:v>0.3586</c:v>
                </c:pt>
                <c:pt idx="79">
                  <c:v>0.3537</c:v>
                </c:pt>
                <c:pt idx="80">
                  <c:v>0.3557</c:v>
                </c:pt>
                <c:pt idx="81">
                  <c:v>0.3462</c:v>
                </c:pt>
                <c:pt idx="82">
                  <c:v>0.3506</c:v>
                </c:pt>
                <c:pt idx="83">
                  <c:v>0.3529</c:v>
                </c:pt>
                <c:pt idx="84">
                  <c:v>0.3576</c:v>
                </c:pt>
                <c:pt idx="85">
                  <c:v>0.3481</c:v>
                </c:pt>
                <c:pt idx="86">
                  <c:v>0.3522</c:v>
                </c:pt>
                <c:pt idx="87">
                  <c:v>0.3478</c:v>
                </c:pt>
                <c:pt idx="88">
                  <c:v>0.3436</c:v>
                </c:pt>
                <c:pt idx="89">
                  <c:v>0.3434</c:v>
                </c:pt>
                <c:pt idx="90">
                  <c:v>0.3452</c:v>
                </c:pt>
                <c:pt idx="91">
                  <c:v>0.3412</c:v>
                </c:pt>
                <c:pt idx="92">
                  <c:v>0.3473</c:v>
                </c:pt>
                <c:pt idx="93">
                  <c:v>0.3333</c:v>
                </c:pt>
                <c:pt idx="94">
                  <c:v>0.3315</c:v>
                </c:pt>
                <c:pt idx="95">
                  <c:v>0.341</c:v>
                </c:pt>
                <c:pt idx="96">
                  <c:v>0.3371</c:v>
                </c:pt>
                <c:pt idx="97">
                  <c:v>0.3141</c:v>
                </c:pt>
                <c:pt idx="98">
                  <c:v>0.3046</c:v>
                </c:pt>
                <c:pt idx="99">
                  <c:v>0.3077</c:v>
                </c:pt>
                <c:pt idx="100">
                  <c:v>0.3125</c:v>
                </c:pt>
                <c:pt idx="101">
                  <c:v>0.3093</c:v>
                </c:pt>
                <c:pt idx="102">
                  <c:v>0.3175</c:v>
                </c:pt>
                <c:pt idx="103">
                  <c:v>0.3315</c:v>
                </c:pt>
                <c:pt idx="104">
                  <c:v>0.3279</c:v>
                </c:pt>
                <c:pt idx="105">
                  <c:v>0.3243</c:v>
                </c:pt>
                <c:pt idx="106">
                  <c:v>0.3209</c:v>
                </c:pt>
                <c:pt idx="107">
                  <c:v>0.3065</c:v>
                </c:pt>
                <c:pt idx="108">
                  <c:v>0.3035</c:v>
                </c:pt>
                <c:pt idx="109">
                  <c:v>0.302</c:v>
                </c:pt>
                <c:pt idx="110">
                  <c:v>0.2981</c:v>
                </c:pt>
                <c:pt idx="111">
                  <c:v>0.3024</c:v>
                </c:pt>
                <c:pt idx="112">
                  <c:v>0.301</c:v>
                </c:pt>
                <c:pt idx="113">
                  <c:v>0.3</c:v>
                </c:pt>
                <c:pt idx="114">
                  <c:v>0.2972</c:v>
                </c:pt>
                <c:pt idx="115">
                  <c:v>0.2958</c:v>
                </c:pt>
                <c:pt idx="116">
                  <c:v>0.2977</c:v>
                </c:pt>
                <c:pt idx="117">
                  <c:v>0.2949</c:v>
                </c:pt>
                <c:pt idx="118">
                  <c:v>0.2922</c:v>
                </c:pt>
              </c:numCache>
            </c:numRef>
          </c:yVal>
          <c:smooth val="0"/>
        </c:ser>
        <c:ser>
          <c:idx val="1"/>
          <c:order val="1"/>
          <c:tx>
            <c:strRef>
              <c:f>Sheet1!$B$122</c:f>
              <c:strCache>
                <c:ptCount val="1"/>
                <c:pt idx="0">
                  <c:v>Test</c:v>
                </c:pt>
              </c:strCache>
            </c:strRef>
          </c:tx>
          <c:spPr>
            <a:ln w="22225">
              <a:solidFill>
                <a:srgbClr val="C2477F"/>
              </a:solidFill>
            </a:ln>
          </c:spPr>
          <c:marker>
            <c:symbol val="none"/>
          </c:marker>
          <c:xVal>
            <c:numRef>
              <c:f>Sheet1!$A$123:$A$242</c:f>
              <c:numCache>
                <c:formatCode>General</c:formatCode>
                <c:ptCount val="120"/>
                <c:pt idx="0">
                  <c:v>0.0</c:v>
                </c:pt>
                <c:pt idx="1">
                  <c:v>0.0189</c:v>
                </c:pt>
                <c:pt idx="2">
                  <c:v>0.0377</c:v>
                </c:pt>
                <c:pt idx="3">
                  <c:v>0.0566</c:v>
                </c:pt>
                <c:pt idx="4">
                  <c:v>0.0755</c:v>
                </c:pt>
                <c:pt idx="5">
                  <c:v>0.0943</c:v>
                </c:pt>
                <c:pt idx="6">
                  <c:v>0.1132</c:v>
                </c:pt>
                <c:pt idx="7">
                  <c:v>0.1132</c:v>
                </c:pt>
                <c:pt idx="8">
                  <c:v>0.1321</c:v>
                </c:pt>
                <c:pt idx="9">
                  <c:v>0.1321</c:v>
                </c:pt>
                <c:pt idx="10">
                  <c:v>0.1509</c:v>
                </c:pt>
                <c:pt idx="11">
                  <c:v>0.1509</c:v>
                </c:pt>
                <c:pt idx="12">
                  <c:v>0.1698</c:v>
                </c:pt>
                <c:pt idx="13">
                  <c:v>0.1887</c:v>
                </c:pt>
                <c:pt idx="14">
                  <c:v>0.2075</c:v>
                </c:pt>
                <c:pt idx="15">
                  <c:v>0.2264</c:v>
                </c:pt>
                <c:pt idx="16">
                  <c:v>0.2264</c:v>
                </c:pt>
                <c:pt idx="17">
                  <c:v>0.2264</c:v>
                </c:pt>
                <c:pt idx="18">
                  <c:v>0.2453</c:v>
                </c:pt>
                <c:pt idx="19">
                  <c:v>0.2453</c:v>
                </c:pt>
                <c:pt idx="20">
                  <c:v>0.2642</c:v>
                </c:pt>
                <c:pt idx="21">
                  <c:v>0.283</c:v>
                </c:pt>
                <c:pt idx="22">
                  <c:v>0.3019</c:v>
                </c:pt>
                <c:pt idx="23">
                  <c:v>0.3019</c:v>
                </c:pt>
                <c:pt idx="24">
                  <c:v>0.3019</c:v>
                </c:pt>
                <c:pt idx="25">
                  <c:v>0.3019</c:v>
                </c:pt>
                <c:pt idx="26">
                  <c:v>0.3019</c:v>
                </c:pt>
                <c:pt idx="27">
                  <c:v>0.3019</c:v>
                </c:pt>
                <c:pt idx="28">
                  <c:v>0.3019</c:v>
                </c:pt>
                <c:pt idx="29">
                  <c:v>0.3019</c:v>
                </c:pt>
                <c:pt idx="30">
                  <c:v>0.3208</c:v>
                </c:pt>
                <c:pt idx="31">
                  <c:v>0.3208</c:v>
                </c:pt>
                <c:pt idx="32">
                  <c:v>0.3208</c:v>
                </c:pt>
                <c:pt idx="33">
                  <c:v>0.3396</c:v>
                </c:pt>
                <c:pt idx="34">
                  <c:v>0.3585</c:v>
                </c:pt>
                <c:pt idx="35">
                  <c:v>0.3962</c:v>
                </c:pt>
                <c:pt idx="36">
                  <c:v>0.3962</c:v>
                </c:pt>
                <c:pt idx="37">
                  <c:v>0.4151</c:v>
                </c:pt>
                <c:pt idx="38">
                  <c:v>0.4151</c:v>
                </c:pt>
                <c:pt idx="39">
                  <c:v>0.4151</c:v>
                </c:pt>
                <c:pt idx="40">
                  <c:v>0.4151</c:v>
                </c:pt>
                <c:pt idx="41">
                  <c:v>0.4151</c:v>
                </c:pt>
                <c:pt idx="42">
                  <c:v>0.4151</c:v>
                </c:pt>
                <c:pt idx="43">
                  <c:v>0.434</c:v>
                </c:pt>
                <c:pt idx="44">
                  <c:v>0.434</c:v>
                </c:pt>
                <c:pt idx="45">
                  <c:v>0.434</c:v>
                </c:pt>
                <c:pt idx="46">
                  <c:v>0.4528</c:v>
                </c:pt>
                <c:pt idx="47">
                  <c:v>0.4717</c:v>
                </c:pt>
                <c:pt idx="48">
                  <c:v>0.4906</c:v>
                </c:pt>
                <c:pt idx="49">
                  <c:v>0.4906</c:v>
                </c:pt>
                <c:pt idx="50">
                  <c:v>0.4906</c:v>
                </c:pt>
                <c:pt idx="51">
                  <c:v>0.4906</c:v>
                </c:pt>
                <c:pt idx="52">
                  <c:v>0.5094</c:v>
                </c:pt>
                <c:pt idx="53">
                  <c:v>0.5094</c:v>
                </c:pt>
                <c:pt idx="54">
                  <c:v>0.5094</c:v>
                </c:pt>
                <c:pt idx="55">
                  <c:v>0.5094</c:v>
                </c:pt>
                <c:pt idx="56">
                  <c:v>0.5283</c:v>
                </c:pt>
                <c:pt idx="57">
                  <c:v>0.5283</c:v>
                </c:pt>
                <c:pt idx="58">
                  <c:v>0.5472</c:v>
                </c:pt>
                <c:pt idx="59">
                  <c:v>0.566</c:v>
                </c:pt>
                <c:pt idx="60">
                  <c:v>0.566</c:v>
                </c:pt>
                <c:pt idx="61">
                  <c:v>0.5849</c:v>
                </c:pt>
                <c:pt idx="62">
                  <c:v>0.5849</c:v>
                </c:pt>
                <c:pt idx="63">
                  <c:v>0.6038</c:v>
                </c:pt>
                <c:pt idx="64">
                  <c:v>0.6038</c:v>
                </c:pt>
                <c:pt idx="65">
                  <c:v>0.6038</c:v>
                </c:pt>
                <c:pt idx="66">
                  <c:v>0.6038</c:v>
                </c:pt>
                <c:pt idx="67">
                  <c:v>0.6226</c:v>
                </c:pt>
                <c:pt idx="68">
                  <c:v>0.6415</c:v>
                </c:pt>
                <c:pt idx="69">
                  <c:v>0.6415</c:v>
                </c:pt>
                <c:pt idx="70">
                  <c:v>0.6604</c:v>
                </c:pt>
                <c:pt idx="71">
                  <c:v>0.6604</c:v>
                </c:pt>
                <c:pt idx="72">
                  <c:v>0.6792</c:v>
                </c:pt>
                <c:pt idx="73">
                  <c:v>0.6792</c:v>
                </c:pt>
                <c:pt idx="74">
                  <c:v>0.6792</c:v>
                </c:pt>
                <c:pt idx="75">
                  <c:v>0.6792</c:v>
                </c:pt>
                <c:pt idx="76">
                  <c:v>0.6792</c:v>
                </c:pt>
                <c:pt idx="77">
                  <c:v>0.6792</c:v>
                </c:pt>
                <c:pt idx="78">
                  <c:v>0.6792</c:v>
                </c:pt>
                <c:pt idx="79">
                  <c:v>0.6981</c:v>
                </c:pt>
                <c:pt idx="80">
                  <c:v>0.6981</c:v>
                </c:pt>
                <c:pt idx="81">
                  <c:v>0.6981</c:v>
                </c:pt>
                <c:pt idx="82">
                  <c:v>0.6981</c:v>
                </c:pt>
                <c:pt idx="83">
                  <c:v>0.717</c:v>
                </c:pt>
                <c:pt idx="84">
                  <c:v>0.717</c:v>
                </c:pt>
                <c:pt idx="85">
                  <c:v>0.7358</c:v>
                </c:pt>
                <c:pt idx="86">
                  <c:v>0.7547</c:v>
                </c:pt>
                <c:pt idx="87">
                  <c:v>0.7547</c:v>
                </c:pt>
                <c:pt idx="88">
                  <c:v>0.7736</c:v>
                </c:pt>
                <c:pt idx="89">
                  <c:v>0.7736</c:v>
                </c:pt>
                <c:pt idx="90">
                  <c:v>0.7736</c:v>
                </c:pt>
                <c:pt idx="91">
                  <c:v>0.7925</c:v>
                </c:pt>
                <c:pt idx="92">
                  <c:v>0.8113</c:v>
                </c:pt>
                <c:pt idx="93">
                  <c:v>0.8113</c:v>
                </c:pt>
                <c:pt idx="94">
                  <c:v>0.8113</c:v>
                </c:pt>
                <c:pt idx="95">
                  <c:v>0.8302</c:v>
                </c:pt>
                <c:pt idx="96">
                  <c:v>0.8302</c:v>
                </c:pt>
                <c:pt idx="97">
                  <c:v>0.8491</c:v>
                </c:pt>
                <c:pt idx="98">
                  <c:v>0.8491</c:v>
                </c:pt>
                <c:pt idx="99">
                  <c:v>0.8491</c:v>
                </c:pt>
                <c:pt idx="100">
                  <c:v>0.8491</c:v>
                </c:pt>
                <c:pt idx="101">
                  <c:v>0.8491</c:v>
                </c:pt>
                <c:pt idx="102">
                  <c:v>0.8679</c:v>
                </c:pt>
                <c:pt idx="103">
                  <c:v>0.8679</c:v>
                </c:pt>
                <c:pt idx="104">
                  <c:v>0.8679</c:v>
                </c:pt>
                <c:pt idx="105">
                  <c:v>0.8679</c:v>
                </c:pt>
                <c:pt idx="106">
                  <c:v>0.8868</c:v>
                </c:pt>
                <c:pt idx="107">
                  <c:v>0.8868</c:v>
                </c:pt>
                <c:pt idx="108">
                  <c:v>0.9057</c:v>
                </c:pt>
                <c:pt idx="109">
                  <c:v>0.9245</c:v>
                </c:pt>
                <c:pt idx="110">
                  <c:v>0.9434</c:v>
                </c:pt>
                <c:pt idx="111">
                  <c:v>0.9434</c:v>
                </c:pt>
                <c:pt idx="112">
                  <c:v>0.9623</c:v>
                </c:pt>
                <c:pt idx="113">
                  <c:v>0.9811</c:v>
                </c:pt>
                <c:pt idx="114">
                  <c:v>1.0</c:v>
                </c:pt>
                <c:pt idx="115">
                  <c:v>1.0</c:v>
                </c:pt>
                <c:pt idx="116">
                  <c:v>1.0</c:v>
                </c:pt>
                <c:pt idx="117">
                  <c:v>1.0</c:v>
                </c:pt>
                <c:pt idx="118">
                  <c:v>1.0</c:v>
                </c:pt>
                <c:pt idx="119">
                  <c:v>1.0</c:v>
                </c:pt>
              </c:numCache>
            </c:numRef>
          </c:xVal>
          <c:yVal>
            <c:numRef>
              <c:f>Sheet1!$B$123:$B$242</c:f>
              <c:numCache>
                <c:formatCode>General</c:formatCode>
                <c:ptCount val="120"/>
                <c:pt idx="0">
                  <c:v>1.0</c:v>
                </c:pt>
                <c:pt idx="1">
                  <c:v>1.0</c:v>
                </c:pt>
                <c:pt idx="2">
                  <c:v>0.6667</c:v>
                </c:pt>
                <c:pt idx="3">
                  <c:v>0.75</c:v>
                </c:pt>
                <c:pt idx="4">
                  <c:v>0.6667</c:v>
                </c:pt>
                <c:pt idx="5">
                  <c:v>0.7143</c:v>
                </c:pt>
                <c:pt idx="6">
                  <c:v>0.6667</c:v>
                </c:pt>
                <c:pt idx="7">
                  <c:v>0.6</c:v>
                </c:pt>
                <c:pt idx="8">
                  <c:v>0.5385</c:v>
                </c:pt>
                <c:pt idx="9">
                  <c:v>0.5833</c:v>
                </c:pt>
                <c:pt idx="10">
                  <c:v>0.5</c:v>
                </c:pt>
                <c:pt idx="11">
                  <c:v>0.5714</c:v>
                </c:pt>
                <c:pt idx="12">
                  <c:v>0.5</c:v>
                </c:pt>
                <c:pt idx="13">
                  <c:v>0.5263</c:v>
                </c:pt>
                <c:pt idx="14">
                  <c:v>0.5238</c:v>
                </c:pt>
                <c:pt idx="15">
                  <c:v>0.4615</c:v>
                </c:pt>
                <c:pt idx="16">
                  <c:v>0.5</c:v>
                </c:pt>
                <c:pt idx="17">
                  <c:v>0.5455</c:v>
                </c:pt>
                <c:pt idx="18">
                  <c:v>0.4815</c:v>
                </c:pt>
                <c:pt idx="19">
                  <c:v>0.4643</c:v>
                </c:pt>
                <c:pt idx="20">
                  <c:v>0.4667</c:v>
                </c:pt>
                <c:pt idx="21">
                  <c:v>0.4839</c:v>
                </c:pt>
                <c:pt idx="22">
                  <c:v>0.3721</c:v>
                </c:pt>
                <c:pt idx="23">
                  <c:v>0.381</c:v>
                </c:pt>
                <c:pt idx="24">
                  <c:v>0.3902</c:v>
                </c:pt>
                <c:pt idx="25">
                  <c:v>0.4103</c:v>
                </c:pt>
                <c:pt idx="26">
                  <c:v>0.4444</c:v>
                </c:pt>
                <c:pt idx="27">
                  <c:v>0.4571</c:v>
                </c:pt>
                <c:pt idx="28">
                  <c:v>0.4706</c:v>
                </c:pt>
                <c:pt idx="29">
                  <c:v>0.4211</c:v>
                </c:pt>
                <c:pt idx="30">
                  <c:v>0.3542</c:v>
                </c:pt>
                <c:pt idx="31">
                  <c:v>0.3778</c:v>
                </c:pt>
                <c:pt idx="32">
                  <c:v>0.3864</c:v>
                </c:pt>
                <c:pt idx="33">
                  <c:v>0.3673</c:v>
                </c:pt>
                <c:pt idx="34">
                  <c:v>0.38</c:v>
                </c:pt>
                <c:pt idx="35">
                  <c:v>0.4038</c:v>
                </c:pt>
                <c:pt idx="36">
                  <c:v>0.3962</c:v>
                </c:pt>
                <c:pt idx="37">
                  <c:v>0.3607</c:v>
                </c:pt>
                <c:pt idx="38">
                  <c:v>0.3667</c:v>
                </c:pt>
                <c:pt idx="39">
                  <c:v>0.386</c:v>
                </c:pt>
                <c:pt idx="40">
                  <c:v>0.3929</c:v>
                </c:pt>
                <c:pt idx="41">
                  <c:v>0.4074</c:v>
                </c:pt>
                <c:pt idx="42">
                  <c:v>0.3793</c:v>
                </c:pt>
                <c:pt idx="43">
                  <c:v>0.3594</c:v>
                </c:pt>
                <c:pt idx="44">
                  <c:v>0.3538</c:v>
                </c:pt>
                <c:pt idx="45">
                  <c:v>0.3433</c:v>
                </c:pt>
                <c:pt idx="46">
                  <c:v>0.3529</c:v>
                </c:pt>
                <c:pt idx="47">
                  <c:v>0.3571</c:v>
                </c:pt>
                <c:pt idx="48">
                  <c:v>0.3662</c:v>
                </c:pt>
                <c:pt idx="49">
                  <c:v>0.3611</c:v>
                </c:pt>
                <c:pt idx="50">
                  <c:v>0.3514</c:v>
                </c:pt>
                <c:pt idx="51">
                  <c:v>0.3467</c:v>
                </c:pt>
                <c:pt idx="52">
                  <c:v>0.3293</c:v>
                </c:pt>
                <c:pt idx="53">
                  <c:v>0.3333</c:v>
                </c:pt>
                <c:pt idx="54">
                  <c:v>0.3462</c:v>
                </c:pt>
                <c:pt idx="55">
                  <c:v>0.3506</c:v>
                </c:pt>
                <c:pt idx="56">
                  <c:v>0.3373</c:v>
                </c:pt>
                <c:pt idx="57">
                  <c:v>0.3333</c:v>
                </c:pt>
                <c:pt idx="58">
                  <c:v>0.3372</c:v>
                </c:pt>
                <c:pt idx="59">
                  <c:v>0.3448</c:v>
                </c:pt>
                <c:pt idx="60">
                  <c:v>0.3371</c:v>
                </c:pt>
                <c:pt idx="61">
                  <c:v>0.337</c:v>
                </c:pt>
                <c:pt idx="62">
                  <c:v>0.3407</c:v>
                </c:pt>
                <c:pt idx="63">
                  <c:v>0.3265</c:v>
                </c:pt>
                <c:pt idx="64">
                  <c:v>0.3441</c:v>
                </c:pt>
                <c:pt idx="65">
                  <c:v>0.3368</c:v>
                </c:pt>
                <c:pt idx="66">
                  <c:v>0.3333</c:v>
                </c:pt>
                <c:pt idx="67">
                  <c:v>0.3333</c:v>
                </c:pt>
                <c:pt idx="68">
                  <c:v>0.3333</c:v>
                </c:pt>
                <c:pt idx="69">
                  <c:v>0.3301</c:v>
                </c:pt>
                <c:pt idx="70">
                  <c:v>0.3365</c:v>
                </c:pt>
                <c:pt idx="71">
                  <c:v>0.3333</c:v>
                </c:pt>
                <c:pt idx="72">
                  <c:v>0.3186</c:v>
                </c:pt>
                <c:pt idx="73">
                  <c:v>0.313</c:v>
                </c:pt>
                <c:pt idx="74">
                  <c:v>0.3158</c:v>
                </c:pt>
                <c:pt idx="75">
                  <c:v>0.3273</c:v>
                </c:pt>
                <c:pt idx="76">
                  <c:v>0.3303</c:v>
                </c:pt>
                <c:pt idx="77">
                  <c:v>0.3364</c:v>
                </c:pt>
                <c:pt idx="78">
                  <c:v>0.3396</c:v>
                </c:pt>
                <c:pt idx="79">
                  <c:v>0.3083</c:v>
                </c:pt>
                <c:pt idx="80">
                  <c:v>0.3058</c:v>
                </c:pt>
                <c:pt idx="81">
                  <c:v>0.3162</c:v>
                </c:pt>
                <c:pt idx="82">
                  <c:v>0.3109</c:v>
                </c:pt>
                <c:pt idx="83">
                  <c:v>0.3089</c:v>
                </c:pt>
                <c:pt idx="84">
                  <c:v>0.3065</c:v>
                </c:pt>
                <c:pt idx="85">
                  <c:v>0.3095</c:v>
                </c:pt>
                <c:pt idx="86">
                  <c:v>0.315</c:v>
                </c:pt>
                <c:pt idx="87">
                  <c:v>0.3101</c:v>
                </c:pt>
                <c:pt idx="88">
                  <c:v>0.306</c:v>
                </c:pt>
                <c:pt idx="89">
                  <c:v>0.313</c:v>
                </c:pt>
                <c:pt idx="90">
                  <c:v>0.3154</c:v>
                </c:pt>
                <c:pt idx="91">
                  <c:v>0.3111</c:v>
                </c:pt>
                <c:pt idx="92">
                  <c:v>0.3162</c:v>
                </c:pt>
                <c:pt idx="93">
                  <c:v>0.3116</c:v>
                </c:pt>
                <c:pt idx="94">
                  <c:v>0.3094</c:v>
                </c:pt>
                <c:pt idx="95">
                  <c:v>0.3099</c:v>
                </c:pt>
                <c:pt idx="96">
                  <c:v>0.3121</c:v>
                </c:pt>
                <c:pt idx="97">
                  <c:v>0.3147</c:v>
                </c:pt>
                <c:pt idx="98">
                  <c:v>0.3103</c:v>
                </c:pt>
                <c:pt idx="99">
                  <c:v>0.3082</c:v>
                </c:pt>
                <c:pt idx="100">
                  <c:v>0.3041</c:v>
                </c:pt>
                <c:pt idx="101">
                  <c:v>0.302</c:v>
                </c:pt>
                <c:pt idx="102">
                  <c:v>0.2987</c:v>
                </c:pt>
                <c:pt idx="103">
                  <c:v>0.2968</c:v>
                </c:pt>
                <c:pt idx="104">
                  <c:v>0.3046</c:v>
                </c:pt>
                <c:pt idx="105">
                  <c:v>0.3007</c:v>
                </c:pt>
                <c:pt idx="106">
                  <c:v>0.2994</c:v>
                </c:pt>
                <c:pt idx="107">
                  <c:v>0.2975</c:v>
                </c:pt>
                <c:pt idx="108">
                  <c:v>0.3</c:v>
                </c:pt>
                <c:pt idx="109">
                  <c:v>0.3043</c:v>
                </c:pt>
                <c:pt idx="110">
                  <c:v>0.303</c:v>
                </c:pt>
                <c:pt idx="111">
                  <c:v>0.3086</c:v>
                </c:pt>
                <c:pt idx="112">
                  <c:v>0.3072</c:v>
                </c:pt>
                <c:pt idx="113">
                  <c:v>0.3114</c:v>
                </c:pt>
                <c:pt idx="114">
                  <c:v>0.3136</c:v>
                </c:pt>
                <c:pt idx="115">
                  <c:v>0.3118</c:v>
                </c:pt>
                <c:pt idx="116">
                  <c:v>0.3081</c:v>
                </c:pt>
                <c:pt idx="117">
                  <c:v>0.3064</c:v>
                </c:pt>
                <c:pt idx="118">
                  <c:v>0.3029</c:v>
                </c:pt>
                <c:pt idx="119">
                  <c:v>0.3011</c:v>
                </c:pt>
              </c:numCache>
            </c:numRef>
          </c:yVal>
          <c:smooth val="0"/>
        </c:ser>
        <c:ser>
          <c:idx val="2"/>
          <c:order val="2"/>
          <c:tx>
            <c:strRef>
              <c:f>Sheet1!$B$244</c:f>
              <c:strCache>
                <c:ptCount val="1"/>
                <c:pt idx="0">
                  <c:v>Azar</c:v>
                </c:pt>
              </c:strCache>
            </c:strRef>
          </c:tx>
          <c:spPr>
            <a:ln w="12700">
              <a:solidFill>
                <a:srgbClr val="6E7984"/>
              </a:solidFill>
              <a:prstDash val="dash"/>
            </a:ln>
          </c:spPr>
          <c:marker>
            <c:symbol val="none"/>
          </c:marker>
          <c:xVal>
            <c:numRef>
              <c:f>Sheet1!$A$245:$A$246</c:f>
              <c:numCache>
                <c:formatCode>General</c:formatCode>
                <c:ptCount val="2"/>
                <c:pt idx="0">
                  <c:v>0</c:v>
                </c:pt>
                <c:pt idx="1">
                  <c:v>1</c:v>
                </c:pt>
              </c:numCache>
            </c:numRef>
          </c:xVal>
          <c:yVal>
            <c:numRef>
              <c:f>Sheet1!$B$245:$B$246</c:f>
              <c:numCache>
                <c:formatCode>General</c:formatCode>
                <c:ptCount val="2"/>
                <c:pt idx="0">
                  <c:v>0.30113636363636365</c:v>
                </c:pt>
                <c:pt idx="1">
                  <c:v>0.30113636363636365</c:v>
                </c:pt>
              </c:numCache>
            </c:numRef>
          </c:yVal>
          <c:smooth val="0"/>
        </c:ser>
        <c:axId val="-2128940872"/>
        <c:axId val="-2129643912"/>
      </c:scatterChart>
      <c:valAx>
        <c:axId val="-2128940872"/>
        <c:scaling>
          <c:orientation val="minMax"/>
          <c:max val="1.0"/>
          <c:min val="0.0"/>
        </c:scaling>
        <c:delete val="0"/>
        <c:axPos val="b"/>
        <c:numFmt formatCode="0.0" sourceLinked="0"/>
        <c:majorTickMark val="out"/>
        <c:minorTickMark val="none"/>
        <c:tickLblPos val="nextTo"/>
        <c:spPr>
          <a:ln>
            <a:solidFill>
              <a:srgbClr val="C9D1DA"/>
            </a:solidFill>
          </a:ln>
        </c:spPr>
        <c:crossAx val="-2129643912"/>
        <c:crosses val="autoZero"/>
        <c:crossBetween val="midCat"/>
        <c:majorUnit val="0.5"/>
      </c:valAx>
      <c:valAx>
        <c:axId val="-2129643912"/>
        <c:scaling>
          <c:orientation val="minMax"/>
          <c:max val="1.0"/>
          <c:min val="0.0"/>
        </c:scaling>
        <c:delete val="0"/>
        <c:axPos val="l"/>
        <c:numFmt formatCode="0.0" sourceLinked="0"/>
        <c:majorTickMark val="out"/>
        <c:minorTickMark val="none"/>
        <c:tickLblPos val="nextTo"/>
        <c:spPr>
          <a:ln>
            <a:solidFill>
              <a:srgbClr val="C9D1DA"/>
            </a:solidFill>
          </a:ln>
        </c:spPr>
        <c:crossAx val="-2128940872"/>
        <c:crosses val="autoZero"/>
        <c:crossBetween val="midCat"/>
        <c:majorUnit val="0.5"/>
      </c:valAx>
    </c:plotArea>
    <c:plotVisOnly val="1"/>
    <c:dispBlanksAs val="gap"/>
    <c:showDLblsOverMax val="0"/>
  </c:chart>
  <c:txPr>
    <a:bodyPr/>
    <a:lstStyle/>
    <a:p>
      <a:pPr>
        <a:defRPr sz="1000">
          <a:solidFill>
            <a:srgbClr val="6E7984"/>
          </a:solidFill>
          <a:latin typeface="Aria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3076363" cy="513508"/>
          </a:xfrm>
          <a:prstGeom prst="rect">
            <a:avLst/>
          </a:prstGeom>
        </p:spPr>
        <p:txBody>
          <a:bodyPr vert="horz" lIns="99048" tIns="49524" rIns="99048" bIns="49524" rtlCol="0"/>
          <a:lstStyle>
            <a:lvl1pPr algn="l">
              <a:defRPr sz="1300"/>
            </a:lvl1pPr>
          </a:lstStyle>
          <a:p>
            <a:endParaRPr lang="es-ES_tradnl"/>
          </a:p>
        </p:txBody>
      </p:sp>
      <p:sp>
        <p:nvSpPr>
          <p:cNvPr id="3" name="Marcador de fecha 2"/>
          <p:cNvSpPr>
            <a:spLocks noGrp="1"/>
          </p:cNvSpPr>
          <p:nvPr>
            <p:ph type="dt" idx="1"/>
          </p:nvPr>
        </p:nvSpPr>
        <p:spPr>
          <a:xfrm>
            <a:off x="4021294" y="0"/>
            <a:ext cx="3076363" cy="513508"/>
          </a:xfrm>
          <a:prstGeom prst="rect">
            <a:avLst/>
          </a:prstGeom>
        </p:spPr>
        <p:txBody>
          <a:bodyPr vert="horz" lIns="99048" tIns="49524" rIns="99048" bIns="49524" rtlCol="0"/>
          <a:lstStyle>
            <a:lvl1pPr algn="r">
              <a:defRPr sz="1300"/>
            </a:lvl1pPr>
          </a:lstStyle>
          <a:p>
            <a:fld id="{6F5C5E53-F147-8644-A0CF-46FCFCB7C5D6}" type="datetimeFigureOut">
              <a:rPr lang="es-ES_tradnl" smtClean="0"/>
              <a:t>14/09/2025</a:t>
            </a:fld>
            <a:endParaRPr lang="es-ES_tradnl"/>
          </a:p>
        </p:txBody>
      </p:sp>
      <p:sp>
        <p:nvSpPr>
          <p:cNvPr id="4" name="Marcador de imagen de diapositiva 3"/>
          <p:cNvSpPr>
            <a:spLocks noGrp="1" noRot="1" noChangeAspect="1"/>
          </p:cNvSpPr>
          <p:nvPr>
            <p:ph type="sldImg" idx="2"/>
          </p:nvPr>
        </p:nvSpPr>
        <p:spPr>
          <a:xfrm>
            <a:off x="479425" y="1279525"/>
            <a:ext cx="6140450" cy="3454400"/>
          </a:xfrm>
          <a:prstGeom prst="rect">
            <a:avLst/>
          </a:prstGeom>
          <a:noFill/>
          <a:ln w="12700">
            <a:solidFill>
              <a:prstClr val="black"/>
            </a:solidFill>
          </a:ln>
        </p:spPr>
        <p:txBody>
          <a:bodyPr vert="horz" lIns="99048" tIns="49524" rIns="99048" bIns="49524" rtlCol="0" anchor="ctr"/>
          <a:lstStyle/>
          <a:p>
            <a:endParaRPr lang="es-ES_tradnl"/>
          </a:p>
        </p:txBody>
      </p:sp>
      <p:sp>
        <p:nvSpPr>
          <p:cNvPr id="5" name="Marcador de notas 4"/>
          <p:cNvSpPr>
            <a:spLocks noGrp="1"/>
          </p:cNvSpPr>
          <p:nvPr>
            <p:ph type="body" sz="quarter" idx="3"/>
          </p:nvPr>
        </p:nvSpPr>
        <p:spPr>
          <a:xfrm>
            <a:off x="709930" y="4925407"/>
            <a:ext cx="5679440" cy="4029879"/>
          </a:xfrm>
          <a:prstGeom prst="rect">
            <a:avLst/>
          </a:prstGeom>
        </p:spPr>
        <p:txBody>
          <a:bodyPr vert="horz" lIns="99048" tIns="49524" rIns="99048" bIns="49524"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ES_tradnl"/>
          </a:p>
        </p:txBody>
      </p:sp>
      <p:sp>
        <p:nvSpPr>
          <p:cNvPr id="6" name="Marcador de pie de página 5"/>
          <p:cNvSpPr>
            <a:spLocks noGrp="1"/>
          </p:cNvSpPr>
          <p:nvPr>
            <p:ph type="ftr" sz="quarter" idx="4"/>
          </p:nvPr>
        </p:nvSpPr>
        <p:spPr>
          <a:xfrm>
            <a:off x="0" y="9721107"/>
            <a:ext cx="3076363" cy="513507"/>
          </a:xfrm>
          <a:prstGeom prst="rect">
            <a:avLst/>
          </a:prstGeom>
        </p:spPr>
        <p:txBody>
          <a:bodyPr vert="horz" lIns="99048" tIns="49524" rIns="99048" bIns="49524" rtlCol="0" anchor="b"/>
          <a:lstStyle>
            <a:lvl1pPr algn="l">
              <a:defRPr sz="1300"/>
            </a:lvl1pPr>
          </a:lstStyle>
          <a:p>
            <a:endParaRPr lang="es-ES_tradnl"/>
          </a:p>
        </p:txBody>
      </p:sp>
      <p:sp>
        <p:nvSpPr>
          <p:cNvPr id="7" name="Marcador de número de diapositiva 6"/>
          <p:cNvSpPr>
            <a:spLocks noGrp="1"/>
          </p:cNvSpPr>
          <p:nvPr>
            <p:ph type="sldNum" sz="quarter" idx="5"/>
          </p:nvPr>
        </p:nvSpPr>
        <p:spPr>
          <a:xfrm>
            <a:off x="4021294" y="9721107"/>
            <a:ext cx="3076363" cy="513507"/>
          </a:xfrm>
          <a:prstGeom prst="rect">
            <a:avLst/>
          </a:prstGeom>
        </p:spPr>
        <p:txBody>
          <a:bodyPr vert="horz" lIns="99048" tIns="49524" rIns="99048" bIns="49524" rtlCol="0" anchor="b"/>
          <a:lstStyle>
            <a:lvl1pPr algn="r">
              <a:defRPr sz="1300"/>
            </a:lvl1pPr>
          </a:lstStyle>
          <a:p>
            <a:fld id="{447058AE-FEB0-D242-BCAE-44464DE802C9}" type="slidenum">
              <a:rPr lang="es-ES_tradnl" smtClean="0"/>
              <a:t>‹Nº›</a:t>
            </a:fld>
            <a:endParaRPr lang="es-ES_tradnl"/>
          </a:p>
        </p:txBody>
      </p:sp>
    </p:spTree>
    <p:extLst>
      <p:ext uri="{BB962C8B-B14F-4D97-AF65-F5344CB8AC3E}">
        <p14:creationId xmlns:p14="http://schemas.microsoft.com/office/powerpoint/2010/main" val="27430591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t>Presentación del trabajo: predecir, antes del tratamiento, si una paciente con cáncer de mama alcanzará respuesta patológica completa, usando solo imagen. El fondo es la propia red E57 dibujada con sus dimensiones reales, la misma que aparece en la web. Trabajamos con 1.097 pacientes de entrenamiento y 176 de test, de tres cohortes, y una CNN propia de 298.161 parámetros.</a:t>
            </a:r>
          </a:p>
        </p:txBody>
      </p:sp>
      <p:sp>
        <p:nvSpPr>
          <p:cNvPr id="4" name="Marcador de número de diapositiva 3"/>
          <p:cNvSpPr>
            <a:spLocks noGrp="1"/>
          </p:cNvSpPr>
          <p:nvPr>
            <p:ph type="sldNum" sz="quarter" idx="5"/>
          </p:nvPr>
        </p:nvSpPr>
        <p:spPr/>
        <p:txBody>
          <a:bodyPr/>
          <a:lstStyle/>
          <a:p>
            <a:fld id="{447058AE-FEB0-D242-BCAE-44464DE802C9}" type="slidenum">
              <a:rPr lang="es-ES_tradnl" smtClean="0"/>
              <a:t>1</a:t>
            </a:fld>
            <a:endParaRPr lang="es-ES_tradnl" dirty="0"/>
          </a:p>
        </p:txBody>
      </p:sp>
    </p:spTree>
    <p:extLst>
      <p:ext uri="{BB962C8B-B14F-4D97-AF65-F5344CB8AC3E}">
        <p14:creationId xmlns:p14="http://schemas.microsoft.com/office/powerpoint/2010/main" val="334492274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t>Para cerrar: hemos construido una CNN propia desde cero y la hemos evaluado con rigor, sin usar el test para decidir nada. Me quedo con dos aprendizajes: la receta de entrenamiento condiciona lo que la red puede aprender, como se vio con BatchNorm y lotes de 2 pacientes, y la cohorte pesa, porque en Duke el modelo ordena al revés. Los siguientes pasos naturales serían más pacientes, validación externa y aprovechar el volumen completo.</a:t>
            </a:r>
          </a:p>
        </p:txBody>
      </p:sp>
      <p:sp>
        <p:nvSpPr>
          <p:cNvPr id="4" name="Marcador de número de diapositiva 3"/>
          <p:cNvSpPr>
            <a:spLocks noGrp="1"/>
          </p:cNvSpPr>
          <p:nvPr>
            <p:ph type="sldNum" sz="quarter" idx="5"/>
          </p:nvPr>
        </p:nvSpPr>
        <p:spPr/>
        <p:txBody>
          <a:bodyPr/>
          <a:lstStyle/>
          <a:p>
            <a:fld id="{447058AE-FEB0-D242-BCAE-44464DE802C9}" type="slidenum">
              <a:rPr lang="es-ES_tradnl" smtClean="0"/>
              <a:t>4</a:t>
            </a:fld>
            <a:endParaRPr lang="es-ES_tradnl"/>
          </a:p>
        </p:txBody>
      </p:sp>
    </p:spTree>
    <p:extLst>
      <p:ext uri="{BB962C8B-B14F-4D97-AF65-F5344CB8AC3E}">
        <p14:creationId xmlns:p14="http://schemas.microsoft.com/office/powerpoint/2010/main" val="3099314644"/>
      </p:ext>
    </p:extLst>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problema clínico: la quimioterapia neoadyuvante se da antes de operar, y la respuesta patológica completa solo se conoce al analizar la pieza quirúrgica. Si se pudiera anticipar con la resonancia previa, ayudaría a planificar; aquí se estudia si una CNN puede hacerlo. La entrada es un corte con tres fases temporales. Insistir en que no son colores: por eso la red las combina como PRE, EARLY menos PRE y LATE menos EARLY. El objetivo es binario y la unidad es la paciente. Las reglas del enunciado condicionan todo el diseño: red propia, particiones por paciente, test una sola vez y comparación obligatoria de las dos pérdidas.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Cada punto es una paciente: azul sin pCR, rosa con pCR, y cada columna se ordena por cohorte (Duke, I-SPY1, I-SPY2). Todos los cortes de una paciente van al mismo grupo; mezclarlos inflaría el resultado. Las clases están desequilibradas, 29 % con pCR, y por eso se compara la BCE normal con la ponderada, con pos_weight igual a negativos entre positivos, unos 2,4. Las cohortes tienen prevalencias distintas (21 % en Duke, 32 % en I-SPY2) y saber solo la cohorte ya da un AUC de 0,55: es un sesgo que hay que tener presente. El preprocesado es mínimo y es exactamente el mismo en la web, que es lo que se comprueba en la defensa.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E57 es una red propia, sin nada preentrenado. Primero convierte las fases en PRE, EARLY menos PRE y LATE menos EARLY, una resta fija sin parámetros que pone el realce delante. Después cuatro bloques reducen la imagen de 256 a 16 píxeles de lado mientras los canales suben de 16 a 128; casi tres cuartas partes de los parámetros están en el último bloque. La media espacial global resume cada canal en un número y la cabeza lineal da un logit, que la sigmoide convierte en probabilidad. Para una paciente se promedian las probabilidades de sus cortes. El diagrama se genera ejecutando la red con una entrada ficticia, así que los tamaños son los reales.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la izquierda, las curvas del fold 0 con la receta de E57: BCE normal, AdamW, lotes de 2 pacientes y protocolo limpio, con FIT para entrenar, validación interna para elegir la época y un fold exterior que solo mide. Es el fold más alto; los otros cuatro están en la web, en Resultados, y dan entre 0,445 y 0,542. Conjuntamente los 5 folds dan 0,507, con intervalo de 0,470 a 0,544. La validación interna eligió la época 2 y las 219 pacientes exteriores dan 0,617. En la BCE, FIT y validación quedan pegadas al predictor constante, 0,605, que responde siempre la prevalencia. Ese síntoma llevó al diagnóstico: con 2 pacientes por lote, BatchNorm normaliza casi dentro de cada paciente y borra lo que las diferencia. Estas curvas no son exactamente las del modelo entregado. El E57 entregado se entrenó antes con la misma receta y su validación eligió la época 14, con AUC 0,670 y umbral 0,325; ese 0,670 es optimista porque la época se eligió mirando esas mismas pacientes, y es el que aparece en la ROC. BCE normal frente a ponderada, en el fold 0: 0,617 frente a 0,547. La ponderada solo sube la sensibilidad con umbral 0,5 y empeora la calibración, con Brier 0,245 frente a 0,205. En 5 folds se comparó después con la receta corregida, P02, sin diferencia demostrada. A la derecha, el test de E57, evaluado una sola vez con 176 pacientes: AUC 0,573 con intervalo de 0,475 a 0,671 y 0,567 por corte, que es lo que se carga en la demostración. Las métricas son macro, la media de las dos clases: precisión 54,6 %, recall 54,4 % y F1 54,4 %. Si preguntan por la clase pCR sola: precisión 36,7 %, recall 34,0 % y F1 35,3 %; de 53 pacientes con pCR detecta 18 y, de 49 que señala, acierta 18. La especificidad es 74,8 %. La curva de precisión-recall hay que leerla frente a la proporción de pCR, 0,30, no frente a 0,5: el AP de test es 0,421. Su valor en validación, 0,422, es casi igual.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web está desplegada y se abre con este enlace . Inicio y Laboratorio cargan un corte o un ejemplo y dan probabilidad, clase y umbral; Modelo enseña la arquitectura y el entrenamiento; Resultados, las métricas; Pruebas, varios cortes a la vez. Lo importante es que da lo mismo que el pipeline: usa el mismo cargador, tres PNG en gris divididos entre 255, sin otra normalización. El corte ISPY1_1001_z016 da 0,336232 por los dos caminos, y el servidor comprueba el SHA-256 de los pesos antes de cargarlos. Para la defensa se han probado cinco cargas seguidas sin reiniciar y los errores típicos: falta una fase, 512 px, fase en color, fichero no PNG e imagen dañada. Conviene abrir la web unos minutos antes, porque el Space gratuito se duerme. Límites: AUC modesto y con mucha incertidumbre, parte de la señal depende de la cohorte, el umbral se eligió por paciente y aquí se aplica a un corte, y nada de esto tiene validez clínica. Conclusiones: con solo imagen la señal es débil, pero el protocolo es riguroso: E57 se midió una sola vez en test, sin usarlo para decidir.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hyperlink" Target="http://www.uax.com/" TargetMode="External"/><Relationship Id="rId3"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22_Custom Layout">
    <p:spTree>
      <p:nvGrpSpPr>
        <p:cNvPr id="1" name=""/>
        <p:cNvGrpSpPr/>
        <p:nvPr/>
      </p:nvGrpSpPr>
      <p:grpSpPr>
        <a:xfrm>
          <a:off x="0" y="0"/>
          <a:ext cx="0" cy="0"/>
          <a:chOff x="0" y="0"/>
          <a:chExt cx="0" cy="0"/>
        </a:xfrm>
      </p:grpSpPr>
      <p:pic>
        <p:nvPicPr>
          <p:cNvPr id="2" name="Imagen 1">
            <a:hlinkClick r:id="rId2"/>
            <a:extLst>
              <a:ext uri="{FF2B5EF4-FFF2-40B4-BE49-F238E27FC236}">
                <a16:creationId xmlns:a16="http://schemas.microsoft.com/office/drawing/2014/main" id="{5BF8870F-7094-C29D-E8ED-ECA89B036548}"/>
              </a:ext>
            </a:extLst>
          </p:cNvPr>
          <p:cNvPicPr>
            <a:picLocks noChangeAspect="1"/>
          </p:cNvPicPr>
          <p:nvPr userDrawn="1"/>
        </p:nvPicPr>
        <p:blipFill>
          <a:blip r:embed="rId3">
            <a:extLst>
              <a:ext uri="{28A0092B-C50C-407E-A947-70E740481C1C}">
                <a14:useLocalDpi xmlns:a14="http://schemas.microsoft.com/office/drawing/2010/main" val="0"/>
              </a:ext>
            </a:extLst>
          </a:blip>
          <a:srcRect/>
          <a:stretch>
            <a:fillRect/>
          </a:stretch>
        </p:blipFill>
        <p:spPr bwMode="auto">
          <a:xfrm>
            <a:off x="415346" y="260963"/>
            <a:ext cx="1874520" cy="411480"/>
          </a:xfrm>
          <a:prstGeom prst="rect">
            <a:avLst/>
          </a:prstGeom>
          <a:noFill/>
          <a:ln>
            <a:noFill/>
          </a:ln>
        </p:spPr>
      </p:pic>
    </p:spTree>
    <p:extLst>
      <p:ext uri="{BB962C8B-B14F-4D97-AF65-F5344CB8AC3E}">
        <p14:creationId xmlns:p14="http://schemas.microsoft.com/office/powerpoint/2010/main" val="1876234934"/>
      </p:ext>
    </p:extLst>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Diapositiva de título">
    <p:spTree>
      <p:nvGrpSpPr>
        <p:cNvPr id="1" name=""/>
        <p:cNvGrpSpPr/>
        <p:nvPr/>
      </p:nvGrpSpPr>
      <p:grpSpPr>
        <a:xfrm>
          <a:off x="0" y="0"/>
          <a:ext cx="0" cy="0"/>
          <a:chOff x="0" y="0"/>
          <a:chExt cx="0" cy="0"/>
        </a:xfrm>
      </p:grpSpPr>
      <p:pic>
        <p:nvPicPr>
          <p:cNvPr id="12" name="object 25">
            <a:extLst>
              <a:ext uri="{FF2B5EF4-FFF2-40B4-BE49-F238E27FC236}">
                <a16:creationId xmlns:a16="http://schemas.microsoft.com/office/drawing/2014/main" id="{B5B8F871-0E84-42DA-BFCD-CDAC5D2E416E}"/>
              </a:ext>
            </a:extLst>
          </p:cNvPr>
          <p:cNvPicPr>
            <a:picLocks noChangeAspect="1"/>
          </p:cNvPicPr>
          <p:nvPr userDrawn="1"/>
        </p:nvPicPr>
        <p:blipFill rotWithShape="1">
          <a:blip r:embed="rId2" cstate="print"/>
          <a:srcRect b="9915"/>
          <a:stretch/>
        </p:blipFill>
        <p:spPr>
          <a:xfrm>
            <a:off x="9666514" y="5977316"/>
            <a:ext cx="2525486" cy="880683"/>
          </a:xfrm>
          <a:prstGeom prst="rect">
            <a:avLst/>
          </a:prstGeom>
        </p:spPr>
      </p:pic>
    </p:spTree>
    <p:extLst>
      <p:ext uri="{BB962C8B-B14F-4D97-AF65-F5344CB8AC3E}">
        <p14:creationId xmlns:p14="http://schemas.microsoft.com/office/powerpoint/2010/main" val="374401358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668580849"/>
      </p:ext>
    </p:extLst>
  </p:cSld>
  <p:clrMap bg1="lt1" tx1="dk1" bg2="lt2" tx2="dk2" accent1="accent1" accent2="accent2" accent3="accent3" accent4="accent4" accent5="accent5" accent6="accent6" hlink="hlink" folHlink="folHlink"/>
  <p:sldLayoutIdLst>
    <p:sldLayoutId id="2147483671" r:id="rId1"/>
    <p:sldLayoutId id="2147483649" r:id="rId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3.png"/><Relationship Id="rId4" Type="http://schemas.openxmlformats.org/officeDocument/2006/relationships/image" Target="../media/image5.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notesSlide" Target="../notesSlides/notesSlide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notesSlide" Target="../notesSlides/notesSlide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notesSlide" Target="../notesSlides/notesSlide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chart" Target="../charts/chart1.xml"/><Relationship Id="rId4" Type="http://schemas.openxmlformats.org/officeDocument/2006/relationships/chart" Target="../charts/chart2.xml"/><Relationship Id="rId5" Type="http://schemas.openxmlformats.org/officeDocument/2006/relationships/chart" Target="../charts/chart3.xml"/><Relationship Id="rId6" Type="http://schemas.openxmlformats.org/officeDocument/2006/relationships/chart" Target="../charts/chart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 Id="rId9" Type="http://schemas.openxmlformats.org/officeDocument/2006/relationships/image" Target="../media/image9.png"/><Relationship Id="rId10" Type="http://schemas.openxmlformats.org/officeDocument/2006/relationships/image" Target="../media/image16.png"/><Relationship Id="rId11" Type="http://schemas.openxmlformats.org/officeDocument/2006/relationships/image" Target="../media/image17.png"/><Relationship Id="rId12" Type="http://schemas.openxmlformats.org/officeDocument/2006/relationships/image" Target="../media/image18.png"/><Relationship Id="rId13" Type="http://schemas.openxmlformats.org/officeDocument/2006/relationships/image" Target="../media/image19.png"/><Relationship Id="rId14" Type="http://schemas.openxmlformats.org/officeDocument/2006/relationships/notesSlide" Target="../notesSlides/notesSlide7.xml"/><Relationship Id="rId15" Type="http://schemas.openxmlformats.org/officeDocument/2006/relationships/image" Target="../media/image20.jpg"/><Relationship Id="rId16" Type="http://schemas.openxmlformats.org/officeDocument/2006/relationships/hyperlink" Target="https://rubenelices-pcr-demo.hf.space"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4.png"/><Relationship Id="rId4" Type="http://schemas.microsoft.com/office/2007/relationships/hdphoto" Target="../media/hdphoto1.wdp"/><Relationship Id="rId5" Type="http://schemas.openxmlformats.org/officeDocument/2006/relationships/image" Target="../media/image2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Forma libre 11">
            <a:extLst>
              <a:ext uri="{FF2B5EF4-FFF2-40B4-BE49-F238E27FC236}">
                <a16:creationId xmlns:a16="http://schemas.microsoft.com/office/drawing/2014/main" id="{D2B11345-E8EA-ACC7-79CF-9FA1F48C198A}"/>
              </a:ext>
            </a:extLst>
          </p:cNvPr>
          <p:cNvSpPr/>
          <p:nvPr/>
        </p:nvSpPr>
        <p:spPr>
          <a:xfrm>
            <a:off x="0" y="0"/>
            <a:ext cx="12192001" cy="6858000"/>
          </a:xfrm>
          <a:custGeom>
            <a:avLst/>
            <a:gdLst>
              <a:gd name="connsiteX0" fmla="*/ 1130164 w 5988108"/>
              <a:gd name="connsiteY0" fmla="*/ 0 h 6858123"/>
              <a:gd name="connsiteX1" fmla="*/ 4627399 w 5988108"/>
              <a:gd name="connsiteY1" fmla="*/ 0 h 6858123"/>
              <a:gd name="connsiteX2" fmla="*/ 4627399 w 5988108"/>
              <a:gd name="connsiteY2" fmla="*/ 121 h 6858123"/>
              <a:gd name="connsiteX3" fmla="*/ 5988108 w 5988108"/>
              <a:gd name="connsiteY3" fmla="*/ 121 h 6858123"/>
              <a:gd name="connsiteX4" fmla="*/ 3645379 w 5988108"/>
              <a:gd name="connsiteY4" fmla="*/ 6858120 h 6858123"/>
              <a:gd name="connsiteX5" fmla="*/ 3497235 w 5988108"/>
              <a:gd name="connsiteY5" fmla="*/ 6858120 h 6858123"/>
              <a:gd name="connsiteX6" fmla="*/ 3497235 w 5988108"/>
              <a:gd name="connsiteY6" fmla="*/ 6858123 h 6858123"/>
              <a:gd name="connsiteX7" fmla="*/ 0 w 5988108"/>
              <a:gd name="connsiteY7" fmla="*/ 6858123 h 6858123"/>
              <a:gd name="connsiteX8" fmla="*/ 0 w 5988108"/>
              <a:gd name="connsiteY8" fmla="*/ 123 h 6858123"/>
              <a:gd name="connsiteX9" fmla="*/ 1130164 w 5988108"/>
              <a:gd name="connsiteY9" fmla="*/ 123 h 6858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988108" h="6858123">
                <a:moveTo>
                  <a:pt x="1130164" y="0"/>
                </a:moveTo>
                <a:lnTo>
                  <a:pt x="4627399" y="0"/>
                </a:lnTo>
                <a:lnTo>
                  <a:pt x="4627399" y="121"/>
                </a:lnTo>
                <a:lnTo>
                  <a:pt x="5988108" y="121"/>
                </a:lnTo>
                <a:lnTo>
                  <a:pt x="3645379" y="6858120"/>
                </a:lnTo>
                <a:lnTo>
                  <a:pt x="3497235" y="6858120"/>
                </a:lnTo>
                <a:lnTo>
                  <a:pt x="3497235" y="6858123"/>
                </a:lnTo>
                <a:lnTo>
                  <a:pt x="0" y="6858123"/>
                </a:lnTo>
                <a:lnTo>
                  <a:pt x="0" y="123"/>
                </a:lnTo>
                <a:lnTo>
                  <a:pt x="1130164" y="123"/>
                </a:lnTo>
                <a:close/>
              </a:path>
            </a:pathLst>
          </a:custGeom>
          <a:solidFill>
            <a:srgbClr val="0760AB"/>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s-ES_tradnl" dirty="0"/>
          </a:p>
        </p:txBody>
      </p:sp>
      <p:pic>
        <p:nvPicPr>
          <p:cNvPr id="13" name="Picture 12" descr="red_portada.png"/>
          <p:cNvPicPr>
            <a:picLocks noChangeAspect="1"/>
          </p:cNvPicPr>
          <p:nvPr/>
        </p:nvPicPr>
        <p:blipFill>
          <a:blip r:embed="rId4"/>
          <a:stretch>
            <a:fillRect/>
          </a:stretch>
        </p:blipFill>
        <p:spPr>
          <a:xfrm>
            <a:off x="1905000" y="698500"/>
            <a:ext cx="7112000" cy="3810000"/>
          </a:xfrm>
          <a:prstGeom prst="rect">
            <a:avLst/>
          </a:prstGeom>
        </p:spPr>
      </p:pic>
      <p:pic>
        <p:nvPicPr>
          <p:cNvPr id="10" name="object 16">
            <a:extLst>
              <a:ext uri="{FF2B5EF4-FFF2-40B4-BE49-F238E27FC236}">
                <a16:creationId xmlns:a16="http://schemas.microsoft.com/office/drawing/2014/main" id="{58731C1D-78BA-E384-79A1-F1D7DFBABCC3}"/>
              </a:ext>
            </a:extLst>
          </p:cNvPr>
          <p:cNvPicPr/>
          <p:nvPr/>
        </p:nvPicPr>
        <p:blipFill>
          <a:blip r:embed="rId3" cstate="print"/>
          <a:stretch>
            <a:fillRect/>
          </a:stretch>
        </p:blipFill>
        <p:spPr>
          <a:xfrm>
            <a:off x="0" y="5538902"/>
            <a:ext cx="3497234" cy="1319098"/>
          </a:xfrm>
          <a:prstGeom prst="rect">
            <a:avLst/>
          </a:prstGeom>
        </p:spPr>
      </p:pic>
      <p:sp>
        <p:nvSpPr>
          <p:cNvPr id="14" name="TextBox 13"/>
          <p:cNvSpPr txBox="1"/>
          <p:nvPr/>
        </p:nvSpPr>
        <p:spPr>
          <a:xfrm>
            <a:off x="711200" y="660400"/>
            <a:ext cx="9525000" cy="215900"/>
          </a:xfrm>
          <a:prstGeom prst="rect">
            <a:avLst/>
          </a:prstGeom>
          <a:noFill/>
        </p:spPr>
        <p:txBody>
          <a:bodyPr wrap="square" anchor="t" lIns="0" rIns="0" tIns="0" bIns="0">
            <a:spAutoFit/>
          </a:bodyPr>
          <a:lstStyle/>
          <a:p>
            <a:pPr algn="l">
              <a:lnSpc>
                <a:spcPct val="83333"/>
              </a:lnSpc>
            </a:pPr>
            <a:r>
              <a:rPr sz="1200" b="1" spc="250">
                <a:solidFill>
                  <a:srgbClr val="F6B8D6"/>
                </a:solidFill>
                <a:latin typeface="Arial"/>
              </a:rPr>
              <a:t>UNIVERSIDAD ALFONSO X EL SABIO · APRENDIZAJE AUTOMÁTICO · 2026–2027</a:t>
            </a:r>
          </a:p>
        </p:txBody>
      </p:sp>
      <p:sp>
        <p:nvSpPr>
          <p:cNvPr id="15" name="TextBox 14"/>
          <p:cNvSpPr txBox="1"/>
          <p:nvPr/>
        </p:nvSpPr>
        <p:spPr>
          <a:xfrm>
            <a:off x="711200" y="952500"/>
            <a:ext cx="7302500" cy="2667000"/>
          </a:xfrm>
          <a:prstGeom prst="rect">
            <a:avLst/>
          </a:prstGeom>
          <a:noFill/>
        </p:spPr>
        <p:txBody>
          <a:bodyPr wrap="square" anchor="t" lIns="0" rIns="0" tIns="0" bIns="0">
            <a:spAutoFit/>
          </a:bodyPr>
          <a:lstStyle/>
          <a:p>
            <a:pPr algn="l">
              <a:lnSpc>
                <a:spcPct val="79167"/>
              </a:lnSpc>
            </a:pPr>
            <a:r>
              <a:rPr sz="6600" b="1">
                <a:solidFill>
                  <a:srgbClr val="FFFFFF"/>
                </a:solidFill>
                <a:latin typeface="Arial Narrow"/>
              </a:rPr>
              <a:t>Respuesta al tratamiento neoadyuvante</a:t>
            </a:r>
          </a:p>
        </p:txBody>
      </p:sp>
      <p:sp>
        <p:nvSpPr>
          <p:cNvPr id="16" name="TextBox 15"/>
          <p:cNvSpPr txBox="1"/>
          <p:nvPr/>
        </p:nvSpPr>
        <p:spPr>
          <a:xfrm>
            <a:off x="711200" y="3632200"/>
            <a:ext cx="7112000" cy="635000"/>
          </a:xfrm>
          <a:prstGeom prst="rect">
            <a:avLst/>
          </a:prstGeom>
          <a:noFill/>
        </p:spPr>
        <p:txBody>
          <a:bodyPr wrap="square" anchor="t" lIns="0" rIns="0" tIns="0" bIns="0">
            <a:spAutoFit/>
          </a:bodyPr>
          <a:lstStyle/>
          <a:p>
            <a:pPr algn="l">
              <a:lnSpc>
                <a:spcPct val="112500"/>
              </a:lnSpc>
            </a:pPr>
            <a:r>
              <a:rPr sz="1600" b="0">
                <a:solidFill>
                  <a:srgbClr val="D3E3F4"/>
                </a:solidFill>
                <a:latin typeface="Arial"/>
              </a:rPr>
              <a:t>Probabilidad de respuesta patológica completa (pCR) a partir de las tres fases DCE-MRI de un corte, con una CNN 2D entrenada desde cero.</a:t>
            </a:r>
          </a:p>
        </p:txBody>
      </p:sp>
      <p:sp>
        <p:nvSpPr>
          <p:cNvPr id="32" name="TextBox 31"/>
          <p:cNvSpPr txBox="1"/>
          <p:nvPr/>
        </p:nvSpPr>
        <p:spPr>
          <a:xfrm>
            <a:off x="3810000" y="6019800"/>
            <a:ext cx="4064000" cy="215900"/>
          </a:xfrm>
          <a:prstGeom prst="rect">
            <a:avLst/>
          </a:prstGeom>
          <a:noFill/>
        </p:spPr>
        <p:txBody>
          <a:bodyPr wrap="square" anchor="t" lIns="0" rIns="0" tIns="0" bIns="0">
            <a:spAutoFit/>
          </a:bodyPr>
          <a:lstStyle/>
          <a:p>
            <a:pPr algn="l">
              <a:lnSpc>
                <a:spcPct val="83333"/>
              </a:lnSpc>
            </a:pPr>
            <a:r>
              <a:rPr sz="1200" b="1">
                <a:solidFill>
                  <a:srgbClr val="FFFFFF"/>
                </a:solidFill>
                <a:latin typeface="Arial"/>
              </a:rPr>
              <a:t>Rubén Elices Rodríguez</a:t>
            </a:r>
            <a:r>
              <a:rPr sz="1200" b="0">
                <a:solidFill>
                  <a:srgbClr val="FFFFFF"/>
                </a:solidFill>
                <a:latin typeface="Arial"/>
              </a:rPr>
              <a:t> · 4.º Ingeniería Matemática</a:t>
            </a:r>
          </a:p>
        </p:txBody>
      </p:sp>
      <p:sp>
        <p:nvSpPr>
          <p:cNvPr id="33" name="TextBox 32"/>
          <p:cNvSpPr txBox="1"/>
          <p:nvPr/>
        </p:nvSpPr>
        <p:spPr>
          <a:xfrm>
            <a:off x="3810000" y="6261100"/>
            <a:ext cx="4064000" cy="190500"/>
          </a:xfrm>
          <a:prstGeom prst="rect">
            <a:avLst/>
          </a:prstGeom>
          <a:noFill/>
        </p:spPr>
        <p:txBody>
          <a:bodyPr wrap="square" anchor="t" lIns="0" rIns="0" tIns="0" bIns="0">
            <a:spAutoFit/>
          </a:bodyPr>
          <a:lstStyle/>
          <a:p>
            <a:pPr algn="l">
              <a:lnSpc>
                <a:spcPct val="83333"/>
              </a:lnSpc>
            </a:pPr>
            <a:r>
              <a:rPr sz="1100" b="0">
                <a:solidFill>
                  <a:srgbClr val="D3E3F4"/>
                </a:solidFill>
                <a:latin typeface="Arial"/>
              </a:rPr>
              <a:t>Uso educativo, sin validez clínica</a:t>
            </a:r>
          </a:p>
        </p:txBody>
      </p:sp>
    </p:spTree>
    <p:extLst>
      <p:ext uri="{BB962C8B-B14F-4D97-AF65-F5344CB8AC3E}">
        <p14:creationId xmlns:p14="http://schemas.microsoft.com/office/powerpoint/2010/main" val="364406314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956800" y="254000"/>
            <a:ext cx="1524000" cy="1143000"/>
          </a:xfrm>
          <a:prstGeom prst="rect">
            <a:avLst/>
          </a:prstGeom>
          <a:noFill/>
        </p:spPr>
        <p:txBody>
          <a:bodyPr wrap="square" anchor="t" lIns="0" rIns="0" tIns="0" bIns="0">
            <a:spAutoFit/>
          </a:bodyPr>
          <a:lstStyle/>
          <a:p>
            <a:pPr algn="r">
              <a:lnSpc>
                <a:spcPct val="83333"/>
              </a:lnSpc>
            </a:pPr>
            <a:r>
              <a:rPr sz="8500" b="1">
                <a:solidFill>
                  <a:srgbClr val="F5E4EC"/>
                </a:solidFill>
                <a:latin typeface="Arial Narrow"/>
              </a:rPr>
              <a:t>1</a:t>
            </a:r>
          </a:p>
        </p:txBody>
      </p:sp>
      <p:sp>
        <p:nvSpPr>
          <p:cNvPr id="3" name="TextBox 2"/>
          <p:cNvSpPr txBox="1"/>
          <p:nvPr/>
        </p:nvSpPr>
        <p:spPr>
          <a:xfrm>
            <a:off x="711200" y="812800"/>
            <a:ext cx="8255000" cy="215900"/>
          </a:xfrm>
          <a:prstGeom prst="rect">
            <a:avLst/>
          </a:prstGeom>
          <a:noFill/>
        </p:spPr>
        <p:txBody>
          <a:bodyPr wrap="square" anchor="t" lIns="0" rIns="0" tIns="0" bIns="0">
            <a:spAutoFit/>
          </a:bodyPr>
          <a:lstStyle/>
          <a:p>
            <a:pPr algn="l">
              <a:lnSpc>
                <a:spcPct val="83333"/>
              </a:lnSpc>
            </a:pPr>
            <a:r>
              <a:rPr sz="1200" b="1" spc="250">
                <a:solidFill>
                  <a:srgbClr val="C2477F"/>
                </a:solidFill>
                <a:latin typeface="Arial"/>
              </a:rPr>
              <a:t>01 · PROBLEMA CLÍNICO Y OBJETIVO</a:t>
            </a:r>
          </a:p>
        </p:txBody>
      </p:sp>
      <p:sp>
        <p:nvSpPr>
          <p:cNvPr id="4" name="TextBox 3"/>
          <p:cNvSpPr txBox="1"/>
          <p:nvPr/>
        </p:nvSpPr>
        <p:spPr>
          <a:xfrm>
            <a:off x="711200" y="1054100"/>
            <a:ext cx="9207500" cy="533400"/>
          </a:xfrm>
          <a:prstGeom prst="rect">
            <a:avLst/>
          </a:prstGeom>
          <a:noFill/>
        </p:spPr>
        <p:txBody>
          <a:bodyPr wrap="square" anchor="t" lIns="0" rIns="0" tIns="0" bIns="0">
            <a:spAutoFit/>
          </a:bodyPr>
          <a:lstStyle/>
          <a:p>
            <a:pPr algn="l">
              <a:lnSpc>
                <a:spcPct val="83333"/>
              </a:lnSpc>
            </a:pPr>
            <a:r>
              <a:rPr sz="3600" b="1">
                <a:solidFill>
                  <a:srgbClr val="16202B"/>
                </a:solidFill>
                <a:latin typeface="Arial Narrow"/>
              </a:rPr>
              <a:t>Anticipar la pCR antes de la cirugía</a:t>
            </a:r>
          </a:p>
        </p:txBody>
      </p:sp>
      <p:sp>
        <p:nvSpPr>
          <p:cNvPr id="5" name="TextBox 4"/>
          <p:cNvSpPr txBox="1"/>
          <p:nvPr/>
        </p:nvSpPr>
        <p:spPr>
          <a:xfrm>
            <a:off x="711200" y="1612900"/>
            <a:ext cx="9207500" cy="571500"/>
          </a:xfrm>
          <a:prstGeom prst="rect">
            <a:avLst/>
          </a:prstGeom>
          <a:noFill/>
        </p:spPr>
        <p:txBody>
          <a:bodyPr wrap="square" anchor="t" lIns="0" rIns="0" tIns="0" bIns="0">
            <a:spAutoFit/>
          </a:bodyPr>
          <a:lstStyle/>
          <a:p>
            <a:pPr algn="l">
              <a:lnSpc>
                <a:spcPct val="112500"/>
              </a:lnSpc>
            </a:pPr>
            <a:r>
              <a:rPr sz="1400" b="0">
                <a:solidFill>
                  <a:srgbClr val="4F5B67"/>
                </a:solidFill>
                <a:latin typeface="Arial"/>
              </a:rPr>
              <a:t>Muchas pacientes con cáncer de mama reciben quimioterapia neoadyuvante antes de operarse. Si después no queda tumor invasivo hay respuesta patológica completa, pero eso solo se sabe tras la cirugía.</a:t>
            </a:r>
          </a:p>
        </p:txBody>
      </p:sp>
      <p:sp>
        <p:nvSpPr>
          <p:cNvPr id="6" name="TextBox 5"/>
          <p:cNvSpPr txBox="1"/>
          <p:nvPr/>
        </p:nvSpPr>
        <p:spPr>
          <a:xfrm>
            <a:off x="711200" y="6286500"/>
            <a:ext cx="5715000" cy="190500"/>
          </a:xfrm>
          <a:prstGeom prst="rect">
            <a:avLst/>
          </a:prstGeom>
          <a:noFill/>
        </p:spPr>
        <p:txBody>
          <a:bodyPr wrap="square" anchor="t" lIns="0" rIns="0" tIns="0" bIns="0">
            <a:spAutoFit/>
          </a:bodyPr>
          <a:lstStyle/>
          <a:p>
            <a:pPr algn="l">
              <a:lnSpc>
                <a:spcPct val="83333"/>
              </a:lnSpc>
            </a:pPr>
            <a:r>
              <a:rPr sz="1200" b="0" spc="150">
                <a:solidFill>
                  <a:srgbClr val="6E7984"/>
                </a:solidFill>
                <a:latin typeface="Arial"/>
              </a:rPr>
              <a:t>PREDICCIÓN DE pCR · 1 / 5</a:t>
            </a:r>
          </a:p>
        </p:txBody>
      </p:sp>
      <p:sp>
        <p:nvSpPr>
          <p:cNvPr id="7" name="TextBox 6"/>
          <p:cNvSpPr txBox="1"/>
          <p:nvPr/>
        </p:nvSpPr>
        <p:spPr>
          <a:xfrm>
            <a:off x="7035800" y="6286500"/>
            <a:ext cx="4445000" cy="190500"/>
          </a:xfrm>
          <a:prstGeom prst="rect">
            <a:avLst/>
          </a:prstGeom>
          <a:noFill/>
        </p:spPr>
        <p:txBody>
          <a:bodyPr wrap="square" anchor="t" lIns="0" rIns="0" tIns="0" bIns="0">
            <a:spAutoFit/>
          </a:bodyPr>
          <a:lstStyle/>
          <a:p>
            <a:pPr algn="r">
              <a:lnSpc>
                <a:spcPct val="83333"/>
              </a:lnSpc>
            </a:pPr>
            <a:r>
              <a:rPr sz="1200" b="0" spc="150">
                <a:solidFill>
                  <a:srgbClr val="6E7984"/>
                </a:solidFill>
                <a:latin typeface="Arial"/>
              </a:rPr>
              <a:t>RUBÉN ELICES · UAX 26/27</a:t>
            </a:r>
          </a:p>
        </p:txBody>
      </p:sp>
      <p:sp>
        <p:nvSpPr>
          <p:cNvPr id="8" name="Rounded Rectangle 7"/>
          <p:cNvSpPr/>
          <p:nvPr/>
        </p:nvSpPr>
        <p:spPr>
          <a:xfrm>
            <a:off x="711200" y="2235200"/>
            <a:ext cx="3204307" cy="3670300"/>
          </a:xfrm>
          <a:prstGeom prst="roundRect">
            <a:avLst>
              <a:gd name="adj" fmla="val 3963"/>
            </a:avLst>
          </a:prstGeom>
          <a:solidFill>
            <a:srgbClr val="F4F6F9"/>
          </a:solidFill>
          <a:ln w="9525">
            <a:solidFill>
              <a:srgbClr val="DFE5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093307" y="2235200"/>
            <a:ext cx="4005384" cy="3670300"/>
          </a:xfrm>
          <a:prstGeom prst="roundRect">
            <a:avLst>
              <a:gd name="adj" fmla="val 3460"/>
            </a:avLst>
          </a:prstGeom>
          <a:solidFill>
            <a:srgbClr val="F4F6F9"/>
          </a:solidFill>
          <a:ln w="9525">
            <a:solidFill>
              <a:srgbClr val="DFE5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8276492" y="2235200"/>
            <a:ext cx="3204307" cy="3670300"/>
          </a:xfrm>
          <a:prstGeom prst="roundRect">
            <a:avLst>
              <a:gd name="adj" fmla="val 3963"/>
            </a:avLst>
          </a:prstGeom>
          <a:solidFill>
            <a:srgbClr val="F4F6F9"/>
          </a:solidFill>
          <a:ln w="9525">
            <a:solidFill>
              <a:srgbClr val="DFE5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39800" y="2463800"/>
            <a:ext cx="2747107" cy="215900"/>
          </a:xfrm>
          <a:prstGeom prst="rect">
            <a:avLst/>
          </a:prstGeom>
          <a:noFill/>
        </p:spPr>
        <p:txBody>
          <a:bodyPr wrap="square" anchor="t" lIns="0" rIns="0" tIns="0" bIns="0">
            <a:spAutoFit/>
          </a:bodyPr>
          <a:lstStyle/>
          <a:p>
            <a:pPr algn="l">
              <a:lnSpc>
                <a:spcPct val="83333"/>
              </a:lnSpc>
            </a:pPr>
            <a:r>
              <a:rPr sz="1200" b="1" spc="200">
                <a:solidFill>
                  <a:srgbClr val="C2477F"/>
                </a:solidFill>
                <a:latin typeface="Arial"/>
              </a:rPr>
              <a:t>QUÉ ES LA pCR</a:t>
            </a:r>
          </a:p>
        </p:txBody>
      </p:sp>
      <p:sp>
        <p:nvSpPr>
          <p:cNvPr id="12" name="TextBox 11"/>
          <p:cNvSpPr txBox="1"/>
          <p:nvPr/>
        </p:nvSpPr>
        <p:spPr>
          <a:xfrm>
            <a:off x="939800" y="2768600"/>
            <a:ext cx="2747107" cy="1460500"/>
          </a:xfrm>
          <a:prstGeom prst="rect">
            <a:avLst/>
          </a:prstGeom>
          <a:noFill/>
        </p:spPr>
        <p:txBody>
          <a:bodyPr wrap="square" anchor="t" lIns="0" rIns="0" tIns="0" bIns="0">
            <a:spAutoFit/>
          </a:bodyPr>
          <a:lstStyle/>
          <a:p>
            <a:pPr algn="l">
              <a:lnSpc>
                <a:spcPct val="116667"/>
              </a:lnSpc>
            </a:pPr>
            <a:r>
              <a:rPr sz="1400" b="0">
                <a:solidFill>
                  <a:srgbClr val="1F2A36"/>
                </a:solidFill>
                <a:latin typeface="Arial"/>
              </a:rPr>
              <a:t>Ausencia de tumor invasivo en la pieza quirúrgica tras la quimioterapia. Se confirma en anatomía patológica, después de operar.</a:t>
            </a:r>
          </a:p>
        </p:txBody>
      </p:sp>
      <p:sp>
        <p:nvSpPr>
          <p:cNvPr id="13" name="Rectangle 12"/>
          <p:cNvSpPr/>
          <p:nvPr/>
        </p:nvSpPr>
        <p:spPr>
          <a:xfrm>
            <a:off x="939800" y="4711700"/>
            <a:ext cx="2747107" cy="6350"/>
          </a:xfrm>
          <a:prstGeom prst="rect">
            <a:avLst/>
          </a:prstGeom>
          <a:solidFill>
            <a:srgbClr val="DFE5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39800" y="4838700"/>
            <a:ext cx="2747107" cy="215900"/>
          </a:xfrm>
          <a:prstGeom prst="rect">
            <a:avLst/>
          </a:prstGeom>
          <a:noFill/>
        </p:spPr>
        <p:txBody>
          <a:bodyPr wrap="square" anchor="t" lIns="0" rIns="0" tIns="0" bIns="0">
            <a:spAutoFit/>
          </a:bodyPr>
          <a:lstStyle/>
          <a:p>
            <a:pPr algn="l">
              <a:lnSpc>
                <a:spcPct val="83333"/>
              </a:lnSpc>
            </a:pPr>
            <a:r>
              <a:rPr sz="1200" b="1">
                <a:solidFill>
                  <a:srgbClr val="C9702C"/>
                </a:solidFill>
                <a:latin typeface="Arial"/>
              </a:rPr>
              <a:t>Qué no es</a:t>
            </a:r>
          </a:p>
        </p:txBody>
      </p:sp>
      <p:sp>
        <p:nvSpPr>
          <p:cNvPr id="15" name="TextBox 14"/>
          <p:cNvSpPr txBox="1"/>
          <p:nvPr/>
        </p:nvSpPr>
        <p:spPr>
          <a:xfrm>
            <a:off x="939800" y="5080000"/>
            <a:ext cx="2747107" cy="762000"/>
          </a:xfrm>
          <a:prstGeom prst="rect">
            <a:avLst/>
          </a:prstGeom>
          <a:noFill/>
        </p:spPr>
        <p:txBody>
          <a:bodyPr wrap="square" anchor="t" lIns="0" rIns="0" tIns="0" bIns="0">
            <a:spAutoFit/>
          </a:bodyPr>
          <a:lstStyle/>
          <a:p>
            <a:pPr algn="l">
              <a:lnSpc>
                <a:spcPct val="116667"/>
              </a:lnSpc>
            </a:pPr>
            <a:r>
              <a:rPr sz="1300" b="0">
                <a:solidFill>
                  <a:srgbClr val="4F5B67"/>
                </a:solidFill>
                <a:latin typeface="Arial"/>
              </a:rPr>
              <a:t>Ni detección de tumores, ni supervivencia, ni una recomendación de omitir la cirugía.</a:t>
            </a:r>
          </a:p>
        </p:txBody>
      </p:sp>
      <p:sp>
        <p:nvSpPr>
          <p:cNvPr id="16" name="TextBox 15"/>
          <p:cNvSpPr txBox="1"/>
          <p:nvPr/>
        </p:nvSpPr>
        <p:spPr>
          <a:xfrm>
            <a:off x="4321907" y="2463800"/>
            <a:ext cx="3548184" cy="215900"/>
          </a:xfrm>
          <a:prstGeom prst="rect">
            <a:avLst/>
          </a:prstGeom>
          <a:noFill/>
        </p:spPr>
        <p:txBody>
          <a:bodyPr wrap="square" anchor="t" lIns="0" rIns="0" tIns="0" bIns="0">
            <a:spAutoFit/>
          </a:bodyPr>
          <a:lstStyle/>
          <a:p>
            <a:pPr algn="l">
              <a:lnSpc>
                <a:spcPct val="83333"/>
              </a:lnSpc>
            </a:pPr>
            <a:r>
              <a:rPr sz="1200" b="1" spc="200">
                <a:solidFill>
                  <a:srgbClr val="C2477F"/>
                </a:solidFill>
                <a:latin typeface="Arial"/>
              </a:rPr>
              <a:t>LA ENTRADA: UN CORTE</a:t>
            </a:r>
          </a:p>
        </p:txBody>
      </p:sp>
      <p:pic>
        <p:nvPicPr>
          <p:cNvPr id="17" name="Picture 16" descr="PRE.png"/>
          <p:cNvPicPr>
            <a:picLocks noChangeAspect="1"/>
          </p:cNvPicPr>
          <p:nvPr/>
        </p:nvPicPr>
        <p:blipFill>
          <a:blip r:embed="rId2"/>
          <a:stretch>
            <a:fillRect/>
          </a:stretch>
        </p:blipFill>
        <p:spPr>
          <a:xfrm>
            <a:off x="4321907" y="2781300"/>
            <a:ext cx="820371" cy="820371"/>
          </a:xfrm>
          <a:prstGeom prst="rect">
            <a:avLst/>
          </a:prstGeom>
        </p:spPr>
      </p:pic>
      <p:sp>
        <p:nvSpPr>
          <p:cNvPr id="18" name="TextBox 17"/>
          <p:cNvSpPr txBox="1"/>
          <p:nvPr/>
        </p:nvSpPr>
        <p:spPr>
          <a:xfrm>
            <a:off x="4321907" y="3652471"/>
            <a:ext cx="820371" cy="190500"/>
          </a:xfrm>
          <a:prstGeom prst="rect">
            <a:avLst/>
          </a:prstGeom>
          <a:noFill/>
        </p:spPr>
        <p:txBody>
          <a:bodyPr wrap="square" anchor="t" lIns="0" rIns="0" tIns="0" bIns="0">
            <a:spAutoFit/>
          </a:bodyPr>
          <a:lstStyle/>
          <a:p>
            <a:pPr algn="l">
              <a:lnSpc>
                <a:spcPct val="83333"/>
              </a:lnSpc>
            </a:pPr>
            <a:r>
              <a:rPr sz="1200" b="1">
                <a:solidFill>
                  <a:srgbClr val="2F7DC4"/>
                </a:solidFill>
                <a:latin typeface="Arial"/>
              </a:rPr>
              <a:t>PRE</a:t>
            </a:r>
          </a:p>
        </p:txBody>
      </p:sp>
      <p:pic>
        <p:nvPicPr>
          <p:cNvPr id="19" name="Picture 18" descr="EARLY.png"/>
          <p:cNvPicPr>
            <a:picLocks noChangeAspect="1"/>
          </p:cNvPicPr>
          <p:nvPr/>
        </p:nvPicPr>
        <p:blipFill>
          <a:blip r:embed="rId3"/>
          <a:stretch>
            <a:fillRect/>
          </a:stretch>
        </p:blipFill>
        <p:spPr>
          <a:xfrm>
            <a:off x="5231178" y="2781300"/>
            <a:ext cx="820371" cy="820371"/>
          </a:xfrm>
          <a:prstGeom prst="rect">
            <a:avLst/>
          </a:prstGeom>
        </p:spPr>
      </p:pic>
      <p:sp>
        <p:nvSpPr>
          <p:cNvPr id="20" name="TextBox 19"/>
          <p:cNvSpPr txBox="1"/>
          <p:nvPr/>
        </p:nvSpPr>
        <p:spPr>
          <a:xfrm>
            <a:off x="5231178" y="3652471"/>
            <a:ext cx="820371" cy="190500"/>
          </a:xfrm>
          <a:prstGeom prst="rect">
            <a:avLst/>
          </a:prstGeom>
          <a:noFill/>
        </p:spPr>
        <p:txBody>
          <a:bodyPr wrap="square" anchor="t" lIns="0" rIns="0" tIns="0" bIns="0">
            <a:spAutoFit/>
          </a:bodyPr>
          <a:lstStyle/>
          <a:p>
            <a:pPr algn="l">
              <a:lnSpc>
                <a:spcPct val="83333"/>
              </a:lnSpc>
            </a:pPr>
            <a:r>
              <a:rPr sz="1200" b="1">
                <a:solidFill>
                  <a:srgbClr val="B98516"/>
                </a:solidFill>
                <a:latin typeface="Arial"/>
              </a:rPr>
              <a:t>EARLY</a:t>
            </a:r>
          </a:p>
        </p:txBody>
      </p:sp>
      <p:pic>
        <p:nvPicPr>
          <p:cNvPr id="21" name="Picture 20" descr="LATE.png"/>
          <p:cNvPicPr>
            <a:picLocks noChangeAspect="1"/>
          </p:cNvPicPr>
          <p:nvPr/>
        </p:nvPicPr>
        <p:blipFill>
          <a:blip r:embed="rId4"/>
          <a:stretch>
            <a:fillRect/>
          </a:stretch>
        </p:blipFill>
        <p:spPr>
          <a:xfrm>
            <a:off x="6140450" y="2781300"/>
            <a:ext cx="820371" cy="820371"/>
          </a:xfrm>
          <a:prstGeom prst="rect">
            <a:avLst/>
          </a:prstGeom>
        </p:spPr>
      </p:pic>
      <p:sp>
        <p:nvSpPr>
          <p:cNvPr id="22" name="TextBox 21"/>
          <p:cNvSpPr txBox="1"/>
          <p:nvPr/>
        </p:nvSpPr>
        <p:spPr>
          <a:xfrm>
            <a:off x="6140450" y="3652471"/>
            <a:ext cx="820371" cy="190500"/>
          </a:xfrm>
          <a:prstGeom prst="rect">
            <a:avLst/>
          </a:prstGeom>
          <a:noFill/>
        </p:spPr>
        <p:txBody>
          <a:bodyPr wrap="square" anchor="t" lIns="0" rIns="0" tIns="0" bIns="0">
            <a:spAutoFit/>
          </a:bodyPr>
          <a:lstStyle/>
          <a:p>
            <a:pPr algn="l">
              <a:lnSpc>
                <a:spcPct val="83333"/>
              </a:lnSpc>
            </a:pPr>
            <a:r>
              <a:rPr sz="1200" b="1">
                <a:solidFill>
                  <a:srgbClr val="C94C86"/>
                </a:solidFill>
                <a:latin typeface="Arial"/>
              </a:rPr>
              <a:t>LATE</a:t>
            </a:r>
          </a:p>
        </p:txBody>
      </p:sp>
      <p:pic>
        <p:nvPicPr>
          <p:cNvPr id="23" name="Picture 22" descr="REALCE.png"/>
          <p:cNvPicPr>
            <a:picLocks noChangeAspect="1"/>
          </p:cNvPicPr>
          <p:nvPr/>
        </p:nvPicPr>
        <p:blipFill>
          <a:blip r:embed="rId5"/>
          <a:stretch>
            <a:fillRect/>
          </a:stretch>
        </p:blipFill>
        <p:spPr>
          <a:xfrm>
            <a:off x="7049721" y="2781300"/>
            <a:ext cx="820371" cy="820371"/>
          </a:xfrm>
          <a:prstGeom prst="rect">
            <a:avLst/>
          </a:prstGeom>
        </p:spPr>
      </p:pic>
      <p:sp>
        <p:nvSpPr>
          <p:cNvPr id="24" name="TextBox 23"/>
          <p:cNvSpPr txBox="1"/>
          <p:nvPr/>
        </p:nvSpPr>
        <p:spPr>
          <a:xfrm>
            <a:off x="7049721" y="3652471"/>
            <a:ext cx="820371" cy="190500"/>
          </a:xfrm>
          <a:prstGeom prst="rect">
            <a:avLst/>
          </a:prstGeom>
          <a:noFill/>
        </p:spPr>
        <p:txBody>
          <a:bodyPr wrap="square" anchor="t" lIns="0" rIns="0" tIns="0" bIns="0">
            <a:spAutoFit/>
          </a:bodyPr>
          <a:lstStyle/>
          <a:p>
            <a:pPr algn="l">
              <a:lnSpc>
                <a:spcPct val="83333"/>
              </a:lnSpc>
            </a:pPr>
            <a:r>
              <a:rPr sz="1200" b="1">
                <a:solidFill>
                  <a:srgbClr val="4F5B67"/>
                </a:solidFill>
                <a:latin typeface="Arial"/>
              </a:rPr>
              <a:t>Realce</a:t>
            </a:r>
          </a:p>
        </p:txBody>
      </p:sp>
      <p:sp>
        <p:nvSpPr>
          <p:cNvPr id="25" name="TextBox 24"/>
          <p:cNvSpPr txBox="1"/>
          <p:nvPr/>
        </p:nvSpPr>
        <p:spPr>
          <a:xfrm>
            <a:off x="4321907" y="3957271"/>
            <a:ext cx="3548184" cy="825500"/>
          </a:xfrm>
          <a:prstGeom prst="rect">
            <a:avLst/>
          </a:prstGeom>
          <a:noFill/>
        </p:spPr>
        <p:txBody>
          <a:bodyPr wrap="square" anchor="t" lIns="0" rIns="0" tIns="0" bIns="0">
            <a:spAutoFit/>
          </a:bodyPr>
          <a:lstStyle/>
          <a:p>
            <a:pPr algn="l">
              <a:lnSpc>
                <a:spcPct val="116667"/>
              </a:lnSpc>
            </a:pPr>
            <a:r>
              <a:rPr sz="1400" b="0">
                <a:solidFill>
                  <a:srgbClr val="1F2A36"/>
                </a:solidFill>
                <a:latin typeface="Arial"/>
              </a:rPr>
              <a:t>Tres fases DCE-MRI de 256 × 256 píxeles, adquiridas antes del tratamiento: antes del contraste, poco después y más tarde.</a:t>
            </a:r>
          </a:p>
        </p:txBody>
      </p:sp>
      <p:sp>
        <p:nvSpPr>
          <p:cNvPr id="26" name="TextBox 25"/>
          <p:cNvSpPr txBox="1"/>
          <p:nvPr/>
        </p:nvSpPr>
        <p:spPr>
          <a:xfrm>
            <a:off x="4321907" y="4782771"/>
            <a:ext cx="3548184" cy="698500"/>
          </a:xfrm>
          <a:prstGeom prst="rect">
            <a:avLst/>
          </a:prstGeom>
          <a:noFill/>
        </p:spPr>
        <p:txBody>
          <a:bodyPr wrap="square" anchor="t" lIns="0" rIns="0" tIns="0" bIns="0">
            <a:spAutoFit/>
          </a:bodyPr>
          <a:lstStyle/>
          <a:p>
            <a:pPr algn="l">
              <a:lnSpc>
                <a:spcPct val="116667"/>
              </a:lnSpc>
            </a:pPr>
            <a:r>
              <a:rPr sz="1300" b="0">
                <a:solidFill>
                  <a:srgbClr val="4F5B67"/>
                </a:solidFill>
                <a:latin typeface="Arial"/>
              </a:rPr>
              <a:t>Son tiempos de adquisición, no colores RGB. El realce (EARLY − PRE) es lo que la red recibe como segundo canal.</a:t>
            </a:r>
          </a:p>
        </p:txBody>
      </p:sp>
      <p:sp>
        <p:nvSpPr>
          <p:cNvPr id="27" name="TextBox 26"/>
          <p:cNvSpPr txBox="1"/>
          <p:nvPr/>
        </p:nvSpPr>
        <p:spPr>
          <a:xfrm>
            <a:off x="8505092" y="2463800"/>
            <a:ext cx="2747107" cy="215900"/>
          </a:xfrm>
          <a:prstGeom prst="rect">
            <a:avLst/>
          </a:prstGeom>
          <a:noFill/>
        </p:spPr>
        <p:txBody>
          <a:bodyPr wrap="square" anchor="t" lIns="0" rIns="0" tIns="0" bIns="0">
            <a:spAutoFit/>
          </a:bodyPr>
          <a:lstStyle/>
          <a:p>
            <a:pPr algn="l">
              <a:lnSpc>
                <a:spcPct val="83333"/>
              </a:lnSpc>
            </a:pPr>
            <a:r>
              <a:rPr sz="1200" b="1" spc="200">
                <a:solidFill>
                  <a:srgbClr val="C2477F"/>
                </a:solidFill>
                <a:latin typeface="Arial"/>
              </a:rPr>
              <a:t>EL OBJETIVO</a:t>
            </a:r>
          </a:p>
        </p:txBody>
      </p:sp>
      <p:sp>
        <p:nvSpPr>
          <p:cNvPr id="28" name="TextBox 27"/>
          <p:cNvSpPr txBox="1"/>
          <p:nvPr/>
        </p:nvSpPr>
        <p:spPr>
          <a:xfrm>
            <a:off x="8505092" y="2768600"/>
            <a:ext cx="2747107" cy="1079500"/>
          </a:xfrm>
          <a:prstGeom prst="rect">
            <a:avLst/>
          </a:prstGeom>
          <a:noFill/>
        </p:spPr>
        <p:txBody>
          <a:bodyPr wrap="square" anchor="t" lIns="0" rIns="0" tIns="0" bIns="0">
            <a:spAutoFit/>
          </a:bodyPr>
          <a:lstStyle/>
          <a:p>
            <a:pPr algn="l">
              <a:lnSpc>
                <a:spcPct val="116667"/>
              </a:lnSpc>
            </a:pPr>
            <a:r>
              <a:rPr sz="1400" b="0">
                <a:solidFill>
                  <a:srgbClr val="1F2A36"/>
                </a:solidFill>
                <a:latin typeface="Arial"/>
              </a:rPr>
              <a:t>Clasificación binaria por paciente: </a:t>
            </a:r>
            <a:r>
              <a:rPr sz="1400" b="1">
                <a:solidFill>
                  <a:srgbClr val="1F2A36"/>
                </a:solidFill>
                <a:latin typeface="Arial"/>
              </a:rPr>
              <a:t>pCR = 1</a:t>
            </a:r>
            <a:r>
              <a:rPr sz="1400" b="0">
                <a:solidFill>
                  <a:srgbClr val="1F2A36"/>
                </a:solidFill>
                <a:latin typeface="Arial"/>
              </a:rPr>
              <a:t> frente a </a:t>
            </a:r>
            <a:r>
              <a:rPr sz="1400" b="1">
                <a:solidFill>
                  <a:srgbClr val="1F2A36"/>
                </a:solidFill>
                <a:latin typeface="Arial"/>
              </a:rPr>
              <a:t>pCR = 0</a:t>
            </a:r>
            <a:r>
              <a:rPr sz="1400" b="0">
                <a:solidFill>
                  <a:srgbClr val="1F2A36"/>
                </a:solidFill>
                <a:latin typeface="Arial"/>
              </a:rPr>
              <a:t>, solo con imagen.</a:t>
            </a:r>
          </a:p>
        </p:txBody>
      </p:sp>
      <p:sp>
        <p:nvSpPr>
          <p:cNvPr id="29" name="Rectangle 28"/>
          <p:cNvSpPr/>
          <p:nvPr/>
        </p:nvSpPr>
        <p:spPr>
          <a:xfrm>
            <a:off x="8505092" y="4241800"/>
            <a:ext cx="2747107" cy="6350"/>
          </a:xfrm>
          <a:prstGeom prst="rect">
            <a:avLst/>
          </a:prstGeom>
          <a:solidFill>
            <a:srgbClr val="DFE5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505092" y="4368800"/>
            <a:ext cx="2747107" cy="215900"/>
          </a:xfrm>
          <a:prstGeom prst="rect">
            <a:avLst/>
          </a:prstGeom>
          <a:noFill/>
        </p:spPr>
        <p:txBody>
          <a:bodyPr wrap="square" anchor="t" lIns="0" rIns="0" tIns="0" bIns="0">
            <a:spAutoFit/>
          </a:bodyPr>
          <a:lstStyle/>
          <a:p>
            <a:pPr algn="l">
              <a:lnSpc>
                <a:spcPct val="83333"/>
              </a:lnSpc>
            </a:pPr>
            <a:r>
              <a:rPr sz="1200" b="1">
                <a:solidFill>
                  <a:srgbClr val="2F7DC4"/>
                </a:solidFill>
                <a:latin typeface="Arial"/>
              </a:rPr>
              <a:t>Reglas del enunciado</a:t>
            </a:r>
          </a:p>
        </p:txBody>
      </p:sp>
      <p:sp>
        <p:nvSpPr>
          <p:cNvPr id="31" name="TextBox 30"/>
          <p:cNvSpPr txBox="1"/>
          <p:nvPr/>
        </p:nvSpPr>
        <p:spPr>
          <a:xfrm>
            <a:off x="8505092" y="4622800"/>
            <a:ext cx="2747107" cy="1206500"/>
          </a:xfrm>
          <a:prstGeom prst="rect">
            <a:avLst/>
          </a:prstGeom>
          <a:noFill/>
        </p:spPr>
        <p:txBody>
          <a:bodyPr wrap="square" anchor="t" lIns="0" rIns="0" tIns="0" bIns="0">
            <a:spAutoFit/>
          </a:bodyPr>
          <a:lstStyle/>
          <a:p>
            <a:pPr algn="l">
              <a:lnSpc>
                <a:spcPct val="108333"/>
              </a:lnSpc>
            </a:pPr>
            <a:r>
              <a:rPr sz="1300" b="0">
                <a:solidFill>
                  <a:srgbClr val="4F5B67"/>
                </a:solidFill>
                <a:latin typeface="Arial"/>
              </a:rPr>
              <a:t>•  CNN 2D propia, sin transfer learning</a:t>
            </a:r>
          </a:p>
          <a:p>
            <a:pPr algn="l">
              <a:lnSpc>
                <a:spcPct val="108333"/>
              </a:lnSpc>
            </a:pPr>
            <a:r>
              <a:rPr sz="1300" b="0">
                <a:solidFill>
                  <a:srgbClr val="4F5B67"/>
                </a:solidFill>
                <a:latin typeface="Arial"/>
              </a:rPr>
              <a:t>•  Particiones por paciente</a:t>
            </a:r>
          </a:p>
          <a:p>
            <a:pPr algn="l">
              <a:lnSpc>
                <a:spcPct val="108333"/>
              </a:lnSpc>
            </a:pPr>
            <a:r>
              <a:rPr sz="1300" b="0">
                <a:solidFill>
                  <a:srgbClr val="4F5B67"/>
                </a:solidFill>
                <a:latin typeface="Arial"/>
              </a:rPr>
              <a:t>•  Test evaluado una sola vez</a:t>
            </a:r>
          </a:p>
          <a:p>
            <a:pPr algn="l">
              <a:lnSpc>
                <a:spcPct val="108333"/>
              </a:lnSpc>
            </a:pPr>
            <a:r>
              <a:rPr sz="1300" b="0">
                <a:solidFill>
                  <a:srgbClr val="4F5B67"/>
                </a:solidFill>
                <a:latin typeface="Arial"/>
              </a:rPr>
              <a:t>•  BCE normal frente a ponderada</a:t>
            </a:r>
          </a:p>
        </p:txBody>
      </p:sp>
    </p:spTree>
    <p:extLst>
      <p:ext uri="{BB962C8B-B14F-4D97-AF65-F5344CB8AC3E}">
        <p14:creationId xmlns:p14="http://schemas.microsoft.com/office/powerpoint/2010/main" val="3418853889"/>
      </p:ext>
    </p:extLst>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56800" y="254000"/>
            <a:ext cx="1524000" cy="1143000"/>
          </a:xfrm>
          <a:prstGeom prst="rect">
            <a:avLst/>
          </a:prstGeom>
          <a:noFill/>
        </p:spPr>
        <p:txBody>
          <a:bodyPr wrap="square" anchor="t" lIns="0" rIns="0" tIns="0" bIns="0">
            <a:spAutoFit/>
          </a:bodyPr>
          <a:lstStyle/>
          <a:p>
            <a:pPr algn="r">
              <a:lnSpc>
                <a:spcPct val="83333"/>
              </a:lnSpc>
            </a:pPr>
            <a:r>
              <a:rPr sz="8500" b="1">
                <a:solidFill>
                  <a:srgbClr val="F5E4EC"/>
                </a:solidFill>
                <a:latin typeface="Arial Narrow"/>
              </a:rPr>
              <a:t>2</a:t>
            </a:r>
          </a:p>
        </p:txBody>
      </p:sp>
      <p:sp>
        <p:nvSpPr>
          <p:cNvPr id="3" name="TextBox 2"/>
          <p:cNvSpPr txBox="1"/>
          <p:nvPr/>
        </p:nvSpPr>
        <p:spPr>
          <a:xfrm>
            <a:off x="711200" y="812800"/>
            <a:ext cx="8255000" cy="215900"/>
          </a:xfrm>
          <a:prstGeom prst="rect">
            <a:avLst/>
          </a:prstGeom>
          <a:noFill/>
        </p:spPr>
        <p:txBody>
          <a:bodyPr wrap="square" anchor="t" lIns="0" rIns="0" tIns="0" bIns="0">
            <a:spAutoFit/>
          </a:bodyPr>
          <a:lstStyle/>
          <a:p>
            <a:pPr algn="l">
              <a:lnSpc>
                <a:spcPct val="83333"/>
              </a:lnSpc>
            </a:pPr>
            <a:r>
              <a:rPr sz="1200" b="1" spc="250">
                <a:solidFill>
                  <a:srgbClr val="C2477F"/>
                </a:solidFill>
                <a:latin typeface="Arial"/>
              </a:rPr>
              <a:t>02 · DATOS, PARTICIONES Y CLASES</a:t>
            </a:r>
          </a:p>
        </p:txBody>
      </p:sp>
      <p:sp>
        <p:nvSpPr>
          <p:cNvPr id="4" name="TextBox 3"/>
          <p:cNvSpPr txBox="1"/>
          <p:nvPr/>
        </p:nvSpPr>
        <p:spPr>
          <a:xfrm>
            <a:off x="711200" y="1054100"/>
            <a:ext cx="9207500" cy="533400"/>
          </a:xfrm>
          <a:prstGeom prst="rect">
            <a:avLst/>
          </a:prstGeom>
          <a:noFill/>
        </p:spPr>
        <p:txBody>
          <a:bodyPr wrap="square" anchor="t" lIns="0" rIns="0" tIns="0" bIns="0">
            <a:spAutoFit/>
          </a:bodyPr>
          <a:lstStyle/>
          <a:p>
            <a:pPr algn="l">
              <a:lnSpc>
                <a:spcPct val="83333"/>
              </a:lnSpc>
            </a:pPr>
            <a:r>
              <a:rPr sz="3600" b="1">
                <a:solidFill>
                  <a:srgbClr val="16202B"/>
                </a:solidFill>
                <a:latin typeface="Arial Narrow"/>
              </a:rPr>
              <a:t>La paciente es la unidad, no el corte</a:t>
            </a:r>
          </a:p>
        </p:txBody>
      </p:sp>
      <p:sp>
        <p:nvSpPr>
          <p:cNvPr id="5" name="TextBox 4"/>
          <p:cNvSpPr txBox="1"/>
          <p:nvPr/>
        </p:nvSpPr>
        <p:spPr>
          <a:xfrm>
            <a:off x="711200" y="1612900"/>
            <a:ext cx="9207500" cy="571500"/>
          </a:xfrm>
          <a:prstGeom prst="rect">
            <a:avLst/>
          </a:prstGeom>
          <a:noFill/>
        </p:spPr>
        <p:txBody>
          <a:bodyPr wrap="square" anchor="t" lIns="0" rIns="0" tIns="0" bIns="0">
            <a:spAutoFit/>
          </a:bodyPr>
          <a:lstStyle/>
          <a:p>
            <a:pPr algn="l">
              <a:lnSpc>
                <a:spcPct val="112500"/>
              </a:lnSpc>
            </a:pPr>
            <a:r>
              <a:rPr sz="1400" b="0">
                <a:solidFill>
                  <a:srgbClr val="4F5B67"/>
                </a:solidFill>
                <a:latin typeface="Arial"/>
              </a:rPr>
              <a:t>1.097 pacientes de train (10.945 cortes) y 176 de test (1.758). Unos 10 cortes por paciente, correlacionados entre sí: nunca se reparten entre grupos.</a:t>
            </a:r>
          </a:p>
        </p:txBody>
      </p:sp>
      <p:sp>
        <p:nvSpPr>
          <p:cNvPr id="6" name="TextBox 5"/>
          <p:cNvSpPr txBox="1"/>
          <p:nvPr/>
        </p:nvSpPr>
        <p:spPr>
          <a:xfrm>
            <a:off x="711200" y="6286500"/>
            <a:ext cx="5715000" cy="190500"/>
          </a:xfrm>
          <a:prstGeom prst="rect">
            <a:avLst/>
          </a:prstGeom>
          <a:noFill/>
        </p:spPr>
        <p:txBody>
          <a:bodyPr wrap="square" anchor="t" lIns="0" rIns="0" tIns="0" bIns="0">
            <a:spAutoFit/>
          </a:bodyPr>
          <a:lstStyle/>
          <a:p>
            <a:pPr algn="l">
              <a:lnSpc>
                <a:spcPct val="83333"/>
              </a:lnSpc>
            </a:pPr>
            <a:r>
              <a:rPr sz="1200" b="0" spc="150">
                <a:solidFill>
                  <a:srgbClr val="6E7984"/>
                </a:solidFill>
                <a:latin typeface="Arial"/>
              </a:rPr>
              <a:t>PREDICCIÓN DE pCR · 2 / 5</a:t>
            </a:r>
          </a:p>
        </p:txBody>
      </p:sp>
      <p:sp>
        <p:nvSpPr>
          <p:cNvPr id="7" name="TextBox 6"/>
          <p:cNvSpPr txBox="1"/>
          <p:nvPr/>
        </p:nvSpPr>
        <p:spPr>
          <a:xfrm>
            <a:off x="7035800" y="6286500"/>
            <a:ext cx="4445000" cy="190500"/>
          </a:xfrm>
          <a:prstGeom prst="rect">
            <a:avLst/>
          </a:prstGeom>
          <a:noFill/>
        </p:spPr>
        <p:txBody>
          <a:bodyPr wrap="square" anchor="t" lIns="0" rIns="0" tIns="0" bIns="0">
            <a:spAutoFit/>
          </a:bodyPr>
          <a:lstStyle/>
          <a:p>
            <a:pPr algn="r">
              <a:lnSpc>
                <a:spcPct val="83333"/>
              </a:lnSpc>
            </a:pPr>
            <a:r>
              <a:rPr sz="1200" b="0" spc="150">
                <a:solidFill>
                  <a:srgbClr val="6E7984"/>
                </a:solidFill>
                <a:latin typeface="Arial"/>
              </a:rPr>
              <a:t>RUBÉN ELICES · UAX 26/27</a:t>
            </a:r>
          </a:p>
        </p:txBody>
      </p:sp>
      <p:sp>
        <p:nvSpPr>
          <p:cNvPr id="8" name="Rounded Rectangle 7"/>
          <p:cNvSpPr/>
          <p:nvPr/>
        </p:nvSpPr>
        <p:spPr>
          <a:xfrm>
            <a:off x="711200" y="2235200"/>
            <a:ext cx="6350000" cy="2540000"/>
          </a:xfrm>
          <a:prstGeom prst="roundRect">
            <a:avLst>
              <a:gd name="adj" fmla="val 5000"/>
            </a:avLst>
          </a:prstGeom>
          <a:solidFill>
            <a:srgbClr val="F4F6F9"/>
          </a:solidFill>
          <a:ln w="9525">
            <a:solidFill>
              <a:srgbClr val="DFE5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waffle.png"/>
          <p:cNvPicPr>
            <a:picLocks noChangeAspect="1"/>
          </p:cNvPicPr>
          <p:nvPr/>
        </p:nvPicPr>
        <p:blipFill>
          <a:blip r:embed="rId2"/>
          <a:stretch>
            <a:fillRect/>
          </a:stretch>
        </p:blipFill>
        <p:spPr>
          <a:xfrm>
            <a:off x="850900" y="2461815"/>
            <a:ext cx="6070600" cy="2086768"/>
          </a:xfrm>
          <a:prstGeom prst="rect">
            <a:avLst/>
          </a:prstGeom>
        </p:spPr>
      </p:pic>
      <p:sp>
        <p:nvSpPr>
          <p:cNvPr id="10" name="Rounded Rectangle 9"/>
          <p:cNvSpPr/>
          <p:nvPr/>
        </p:nvSpPr>
        <p:spPr>
          <a:xfrm>
            <a:off x="711200" y="4902200"/>
            <a:ext cx="2032000" cy="901700"/>
          </a:xfrm>
          <a:prstGeom prst="roundRect">
            <a:avLst>
              <a:gd name="adj" fmla="val 14084"/>
            </a:avLst>
          </a:prstGeom>
          <a:solidFill>
            <a:srgbClr val="F4F6F9"/>
          </a:solidFill>
          <a:ln w="9525">
            <a:solidFill>
              <a:srgbClr val="DFE5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9000" y="5054600"/>
            <a:ext cx="1714500" cy="381000"/>
          </a:xfrm>
          <a:prstGeom prst="rect">
            <a:avLst/>
          </a:prstGeom>
          <a:noFill/>
        </p:spPr>
        <p:txBody>
          <a:bodyPr wrap="square" anchor="t" lIns="0" rIns="0" tIns="0" bIns="0">
            <a:spAutoFit/>
          </a:bodyPr>
          <a:lstStyle/>
          <a:p>
            <a:pPr algn="l">
              <a:lnSpc>
                <a:spcPct val="83333"/>
              </a:lnSpc>
            </a:pPr>
            <a:r>
              <a:rPr sz="2800" b="1">
                <a:solidFill>
                  <a:srgbClr val="16202B"/>
                </a:solidFill>
                <a:latin typeface="Arial Narrow"/>
              </a:rPr>
              <a:t>29,4 %</a:t>
            </a:r>
          </a:p>
        </p:txBody>
      </p:sp>
      <p:sp>
        <p:nvSpPr>
          <p:cNvPr id="12" name="TextBox 11"/>
          <p:cNvSpPr txBox="1"/>
          <p:nvPr/>
        </p:nvSpPr>
        <p:spPr>
          <a:xfrm>
            <a:off x="889000" y="5473700"/>
            <a:ext cx="1714500" cy="215900"/>
          </a:xfrm>
          <a:prstGeom prst="rect">
            <a:avLst/>
          </a:prstGeom>
          <a:noFill/>
        </p:spPr>
        <p:txBody>
          <a:bodyPr wrap="square" anchor="t" lIns="0" rIns="0" tIns="0" bIns="0">
            <a:spAutoFit/>
          </a:bodyPr>
          <a:lstStyle/>
          <a:p>
            <a:pPr algn="l">
              <a:lnSpc>
                <a:spcPct val="83333"/>
              </a:lnSpc>
            </a:pPr>
            <a:r>
              <a:rPr sz="1200" b="0">
                <a:solidFill>
                  <a:srgbClr val="6E7984"/>
                </a:solidFill>
                <a:latin typeface="Arial"/>
              </a:rPr>
              <a:t>con pCR: 322 de 1.097</a:t>
            </a:r>
          </a:p>
        </p:txBody>
      </p:sp>
      <p:sp>
        <p:nvSpPr>
          <p:cNvPr id="13" name="Rounded Rectangle 12"/>
          <p:cNvSpPr/>
          <p:nvPr/>
        </p:nvSpPr>
        <p:spPr>
          <a:xfrm>
            <a:off x="2870200" y="4902200"/>
            <a:ext cx="2032000" cy="901700"/>
          </a:xfrm>
          <a:prstGeom prst="roundRect">
            <a:avLst>
              <a:gd name="adj" fmla="val 14084"/>
            </a:avLst>
          </a:prstGeom>
          <a:solidFill>
            <a:srgbClr val="F4F6F9"/>
          </a:solidFill>
          <a:ln w="9525">
            <a:solidFill>
              <a:srgbClr val="DFE5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048000" y="5054600"/>
            <a:ext cx="1714500" cy="381000"/>
          </a:xfrm>
          <a:prstGeom prst="rect">
            <a:avLst/>
          </a:prstGeom>
          <a:noFill/>
        </p:spPr>
        <p:txBody>
          <a:bodyPr wrap="square" anchor="t" lIns="0" rIns="0" tIns="0" bIns="0">
            <a:spAutoFit/>
          </a:bodyPr>
          <a:lstStyle/>
          <a:p>
            <a:pPr algn="l">
              <a:lnSpc>
                <a:spcPct val="83333"/>
              </a:lnSpc>
            </a:pPr>
            <a:r>
              <a:rPr sz="2800" b="1">
                <a:solidFill>
                  <a:srgbClr val="C94C86"/>
                </a:solidFill>
                <a:latin typeface="Arial Narrow"/>
              </a:rPr>
              <a:t>≈ 2,4</a:t>
            </a:r>
          </a:p>
        </p:txBody>
      </p:sp>
      <p:sp>
        <p:nvSpPr>
          <p:cNvPr id="15" name="TextBox 14"/>
          <p:cNvSpPr txBox="1"/>
          <p:nvPr/>
        </p:nvSpPr>
        <p:spPr>
          <a:xfrm>
            <a:off x="3048000" y="5473700"/>
            <a:ext cx="1714500" cy="215900"/>
          </a:xfrm>
          <a:prstGeom prst="rect">
            <a:avLst/>
          </a:prstGeom>
          <a:noFill/>
        </p:spPr>
        <p:txBody>
          <a:bodyPr wrap="square" anchor="t" lIns="0" rIns="0" tIns="0" bIns="0">
            <a:spAutoFit/>
          </a:bodyPr>
          <a:lstStyle/>
          <a:p>
            <a:pPr algn="l">
              <a:lnSpc>
                <a:spcPct val="83333"/>
              </a:lnSpc>
            </a:pPr>
            <a:r>
              <a:rPr sz="1200" b="0">
                <a:solidFill>
                  <a:srgbClr val="6E7984"/>
                </a:solidFill>
                <a:latin typeface="Arial"/>
              </a:rPr>
              <a:t>pos_weight = N0 / N1</a:t>
            </a:r>
          </a:p>
        </p:txBody>
      </p:sp>
      <p:sp>
        <p:nvSpPr>
          <p:cNvPr id="16" name="Rounded Rectangle 15"/>
          <p:cNvSpPr/>
          <p:nvPr/>
        </p:nvSpPr>
        <p:spPr>
          <a:xfrm>
            <a:off x="5029200" y="4902200"/>
            <a:ext cx="2032000" cy="901700"/>
          </a:xfrm>
          <a:prstGeom prst="roundRect">
            <a:avLst>
              <a:gd name="adj" fmla="val 14084"/>
            </a:avLst>
          </a:prstGeom>
          <a:solidFill>
            <a:srgbClr val="F4F6F9"/>
          </a:solidFill>
          <a:ln w="9525">
            <a:solidFill>
              <a:srgbClr val="DFE5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207000" y="5054600"/>
            <a:ext cx="1714500" cy="381000"/>
          </a:xfrm>
          <a:prstGeom prst="rect">
            <a:avLst/>
          </a:prstGeom>
          <a:noFill/>
        </p:spPr>
        <p:txBody>
          <a:bodyPr wrap="square" anchor="t" lIns="0" rIns="0" tIns="0" bIns="0">
            <a:spAutoFit/>
          </a:bodyPr>
          <a:lstStyle/>
          <a:p>
            <a:pPr algn="l">
              <a:lnSpc>
                <a:spcPct val="83333"/>
              </a:lnSpc>
            </a:pPr>
            <a:r>
              <a:rPr sz="2800" b="1">
                <a:solidFill>
                  <a:srgbClr val="16202B"/>
                </a:solidFill>
                <a:latin typeface="Arial Narrow"/>
              </a:rPr>
              <a:t>≈ 0,55</a:t>
            </a:r>
          </a:p>
        </p:txBody>
      </p:sp>
      <p:sp>
        <p:nvSpPr>
          <p:cNvPr id="18" name="TextBox 17"/>
          <p:cNvSpPr txBox="1"/>
          <p:nvPr/>
        </p:nvSpPr>
        <p:spPr>
          <a:xfrm>
            <a:off x="5207000" y="5473700"/>
            <a:ext cx="1714500" cy="215900"/>
          </a:xfrm>
          <a:prstGeom prst="rect">
            <a:avLst/>
          </a:prstGeom>
          <a:noFill/>
        </p:spPr>
        <p:txBody>
          <a:bodyPr wrap="square" anchor="t" lIns="0" rIns="0" tIns="0" bIns="0">
            <a:spAutoFit/>
          </a:bodyPr>
          <a:lstStyle/>
          <a:p>
            <a:pPr algn="l">
              <a:lnSpc>
                <a:spcPct val="83333"/>
              </a:lnSpc>
            </a:pPr>
            <a:r>
              <a:rPr sz="1200" b="0">
                <a:solidFill>
                  <a:srgbClr val="6E7984"/>
                </a:solidFill>
                <a:latin typeface="Arial"/>
              </a:rPr>
              <a:t>AUC de la cohorte sola</a:t>
            </a:r>
          </a:p>
        </p:txBody>
      </p:sp>
      <p:sp>
        <p:nvSpPr>
          <p:cNvPr id="19" name="Rounded Rectangle 18"/>
          <p:cNvSpPr/>
          <p:nvPr/>
        </p:nvSpPr>
        <p:spPr>
          <a:xfrm>
            <a:off x="7239000" y="2235200"/>
            <a:ext cx="4241800" cy="1841500"/>
          </a:xfrm>
          <a:prstGeom prst="roundRect">
            <a:avLst>
              <a:gd name="adj" fmla="val 6896"/>
            </a:avLst>
          </a:prstGeom>
          <a:solidFill>
            <a:srgbClr val="F4F6F9"/>
          </a:solidFill>
          <a:ln w="9525">
            <a:solidFill>
              <a:srgbClr val="DFE5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29500" y="2425700"/>
            <a:ext cx="3860800" cy="215900"/>
          </a:xfrm>
          <a:prstGeom prst="rect">
            <a:avLst/>
          </a:prstGeom>
          <a:noFill/>
        </p:spPr>
        <p:txBody>
          <a:bodyPr wrap="square" anchor="t" lIns="0" rIns="0" tIns="0" bIns="0">
            <a:spAutoFit/>
          </a:bodyPr>
          <a:lstStyle/>
          <a:p>
            <a:pPr algn="l">
              <a:lnSpc>
                <a:spcPct val="83333"/>
              </a:lnSpc>
            </a:pPr>
            <a:r>
              <a:rPr sz="1200" b="1" spc="200">
                <a:solidFill>
                  <a:srgbClr val="C2477F"/>
                </a:solidFill>
                <a:latin typeface="Arial"/>
              </a:rPr>
              <a:t>PARTICIONES</a:t>
            </a:r>
          </a:p>
        </p:txBody>
      </p:sp>
      <p:sp>
        <p:nvSpPr>
          <p:cNvPr id="21" name="TextBox 20"/>
          <p:cNvSpPr txBox="1"/>
          <p:nvPr/>
        </p:nvSpPr>
        <p:spPr>
          <a:xfrm>
            <a:off x="7429500" y="2717800"/>
            <a:ext cx="3860800" cy="952500"/>
          </a:xfrm>
          <a:prstGeom prst="rect">
            <a:avLst/>
          </a:prstGeom>
          <a:noFill/>
        </p:spPr>
        <p:txBody>
          <a:bodyPr wrap="square" anchor="t" lIns="0" rIns="0" tIns="0" bIns="0">
            <a:spAutoFit/>
          </a:bodyPr>
          <a:lstStyle/>
          <a:p>
            <a:pPr algn="l">
              <a:lnSpc>
                <a:spcPct val="112500"/>
              </a:lnSpc>
            </a:pPr>
            <a:r>
              <a:rPr sz="1200" b="0">
                <a:solidFill>
                  <a:srgbClr val="1F2A36"/>
                </a:solidFill>
                <a:latin typeface="Arial"/>
              </a:rPr>
              <a:t>Los 5 folds del profesor. En cada uno, el resto se divide en FIT (80 %), que entrena, y validación interna (20 %), que elige época y umbral. El fold exterior solo mide.</a:t>
            </a:r>
          </a:p>
        </p:txBody>
      </p:sp>
      <p:sp>
        <p:nvSpPr>
          <p:cNvPr id="22" name="TextBox 21"/>
          <p:cNvSpPr txBox="1"/>
          <p:nvPr/>
        </p:nvSpPr>
        <p:spPr>
          <a:xfrm>
            <a:off x="7429500" y="3733800"/>
            <a:ext cx="3860800" cy="215900"/>
          </a:xfrm>
          <a:prstGeom prst="rect">
            <a:avLst/>
          </a:prstGeom>
          <a:noFill/>
        </p:spPr>
        <p:txBody>
          <a:bodyPr wrap="square" anchor="t" lIns="0" rIns="0" tIns="0" bIns="0">
            <a:spAutoFit/>
          </a:bodyPr>
          <a:lstStyle/>
          <a:p>
            <a:pPr algn="l">
              <a:lnSpc>
                <a:spcPct val="83333"/>
              </a:lnSpc>
            </a:pPr>
            <a:r>
              <a:rPr sz="1200" b="0">
                <a:solidFill>
                  <a:srgbClr val="6E7984"/>
                </a:solidFill>
                <a:latin typeface="Arial"/>
              </a:rPr>
              <a:t>Fold 0: 702 FIT · 176 internas · 219 exteriores.</a:t>
            </a:r>
          </a:p>
        </p:txBody>
      </p:sp>
      <p:sp>
        <p:nvSpPr>
          <p:cNvPr id="23" name="Rounded Rectangle 22"/>
          <p:cNvSpPr/>
          <p:nvPr/>
        </p:nvSpPr>
        <p:spPr>
          <a:xfrm>
            <a:off x="7239000" y="4203700"/>
            <a:ext cx="4241800" cy="1600200"/>
          </a:xfrm>
          <a:prstGeom prst="roundRect">
            <a:avLst>
              <a:gd name="adj" fmla="val 7936"/>
            </a:avLst>
          </a:prstGeom>
          <a:solidFill>
            <a:srgbClr val="F4F6F9"/>
          </a:solidFill>
          <a:ln w="9525">
            <a:solidFill>
              <a:srgbClr val="DFE5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29500" y="4394200"/>
            <a:ext cx="3860800" cy="215900"/>
          </a:xfrm>
          <a:prstGeom prst="rect">
            <a:avLst/>
          </a:prstGeom>
          <a:noFill/>
        </p:spPr>
        <p:txBody>
          <a:bodyPr wrap="square" anchor="t" lIns="0" rIns="0" tIns="0" bIns="0">
            <a:spAutoFit/>
          </a:bodyPr>
          <a:lstStyle/>
          <a:p>
            <a:pPr algn="l">
              <a:lnSpc>
                <a:spcPct val="83333"/>
              </a:lnSpc>
            </a:pPr>
            <a:r>
              <a:rPr sz="1200" b="1" spc="200">
                <a:solidFill>
                  <a:srgbClr val="C2477F"/>
                </a:solidFill>
                <a:latin typeface="Arial"/>
              </a:rPr>
              <a:t>PREPROCESADO</a:t>
            </a:r>
          </a:p>
        </p:txBody>
      </p:sp>
      <p:sp>
        <p:nvSpPr>
          <p:cNvPr id="25" name="TextBox 24"/>
          <p:cNvSpPr txBox="1"/>
          <p:nvPr/>
        </p:nvSpPr>
        <p:spPr>
          <a:xfrm>
            <a:off x="7429500" y="4686300"/>
            <a:ext cx="3860800" cy="571500"/>
          </a:xfrm>
          <a:prstGeom prst="rect">
            <a:avLst/>
          </a:prstGeom>
          <a:noFill/>
        </p:spPr>
        <p:txBody>
          <a:bodyPr wrap="square" anchor="t" lIns="0" rIns="0" tIns="0" bIns="0">
            <a:spAutoFit/>
          </a:bodyPr>
          <a:lstStyle/>
          <a:p>
            <a:pPr algn="l">
              <a:lnSpc>
                <a:spcPct val="112500"/>
              </a:lnSpc>
            </a:pPr>
            <a:r>
              <a:rPr sz="1200" b="0">
                <a:solidFill>
                  <a:srgbClr val="1F2A36"/>
                </a:solidFill>
                <a:latin typeface="Arial"/>
              </a:rPr>
              <a:t>PNG en gris ÷ 255 → tensor [3, 256, 256]. Sin normalización ImageNet ni aumentos de color.</a:t>
            </a:r>
          </a:p>
        </p:txBody>
      </p:sp>
      <p:sp>
        <p:nvSpPr>
          <p:cNvPr id="26" name="TextBox 25"/>
          <p:cNvSpPr txBox="1"/>
          <p:nvPr/>
        </p:nvSpPr>
        <p:spPr>
          <a:xfrm>
            <a:off x="7429500" y="5321300"/>
            <a:ext cx="3860800" cy="381000"/>
          </a:xfrm>
          <a:prstGeom prst="rect">
            <a:avLst/>
          </a:prstGeom>
          <a:noFill/>
        </p:spPr>
        <p:txBody>
          <a:bodyPr wrap="square" anchor="t" lIns="0" rIns="0" tIns="0" bIns="0">
            <a:spAutoFit/>
          </a:bodyPr>
          <a:lstStyle/>
          <a:p>
            <a:pPr algn="l">
              <a:lnSpc>
                <a:spcPct val="112500"/>
              </a:lnSpc>
            </a:pPr>
            <a:r>
              <a:rPr sz="1200" b="0">
                <a:solidFill>
                  <a:srgbClr val="6E7984"/>
                </a:solidFill>
                <a:latin typeface="Arial"/>
              </a:rPr>
              <a:t>El mismo código en entrenamiento, evaluación y web.</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56800" y="254000"/>
            <a:ext cx="1524000" cy="1143000"/>
          </a:xfrm>
          <a:prstGeom prst="rect">
            <a:avLst/>
          </a:prstGeom>
          <a:noFill/>
        </p:spPr>
        <p:txBody>
          <a:bodyPr wrap="square" anchor="t" lIns="0" rIns="0" tIns="0" bIns="0">
            <a:spAutoFit/>
          </a:bodyPr>
          <a:lstStyle/>
          <a:p>
            <a:pPr algn="r">
              <a:lnSpc>
                <a:spcPct val="83333"/>
              </a:lnSpc>
            </a:pPr>
            <a:r>
              <a:rPr sz="8500" b="1">
                <a:solidFill>
                  <a:srgbClr val="F5E4EC"/>
                </a:solidFill>
                <a:latin typeface="Arial Narrow"/>
              </a:rPr>
              <a:t>3</a:t>
            </a:r>
          </a:p>
        </p:txBody>
      </p:sp>
      <p:sp>
        <p:nvSpPr>
          <p:cNvPr id="3" name="TextBox 2"/>
          <p:cNvSpPr txBox="1"/>
          <p:nvPr/>
        </p:nvSpPr>
        <p:spPr>
          <a:xfrm>
            <a:off x="711200" y="812800"/>
            <a:ext cx="8255000" cy="215900"/>
          </a:xfrm>
          <a:prstGeom prst="rect">
            <a:avLst/>
          </a:prstGeom>
          <a:noFill/>
        </p:spPr>
        <p:txBody>
          <a:bodyPr wrap="square" anchor="t" lIns="0" rIns="0" tIns="0" bIns="0">
            <a:spAutoFit/>
          </a:bodyPr>
          <a:lstStyle/>
          <a:p>
            <a:pPr algn="l">
              <a:lnSpc>
                <a:spcPct val="83333"/>
              </a:lnSpc>
            </a:pPr>
            <a:r>
              <a:rPr sz="1200" b="1" spc="250">
                <a:solidFill>
                  <a:srgbClr val="C2477F"/>
                </a:solidFill>
                <a:latin typeface="Arial"/>
              </a:rPr>
              <a:t>03 · ARQUITECTURA DE LA CNN</a:t>
            </a:r>
          </a:p>
        </p:txBody>
      </p:sp>
      <p:sp>
        <p:nvSpPr>
          <p:cNvPr id="4" name="TextBox 3"/>
          <p:cNvSpPr txBox="1"/>
          <p:nvPr/>
        </p:nvSpPr>
        <p:spPr>
          <a:xfrm>
            <a:off x="711200" y="1054100"/>
            <a:ext cx="9207500" cy="533400"/>
          </a:xfrm>
          <a:prstGeom prst="rect">
            <a:avLst/>
          </a:prstGeom>
          <a:noFill/>
        </p:spPr>
        <p:txBody>
          <a:bodyPr wrap="square" anchor="t" lIns="0" rIns="0" tIns="0" bIns="0">
            <a:spAutoFit/>
          </a:bodyPr>
          <a:lstStyle/>
          <a:p>
            <a:pPr algn="l">
              <a:lnSpc>
                <a:spcPct val="83333"/>
              </a:lnSpc>
            </a:pPr>
            <a:r>
              <a:rPr sz="3600" b="1">
                <a:solidFill>
                  <a:srgbClr val="16202B"/>
                </a:solidFill>
                <a:latin typeface="Arial Narrow"/>
              </a:rPr>
              <a:t>Una CNN propia de 298.161 parámetros</a:t>
            </a:r>
          </a:p>
        </p:txBody>
      </p:sp>
      <p:sp>
        <p:nvSpPr>
          <p:cNvPr id="5" name="TextBox 4"/>
          <p:cNvSpPr txBox="1"/>
          <p:nvPr/>
        </p:nvSpPr>
        <p:spPr>
          <a:xfrm>
            <a:off x="711200" y="1612900"/>
            <a:ext cx="9207500" cy="571500"/>
          </a:xfrm>
          <a:prstGeom prst="rect">
            <a:avLst/>
          </a:prstGeom>
          <a:noFill/>
        </p:spPr>
        <p:txBody>
          <a:bodyPr wrap="square" anchor="t" lIns="0" rIns="0" tIns="0" bIns="0">
            <a:spAutoFit/>
          </a:bodyPr>
          <a:lstStyle/>
          <a:p>
            <a:pPr algn="l">
              <a:lnSpc>
                <a:spcPct val="112500"/>
              </a:lnSpc>
            </a:pPr>
            <a:r>
              <a:rPr sz="1400" b="0">
                <a:solidFill>
                  <a:srgbClr val="4F5B67"/>
                </a:solidFill>
                <a:latin typeface="Arial"/>
              </a:rPr>
              <a:t>Cada corte da una probabilidad; la de una paciente es la media de las probabilidades de sus cortes.</a:t>
            </a:r>
          </a:p>
        </p:txBody>
      </p:sp>
      <p:sp>
        <p:nvSpPr>
          <p:cNvPr id="6" name="TextBox 5"/>
          <p:cNvSpPr txBox="1"/>
          <p:nvPr/>
        </p:nvSpPr>
        <p:spPr>
          <a:xfrm>
            <a:off x="711200" y="6286500"/>
            <a:ext cx="5715000" cy="190500"/>
          </a:xfrm>
          <a:prstGeom prst="rect">
            <a:avLst/>
          </a:prstGeom>
          <a:noFill/>
        </p:spPr>
        <p:txBody>
          <a:bodyPr wrap="square" anchor="t" lIns="0" rIns="0" tIns="0" bIns="0">
            <a:spAutoFit/>
          </a:bodyPr>
          <a:lstStyle/>
          <a:p>
            <a:pPr algn="l">
              <a:lnSpc>
                <a:spcPct val="83333"/>
              </a:lnSpc>
            </a:pPr>
            <a:r>
              <a:rPr sz="1200" b="0" spc="150">
                <a:solidFill>
                  <a:srgbClr val="6E7984"/>
                </a:solidFill>
                <a:latin typeface="Arial"/>
              </a:rPr>
              <a:t>PREDICCIÓN DE pCR · 3 / 5</a:t>
            </a:r>
          </a:p>
        </p:txBody>
      </p:sp>
      <p:sp>
        <p:nvSpPr>
          <p:cNvPr id="7" name="TextBox 6"/>
          <p:cNvSpPr txBox="1"/>
          <p:nvPr/>
        </p:nvSpPr>
        <p:spPr>
          <a:xfrm>
            <a:off x="7035800" y="6286500"/>
            <a:ext cx="4445000" cy="190500"/>
          </a:xfrm>
          <a:prstGeom prst="rect">
            <a:avLst/>
          </a:prstGeom>
          <a:noFill/>
        </p:spPr>
        <p:txBody>
          <a:bodyPr wrap="square" anchor="t" lIns="0" rIns="0" tIns="0" bIns="0">
            <a:spAutoFit/>
          </a:bodyPr>
          <a:lstStyle/>
          <a:p>
            <a:pPr algn="r">
              <a:lnSpc>
                <a:spcPct val="83333"/>
              </a:lnSpc>
            </a:pPr>
            <a:r>
              <a:rPr sz="1200" b="0" spc="150">
                <a:solidFill>
                  <a:srgbClr val="6E7984"/>
                </a:solidFill>
                <a:latin typeface="Arial"/>
              </a:rPr>
              <a:t>RUBÉN ELICES · UAX 26/27</a:t>
            </a:r>
          </a:p>
        </p:txBody>
      </p:sp>
      <p:sp>
        <p:nvSpPr>
          <p:cNvPr id="8" name="Rounded Rectangle 7"/>
          <p:cNvSpPr/>
          <p:nvPr/>
        </p:nvSpPr>
        <p:spPr>
          <a:xfrm>
            <a:off x="711200" y="2006600"/>
            <a:ext cx="10769600" cy="2540000"/>
          </a:xfrm>
          <a:prstGeom prst="roundRect">
            <a:avLst>
              <a:gd name="adj" fmla="val 5000"/>
            </a:avLst>
          </a:prstGeom>
          <a:solidFill>
            <a:srgbClr val="FFFFFF"/>
          </a:solidFill>
          <a:ln w="9525">
            <a:solidFill>
              <a:srgbClr val="DFE5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arq_crop.png"/>
          <p:cNvPicPr>
            <a:picLocks noChangeAspect="1"/>
          </p:cNvPicPr>
          <p:nvPr/>
        </p:nvPicPr>
        <p:blipFill>
          <a:blip r:embed="rId2"/>
          <a:stretch>
            <a:fillRect/>
          </a:stretch>
        </p:blipFill>
        <p:spPr>
          <a:xfrm>
            <a:off x="838200" y="2227329"/>
            <a:ext cx="10515600" cy="2098541"/>
          </a:xfrm>
          <a:prstGeom prst="rect">
            <a:avLst/>
          </a:prstGeom>
        </p:spPr>
      </p:pic>
      <p:sp>
        <p:nvSpPr>
          <p:cNvPr id="10" name="Rounded Rectangle 9"/>
          <p:cNvSpPr/>
          <p:nvPr/>
        </p:nvSpPr>
        <p:spPr>
          <a:xfrm>
            <a:off x="711200" y="4673600"/>
            <a:ext cx="1421694" cy="901700"/>
          </a:xfrm>
          <a:prstGeom prst="roundRect">
            <a:avLst>
              <a:gd name="adj" fmla="val 11267"/>
            </a:avLst>
          </a:prstGeom>
          <a:solidFill>
            <a:srgbClr val="3F7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711200" y="4699000"/>
            <a:ext cx="1421694" cy="876300"/>
          </a:xfrm>
          <a:prstGeom prst="roundRect">
            <a:avLst>
              <a:gd name="adj" fmla="val 11594"/>
            </a:avLst>
          </a:prstGeom>
          <a:solidFill>
            <a:srgbClr val="F4F6F9"/>
          </a:solidFill>
          <a:ln w="9525">
            <a:solidFill>
              <a:srgbClr val="DFE5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8200" y="4800600"/>
            <a:ext cx="1231194" cy="190500"/>
          </a:xfrm>
          <a:prstGeom prst="rect">
            <a:avLst/>
          </a:prstGeom>
          <a:noFill/>
        </p:spPr>
        <p:txBody>
          <a:bodyPr wrap="square" anchor="t" lIns="0" rIns="0" tIns="0" bIns="0">
            <a:spAutoFit/>
          </a:bodyPr>
          <a:lstStyle/>
          <a:p>
            <a:pPr algn="l">
              <a:lnSpc>
                <a:spcPct val="83333"/>
              </a:lnSpc>
            </a:pPr>
            <a:r>
              <a:rPr sz="1200" b="1">
                <a:solidFill>
                  <a:srgbClr val="1F2A36"/>
                </a:solidFill>
                <a:latin typeface="Arial"/>
              </a:rPr>
              <a:t>Entrada</a:t>
            </a:r>
          </a:p>
        </p:txBody>
      </p:sp>
      <p:sp>
        <p:nvSpPr>
          <p:cNvPr id="13" name="TextBox 12"/>
          <p:cNvSpPr txBox="1"/>
          <p:nvPr/>
        </p:nvSpPr>
        <p:spPr>
          <a:xfrm>
            <a:off x="838200" y="5016500"/>
            <a:ext cx="1231194" cy="190500"/>
          </a:xfrm>
          <a:prstGeom prst="rect">
            <a:avLst/>
          </a:prstGeom>
          <a:noFill/>
        </p:spPr>
        <p:txBody>
          <a:bodyPr wrap="square" anchor="t" lIns="0" rIns="0" tIns="0" bIns="0">
            <a:spAutoFit/>
          </a:bodyPr>
          <a:lstStyle/>
          <a:p>
            <a:pPr algn="l">
              <a:lnSpc>
                <a:spcPct val="83333"/>
              </a:lnSpc>
            </a:pPr>
            <a:r>
              <a:rPr sz="1200" b="0">
                <a:solidFill>
                  <a:srgbClr val="6E7984"/>
                </a:solidFill>
                <a:latin typeface="Arial"/>
              </a:rPr>
              <a:t>3 × 256²</a:t>
            </a:r>
          </a:p>
        </p:txBody>
      </p:sp>
      <p:sp>
        <p:nvSpPr>
          <p:cNvPr id="14" name="TextBox 13"/>
          <p:cNvSpPr txBox="1"/>
          <p:nvPr/>
        </p:nvSpPr>
        <p:spPr>
          <a:xfrm>
            <a:off x="838200" y="5245100"/>
            <a:ext cx="1231194" cy="254000"/>
          </a:xfrm>
          <a:prstGeom prst="rect">
            <a:avLst/>
          </a:prstGeom>
          <a:noFill/>
        </p:spPr>
        <p:txBody>
          <a:bodyPr wrap="square" anchor="t" lIns="0" rIns="0" tIns="0" bIns="0">
            <a:spAutoFit/>
          </a:bodyPr>
          <a:lstStyle/>
          <a:p>
            <a:pPr algn="l">
              <a:lnSpc>
                <a:spcPct val="83333"/>
              </a:lnSpc>
            </a:pPr>
            <a:r>
              <a:rPr sz="1800" b="1">
                <a:solidFill>
                  <a:srgbClr val="16202B"/>
                </a:solidFill>
                <a:latin typeface="Arial Narrow"/>
              </a:rPr>
              <a:t>0</a:t>
            </a:r>
          </a:p>
        </p:txBody>
      </p:sp>
      <p:sp>
        <p:nvSpPr>
          <p:cNvPr id="15" name="Rounded Rectangle 14"/>
          <p:cNvSpPr/>
          <p:nvPr/>
        </p:nvSpPr>
        <p:spPr>
          <a:xfrm>
            <a:off x="2221794" y="4673600"/>
            <a:ext cx="1421694" cy="901700"/>
          </a:xfrm>
          <a:prstGeom prst="roundRect">
            <a:avLst>
              <a:gd name="adj" fmla="val 11267"/>
            </a:avLst>
          </a:prstGeom>
          <a:solidFill>
            <a:srgbClr val="2E9E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2221794" y="4699000"/>
            <a:ext cx="1421694" cy="876300"/>
          </a:xfrm>
          <a:prstGeom prst="roundRect">
            <a:avLst>
              <a:gd name="adj" fmla="val 11594"/>
            </a:avLst>
          </a:prstGeom>
          <a:solidFill>
            <a:srgbClr val="F4F6F9"/>
          </a:solidFill>
          <a:ln w="9525">
            <a:solidFill>
              <a:srgbClr val="DFE5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348794" y="4800600"/>
            <a:ext cx="1231194" cy="190500"/>
          </a:xfrm>
          <a:prstGeom prst="rect">
            <a:avLst/>
          </a:prstGeom>
          <a:noFill/>
        </p:spPr>
        <p:txBody>
          <a:bodyPr wrap="square" anchor="t" lIns="0" rIns="0" tIns="0" bIns="0">
            <a:spAutoFit/>
          </a:bodyPr>
          <a:lstStyle/>
          <a:p>
            <a:pPr algn="l">
              <a:lnSpc>
                <a:spcPct val="83333"/>
              </a:lnSpc>
            </a:pPr>
            <a:r>
              <a:rPr sz="1200" b="1">
                <a:solidFill>
                  <a:srgbClr val="1F2A36"/>
                </a:solidFill>
                <a:latin typeface="Arial"/>
              </a:rPr>
              <a:t>Bloque 1</a:t>
            </a:r>
          </a:p>
        </p:txBody>
      </p:sp>
      <p:sp>
        <p:nvSpPr>
          <p:cNvPr id="18" name="TextBox 17"/>
          <p:cNvSpPr txBox="1"/>
          <p:nvPr/>
        </p:nvSpPr>
        <p:spPr>
          <a:xfrm>
            <a:off x="2348794" y="5016500"/>
            <a:ext cx="1231194" cy="190500"/>
          </a:xfrm>
          <a:prstGeom prst="rect">
            <a:avLst/>
          </a:prstGeom>
          <a:noFill/>
        </p:spPr>
        <p:txBody>
          <a:bodyPr wrap="square" anchor="t" lIns="0" rIns="0" tIns="0" bIns="0">
            <a:spAutoFit/>
          </a:bodyPr>
          <a:lstStyle/>
          <a:p>
            <a:pPr algn="l">
              <a:lnSpc>
                <a:spcPct val="83333"/>
              </a:lnSpc>
            </a:pPr>
            <a:r>
              <a:rPr sz="1200" b="0">
                <a:solidFill>
                  <a:srgbClr val="6E7984"/>
                </a:solidFill>
                <a:latin typeface="Arial"/>
              </a:rPr>
              <a:t>16 × 128²</a:t>
            </a:r>
          </a:p>
        </p:txBody>
      </p:sp>
      <p:sp>
        <p:nvSpPr>
          <p:cNvPr id="19" name="TextBox 18"/>
          <p:cNvSpPr txBox="1"/>
          <p:nvPr/>
        </p:nvSpPr>
        <p:spPr>
          <a:xfrm>
            <a:off x="2348794" y="5245100"/>
            <a:ext cx="1231194" cy="254000"/>
          </a:xfrm>
          <a:prstGeom prst="rect">
            <a:avLst/>
          </a:prstGeom>
          <a:noFill/>
        </p:spPr>
        <p:txBody>
          <a:bodyPr wrap="square" anchor="t" lIns="0" rIns="0" tIns="0" bIns="0">
            <a:spAutoFit/>
          </a:bodyPr>
          <a:lstStyle/>
          <a:p>
            <a:pPr algn="l">
              <a:lnSpc>
                <a:spcPct val="83333"/>
              </a:lnSpc>
            </a:pPr>
            <a:r>
              <a:rPr sz="1800" b="1">
                <a:solidFill>
                  <a:srgbClr val="16202B"/>
                </a:solidFill>
                <a:latin typeface="Arial Narrow"/>
              </a:rPr>
              <a:t>2.800</a:t>
            </a:r>
          </a:p>
        </p:txBody>
      </p:sp>
      <p:sp>
        <p:nvSpPr>
          <p:cNvPr id="20" name="Rounded Rectangle 19"/>
          <p:cNvSpPr/>
          <p:nvPr/>
        </p:nvSpPr>
        <p:spPr>
          <a:xfrm>
            <a:off x="3732388" y="4673600"/>
            <a:ext cx="1421694" cy="901700"/>
          </a:xfrm>
          <a:prstGeom prst="roundRect">
            <a:avLst>
              <a:gd name="adj" fmla="val 11267"/>
            </a:avLst>
          </a:prstGeom>
          <a:solidFill>
            <a:srgbClr val="2E9E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3732388" y="4699000"/>
            <a:ext cx="1421694" cy="876300"/>
          </a:xfrm>
          <a:prstGeom prst="roundRect">
            <a:avLst>
              <a:gd name="adj" fmla="val 11594"/>
            </a:avLst>
          </a:prstGeom>
          <a:solidFill>
            <a:srgbClr val="F4F6F9"/>
          </a:solidFill>
          <a:ln w="9525">
            <a:solidFill>
              <a:srgbClr val="DFE5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859388" y="4800600"/>
            <a:ext cx="1231194" cy="190500"/>
          </a:xfrm>
          <a:prstGeom prst="rect">
            <a:avLst/>
          </a:prstGeom>
          <a:noFill/>
        </p:spPr>
        <p:txBody>
          <a:bodyPr wrap="square" anchor="t" lIns="0" rIns="0" tIns="0" bIns="0">
            <a:spAutoFit/>
          </a:bodyPr>
          <a:lstStyle/>
          <a:p>
            <a:pPr algn="l">
              <a:lnSpc>
                <a:spcPct val="83333"/>
              </a:lnSpc>
            </a:pPr>
            <a:r>
              <a:rPr sz="1200" b="1">
                <a:solidFill>
                  <a:srgbClr val="1F2A36"/>
                </a:solidFill>
                <a:latin typeface="Arial"/>
              </a:rPr>
              <a:t>Bloque 2</a:t>
            </a:r>
          </a:p>
        </p:txBody>
      </p:sp>
      <p:sp>
        <p:nvSpPr>
          <p:cNvPr id="23" name="TextBox 22"/>
          <p:cNvSpPr txBox="1"/>
          <p:nvPr/>
        </p:nvSpPr>
        <p:spPr>
          <a:xfrm>
            <a:off x="3859388" y="5016500"/>
            <a:ext cx="1231194" cy="190500"/>
          </a:xfrm>
          <a:prstGeom prst="rect">
            <a:avLst/>
          </a:prstGeom>
          <a:noFill/>
        </p:spPr>
        <p:txBody>
          <a:bodyPr wrap="square" anchor="t" lIns="0" rIns="0" tIns="0" bIns="0">
            <a:spAutoFit/>
          </a:bodyPr>
          <a:lstStyle/>
          <a:p>
            <a:pPr algn="l">
              <a:lnSpc>
                <a:spcPct val="83333"/>
              </a:lnSpc>
            </a:pPr>
            <a:r>
              <a:rPr sz="1200" b="0">
                <a:solidFill>
                  <a:srgbClr val="6E7984"/>
                </a:solidFill>
                <a:latin typeface="Arial"/>
              </a:rPr>
              <a:t>32 × 64²</a:t>
            </a:r>
          </a:p>
        </p:txBody>
      </p:sp>
      <p:sp>
        <p:nvSpPr>
          <p:cNvPr id="24" name="TextBox 23"/>
          <p:cNvSpPr txBox="1"/>
          <p:nvPr/>
        </p:nvSpPr>
        <p:spPr>
          <a:xfrm>
            <a:off x="3859388" y="5245100"/>
            <a:ext cx="1231194" cy="254000"/>
          </a:xfrm>
          <a:prstGeom prst="rect">
            <a:avLst/>
          </a:prstGeom>
          <a:noFill/>
        </p:spPr>
        <p:txBody>
          <a:bodyPr wrap="square" anchor="t" lIns="0" rIns="0" tIns="0" bIns="0">
            <a:spAutoFit/>
          </a:bodyPr>
          <a:lstStyle/>
          <a:p>
            <a:pPr algn="l">
              <a:lnSpc>
                <a:spcPct val="83333"/>
              </a:lnSpc>
            </a:pPr>
            <a:r>
              <a:rPr sz="1800" b="1">
                <a:solidFill>
                  <a:srgbClr val="16202B"/>
                </a:solidFill>
                <a:latin typeface="Arial Narrow"/>
              </a:rPr>
              <a:t>13.952</a:t>
            </a:r>
          </a:p>
        </p:txBody>
      </p:sp>
      <p:sp>
        <p:nvSpPr>
          <p:cNvPr id="25" name="Rounded Rectangle 24"/>
          <p:cNvSpPr/>
          <p:nvPr/>
        </p:nvSpPr>
        <p:spPr>
          <a:xfrm>
            <a:off x="5242983" y="4673600"/>
            <a:ext cx="1421694" cy="901700"/>
          </a:xfrm>
          <a:prstGeom prst="roundRect">
            <a:avLst>
              <a:gd name="adj" fmla="val 11267"/>
            </a:avLst>
          </a:prstGeom>
          <a:solidFill>
            <a:srgbClr val="2E9E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5242983" y="4699000"/>
            <a:ext cx="1421694" cy="876300"/>
          </a:xfrm>
          <a:prstGeom prst="roundRect">
            <a:avLst>
              <a:gd name="adj" fmla="val 11594"/>
            </a:avLst>
          </a:prstGeom>
          <a:solidFill>
            <a:srgbClr val="F4F6F9"/>
          </a:solidFill>
          <a:ln w="9525">
            <a:solidFill>
              <a:srgbClr val="DFE5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369983" y="4800600"/>
            <a:ext cx="1231194" cy="190500"/>
          </a:xfrm>
          <a:prstGeom prst="rect">
            <a:avLst/>
          </a:prstGeom>
          <a:noFill/>
        </p:spPr>
        <p:txBody>
          <a:bodyPr wrap="square" anchor="t" lIns="0" rIns="0" tIns="0" bIns="0">
            <a:spAutoFit/>
          </a:bodyPr>
          <a:lstStyle/>
          <a:p>
            <a:pPr algn="l">
              <a:lnSpc>
                <a:spcPct val="83333"/>
              </a:lnSpc>
            </a:pPr>
            <a:r>
              <a:rPr sz="1200" b="1">
                <a:solidFill>
                  <a:srgbClr val="1F2A36"/>
                </a:solidFill>
                <a:latin typeface="Arial"/>
              </a:rPr>
              <a:t>Bloque 3</a:t>
            </a:r>
          </a:p>
        </p:txBody>
      </p:sp>
      <p:sp>
        <p:nvSpPr>
          <p:cNvPr id="28" name="TextBox 27"/>
          <p:cNvSpPr txBox="1"/>
          <p:nvPr/>
        </p:nvSpPr>
        <p:spPr>
          <a:xfrm>
            <a:off x="5369983" y="5016500"/>
            <a:ext cx="1231194" cy="190500"/>
          </a:xfrm>
          <a:prstGeom prst="rect">
            <a:avLst/>
          </a:prstGeom>
          <a:noFill/>
        </p:spPr>
        <p:txBody>
          <a:bodyPr wrap="square" anchor="t" lIns="0" rIns="0" tIns="0" bIns="0">
            <a:spAutoFit/>
          </a:bodyPr>
          <a:lstStyle/>
          <a:p>
            <a:pPr algn="l">
              <a:lnSpc>
                <a:spcPct val="83333"/>
              </a:lnSpc>
            </a:pPr>
            <a:r>
              <a:rPr sz="1200" b="0">
                <a:solidFill>
                  <a:srgbClr val="6E7984"/>
                </a:solidFill>
                <a:latin typeface="Arial"/>
              </a:rPr>
              <a:t>64 × 32²</a:t>
            </a:r>
          </a:p>
        </p:txBody>
      </p:sp>
      <p:sp>
        <p:nvSpPr>
          <p:cNvPr id="29" name="TextBox 28"/>
          <p:cNvSpPr txBox="1"/>
          <p:nvPr/>
        </p:nvSpPr>
        <p:spPr>
          <a:xfrm>
            <a:off x="5369983" y="5245100"/>
            <a:ext cx="1231194" cy="254000"/>
          </a:xfrm>
          <a:prstGeom prst="rect">
            <a:avLst/>
          </a:prstGeom>
          <a:noFill/>
        </p:spPr>
        <p:txBody>
          <a:bodyPr wrap="square" anchor="t" lIns="0" rIns="0" tIns="0" bIns="0">
            <a:spAutoFit/>
          </a:bodyPr>
          <a:lstStyle/>
          <a:p>
            <a:pPr algn="l">
              <a:lnSpc>
                <a:spcPct val="83333"/>
              </a:lnSpc>
            </a:pPr>
            <a:r>
              <a:rPr sz="1800" b="1">
                <a:solidFill>
                  <a:srgbClr val="16202B"/>
                </a:solidFill>
                <a:latin typeface="Arial Narrow"/>
              </a:rPr>
              <a:t>55.552</a:t>
            </a:r>
          </a:p>
        </p:txBody>
      </p:sp>
      <p:sp>
        <p:nvSpPr>
          <p:cNvPr id="30" name="Rounded Rectangle 29"/>
          <p:cNvSpPr/>
          <p:nvPr/>
        </p:nvSpPr>
        <p:spPr>
          <a:xfrm>
            <a:off x="6753577" y="4673600"/>
            <a:ext cx="1421694" cy="901700"/>
          </a:xfrm>
          <a:prstGeom prst="roundRect">
            <a:avLst>
              <a:gd name="adj" fmla="val 11267"/>
            </a:avLst>
          </a:prstGeom>
          <a:solidFill>
            <a:srgbClr val="2E9E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753577" y="4699000"/>
            <a:ext cx="1421694" cy="876300"/>
          </a:xfrm>
          <a:prstGeom prst="roundRect">
            <a:avLst>
              <a:gd name="adj" fmla="val 11594"/>
            </a:avLst>
          </a:prstGeom>
          <a:solidFill>
            <a:srgbClr val="F4F6F9"/>
          </a:solidFill>
          <a:ln w="9525">
            <a:solidFill>
              <a:srgbClr val="DFE5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880577" y="4800600"/>
            <a:ext cx="1231194" cy="190500"/>
          </a:xfrm>
          <a:prstGeom prst="rect">
            <a:avLst/>
          </a:prstGeom>
          <a:noFill/>
        </p:spPr>
        <p:txBody>
          <a:bodyPr wrap="square" anchor="t" lIns="0" rIns="0" tIns="0" bIns="0">
            <a:spAutoFit/>
          </a:bodyPr>
          <a:lstStyle/>
          <a:p>
            <a:pPr algn="l">
              <a:lnSpc>
                <a:spcPct val="83333"/>
              </a:lnSpc>
            </a:pPr>
            <a:r>
              <a:rPr sz="1200" b="1">
                <a:solidFill>
                  <a:srgbClr val="1F2A36"/>
                </a:solidFill>
                <a:latin typeface="Arial"/>
              </a:rPr>
              <a:t>Bloque 4</a:t>
            </a:r>
          </a:p>
        </p:txBody>
      </p:sp>
      <p:sp>
        <p:nvSpPr>
          <p:cNvPr id="33" name="TextBox 32"/>
          <p:cNvSpPr txBox="1"/>
          <p:nvPr/>
        </p:nvSpPr>
        <p:spPr>
          <a:xfrm>
            <a:off x="6880577" y="5016500"/>
            <a:ext cx="1231194" cy="190500"/>
          </a:xfrm>
          <a:prstGeom prst="rect">
            <a:avLst/>
          </a:prstGeom>
          <a:noFill/>
        </p:spPr>
        <p:txBody>
          <a:bodyPr wrap="square" anchor="t" lIns="0" rIns="0" tIns="0" bIns="0">
            <a:spAutoFit/>
          </a:bodyPr>
          <a:lstStyle/>
          <a:p>
            <a:pPr algn="l">
              <a:lnSpc>
                <a:spcPct val="83333"/>
              </a:lnSpc>
            </a:pPr>
            <a:r>
              <a:rPr sz="1200" b="0">
                <a:solidFill>
                  <a:srgbClr val="6E7984"/>
                </a:solidFill>
                <a:latin typeface="Arial"/>
              </a:rPr>
              <a:t>128 × 16²</a:t>
            </a:r>
          </a:p>
        </p:txBody>
      </p:sp>
      <p:sp>
        <p:nvSpPr>
          <p:cNvPr id="34" name="TextBox 33"/>
          <p:cNvSpPr txBox="1"/>
          <p:nvPr/>
        </p:nvSpPr>
        <p:spPr>
          <a:xfrm>
            <a:off x="6880577" y="5245100"/>
            <a:ext cx="1231194" cy="254000"/>
          </a:xfrm>
          <a:prstGeom prst="rect">
            <a:avLst/>
          </a:prstGeom>
          <a:noFill/>
        </p:spPr>
        <p:txBody>
          <a:bodyPr wrap="square" anchor="t" lIns="0" rIns="0" tIns="0" bIns="0">
            <a:spAutoFit/>
          </a:bodyPr>
          <a:lstStyle/>
          <a:p>
            <a:pPr algn="l">
              <a:lnSpc>
                <a:spcPct val="83333"/>
              </a:lnSpc>
            </a:pPr>
            <a:r>
              <a:rPr sz="1800" b="1">
                <a:solidFill>
                  <a:srgbClr val="16202B"/>
                </a:solidFill>
                <a:latin typeface="Arial Narrow"/>
              </a:rPr>
              <a:t>221.696</a:t>
            </a:r>
          </a:p>
        </p:txBody>
      </p:sp>
      <p:sp>
        <p:nvSpPr>
          <p:cNvPr id="35" name="Rounded Rectangle 34"/>
          <p:cNvSpPr/>
          <p:nvPr/>
        </p:nvSpPr>
        <p:spPr>
          <a:xfrm>
            <a:off x="8264172" y="4673600"/>
            <a:ext cx="1421694" cy="901700"/>
          </a:xfrm>
          <a:prstGeom prst="roundRect">
            <a:avLst>
              <a:gd name="adj" fmla="val 11267"/>
            </a:avLst>
          </a:prstGeom>
          <a:solidFill>
            <a:srgbClr val="8A6C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8264172" y="4699000"/>
            <a:ext cx="1421694" cy="876300"/>
          </a:xfrm>
          <a:prstGeom prst="roundRect">
            <a:avLst>
              <a:gd name="adj" fmla="val 11594"/>
            </a:avLst>
          </a:prstGeom>
          <a:solidFill>
            <a:srgbClr val="F4F6F9"/>
          </a:solidFill>
          <a:ln w="9525">
            <a:solidFill>
              <a:srgbClr val="DFE5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391172" y="4800600"/>
            <a:ext cx="1231194" cy="190500"/>
          </a:xfrm>
          <a:prstGeom prst="rect">
            <a:avLst/>
          </a:prstGeom>
          <a:noFill/>
        </p:spPr>
        <p:txBody>
          <a:bodyPr wrap="square" anchor="t" lIns="0" rIns="0" tIns="0" bIns="0">
            <a:spAutoFit/>
          </a:bodyPr>
          <a:lstStyle/>
          <a:p>
            <a:pPr algn="l">
              <a:lnSpc>
                <a:spcPct val="83333"/>
              </a:lnSpc>
            </a:pPr>
            <a:r>
              <a:rPr sz="1200" b="1">
                <a:solidFill>
                  <a:srgbClr val="1F2A36"/>
                </a:solidFill>
                <a:latin typeface="Arial"/>
              </a:rPr>
              <a:t>GAP</a:t>
            </a:r>
          </a:p>
        </p:txBody>
      </p:sp>
      <p:sp>
        <p:nvSpPr>
          <p:cNvPr id="38" name="TextBox 37"/>
          <p:cNvSpPr txBox="1"/>
          <p:nvPr/>
        </p:nvSpPr>
        <p:spPr>
          <a:xfrm>
            <a:off x="8391172" y="5016500"/>
            <a:ext cx="1231194" cy="190500"/>
          </a:xfrm>
          <a:prstGeom prst="rect">
            <a:avLst/>
          </a:prstGeom>
          <a:noFill/>
        </p:spPr>
        <p:txBody>
          <a:bodyPr wrap="square" anchor="t" lIns="0" rIns="0" tIns="0" bIns="0">
            <a:spAutoFit/>
          </a:bodyPr>
          <a:lstStyle/>
          <a:p>
            <a:pPr algn="l">
              <a:lnSpc>
                <a:spcPct val="83333"/>
              </a:lnSpc>
            </a:pPr>
            <a:r>
              <a:rPr sz="1200" b="0">
                <a:solidFill>
                  <a:srgbClr val="6E7984"/>
                </a:solidFill>
                <a:latin typeface="Arial"/>
              </a:rPr>
              <a:t>128 valores</a:t>
            </a:r>
          </a:p>
        </p:txBody>
      </p:sp>
      <p:sp>
        <p:nvSpPr>
          <p:cNvPr id="39" name="TextBox 38"/>
          <p:cNvSpPr txBox="1"/>
          <p:nvPr/>
        </p:nvSpPr>
        <p:spPr>
          <a:xfrm>
            <a:off x="8391172" y="5245100"/>
            <a:ext cx="1231194" cy="254000"/>
          </a:xfrm>
          <a:prstGeom prst="rect">
            <a:avLst/>
          </a:prstGeom>
          <a:noFill/>
        </p:spPr>
        <p:txBody>
          <a:bodyPr wrap="square" anchor="t" lIns="0" rIns="0" tIns="0" bIns="0">
            <a:spAutoFit/>
          </a:bodyPr>
          <a:lstStyle/>
          <a:p>
            <a:pPr algn="l">
              <a:lnSpc>
                <a:spcPct val="83333"/>
              </a:lnSpc>
            </a:pPr>
            <a:r>
              <a:rPr sz="1800" b="1">
                <a:solidFill>
                  <a:srgbClr val="16202B"/>
                </a:solidFill>
                <a:latin typeface="Arial Narrow"/>
              </a:rPr>
              <a:t>0</a:t>
            </a:r>
          </a:p>
        </p:txBody>
      </p:sp>
      <p:sp>
        <p:nvSpPr>
          <p:cNvPr id="40" name="Rounded Rectangle 39"/>
          <p:cNvSpPr/>
          <p:nvPr/>
        </p:nvSpPr>
        <p:spPr>
          <a:xfrm>
            <a:off x="9774766" y="4673600"/>
            <a:ext cx="1706033" cy="901700"/>
          </a:xfrm>
          <a:prstGeom prst="roundRect">
            <a:avLst>
              <a:gd name="adj" fmla="val 11267"/>
            </a:avLst>
          </a:prstGeom>
          <a:solidFill>
            <a:srgbClr val="C94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9774766" y="4699000"/>
            <a:ext cx="1706033" cy="876300"/>
          </a:xfrm>
          <a:prstGeom prst="roundRect">
            <a:avLst>
              <a:gd name="adj" fmla="val 11594"/>
            </a:avLst>
          </a:prstGeom>
          <a:solidFill>
            <a:srgbClr val="F4F6F9"/>
          </a:solidFill>
          <a:ln w="9525">
            <a:solidFill>
              <a:srgbClr val="DFE5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9901766" y="4800600"/>
            <a:ext cx="1515533" cy="190500"/>
          </a:xfrm>
          <a:prstGeom prst="rect">
            <a:avLst/>
          </a:prstGeom>
          <a:noFill/>
        </p:spPr>
        <p:txBody>
          <a:bodyPr wrap="square" anchor="t" lIns="0" rIns="0" tIns="0" bIns="0">
            <a:spAutoFit/>
          </a:bodyPr>
          <a:lstStyle/>
          <a:p>
            <a:pPr algn="l">
              <a:lnSpc>
                <a:spcPct val="83333"/>
              </a:lnSpc>
            </a:pPr>
            <a:r>
              <a:rPr sz="1200" b="1">
                <a:solidFill>
                  <a:srgbClr val="1F2A36"/>
                </a:solidFill>
                <a:latin typeface="Arial"/>
              </a:rPr>
              <a:t>Cabeza</a:t>
            </a:r>
          </a:p>
        </p:txBody>
      </p:sp>
      <p:sp>
        <p:nvSpPr>
          <p:cNvPr id="43" name="TextBox 42"/>
          <p:cNvSpPr txBox="1"/>
          <p:nvPr/>
        </p:nvSpPr>
        <p:spPr>
          <a:xfrm>
            <a:off x="9901766" y="5016500"/>
            <a:ext cx="1515533" cy="190500"/>
          </a:xfrm>
          <a:prstGeom prst="rect">
            <a:avLst/>
          </a:prstGeom>
          <a:noFill/>
        </p:spPr>
        <p:txBody>
          <a:bodyPr wrap="square" anchor="t" lIns="0" rIns="0" tIns="0" bIns="0">
            <a:spAutoFit/>
          </a:bodyPr>
          <a:lstStyle/>
          <a:p>
            <a:pPr algn="l">
              <a:lnSpc>
                <a:spcPct val="83333"/>
              </a:lnSpc>
            </a:pPr>
            <a:r>
              <a:rPr sz="1200" b="0">
                <a:solidFill>
                  <a:srgbClr val="6E7984"/>
                </a:solidFill>
                <a:latin typeface="Arial"/>
              </a:rPr>
              <a:t>128 → 32 → 1</a:t>
            </a:r>
          </a:p>
        </p:txBody>
      </p:sp>
      <p:sp>
        <p:nvSpPr>
          <p:cNvPr id="44" name="TextBox 43"/>
          <p:cNvSpPr txBox="1"/>
          <p:nvPr/>
        </p:nvSpPr>
        <p:spPr>
          <a:xfrm>
            <a:off x="9901766" y="5245100"/>
            <a:ext cx="1515533" cy="254000"/>
          </a:xfrm>
          <a:prstGeom prst="rect">
            <a:avLst/>
          </a:prstGeom>
          <a:noFill/>
        </p:spPr>
        <p:txBody>
          <a:bodyPr wrap="square" anchor="t" lIns="0" rIns="0" tIns="0" bIns="0">
            <a:spAutoFit/>
          </a:bodyPr>
          <a:lstStyle/>
          <a:p>
            <a:pPr algn="l">
              <a:lnSpc>
                <a:spcPct val="83333"/>
              </a:lnSpc>
            </a:pPr>
            <a:r>
              <a:rPr sz="1800" b="1">
                <a:solidFill>
                  <a:srgbClr val="C94C86"/>
                </a:solidFill>
                <a:latin typeface="Arial Narrow"/>
              </a:rPr>
              <a:t>4.161</a:t>
            </a:r>
          </a:p>
        </p:txBody>
      </p:sp>
      <p:sp>
        <p:nvSpPr>
          <p:cNvPr id="45" name="TextBox 44"/>
          <p:cNvSpPr txBox="1"/>
          <p:nvPr/>
        </p:nvSpPr>
        <p:spPr>
          <a:xfrm>
            <a:off x="711200" y="5689600"/>
            <a:ext cx="10769600" cy="215900"/>
          </a:xfrm>
          <a:prstGeom prst="rect">
            <a:avLst/>
          </a:prstGeom>
          <a:noFill/>
        </p:spPr>
        <p:txBody>
          <a:bodyPr wrap="square" anchor="t" lIns="0" rIns="0" tIns="0" bIns="0">
            <a:spAutoFit/>
          </a:bodyPr>
          <a:lstStyle/>
          <a:p>
            <a:pPr algn="l">
              <a:lnSpc>
                <a:spcPct val="83333"/>
              </a:lnSpc>
            </a:pPr>
            <a:r>
              <a:rPr sz="1200" b="0">
                <a:solidFill>
                  <a:srgbClr val="6E7984"/>
                </a:solidFill>
                <a:latin typeface="Arial"/>
              </a:rPr>
              <a:t>Cada bloque: Conv 3×3 → MaxPool 2×2 → Conv 3×3, con BatchNorm y ReLU · dropout 0,3 · campo receptivo de 106 px · sin pesos preentrenados.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56800" y="254000"/>
            <a:ext cx="1524000" cy="1143000"/>
          </a:xfrm>
          <a:prstGeom prst="rect">
            <a:avLst/>
          </a:prstGeom>
          <a:noFill/>
        </p:spPr>
        <p:txBody>
          <a:bodyPr wrap="square" anchor="t" lIns="0" rIns="0" tIns="0" bIns="0">
            <a:spAutoFit/>
          </a:bodyPr>
          <a:lstStyle/>
          <a:p>
            <a:pPr algn="r">
              <a:lnSpc>
                <a:spcPct val="83333"/>
              </a:lnSpc>
            </a:pPr>
            <a:r>
              <a:rPr sz="8500" b="1">
                <a:solidFill>
                  <a:srgbClr val="F5E4EC"/>
                </a:solidFill>
                <a:latin typeface="Arial Narrow"/>
              </a:rPr>
              <a:t>4</a:t>
            </a:r>
          </a:p>
        </p:txBody>
      </p:sp>
      <p:sp>
        <p:nvSpPr>
          <p:cNvPr id="3" name="TextBox 2"/>
          <p:cNvSpPr txBox="1"/>
          <p:nvPr/>
        </p:nvSpPr>
        <p:spPr>
          <a:xfrm>
            <a:off x="711200" y="812800"/>
            <a:ext cx="8255000" cy="215900"/>
          </a:xfrm>
          <a:prstGeom prst="rect">
            <a:avLst/>
          </a:prstGeom>
          <a:noFill/>
        </p:spPr>
        <p:txBody>
          <a:bodyPr wrap="square" anchor="t" lIns="0" rIns="0" tIns="0" bIns="0">
            <a:spAutoFit/>
          </a:bodyPr>
          <a:lstStyle/>
          <a:p>
            <a:pPr algn="l">
              <a:lnSpc>
                <a:spcPct val="83333"/>
              </a:lnSpc>
            </a:pPr>
            <a:r>
              <a:rPr sz="1200" b="1" spc="250">
                <a:solidFill>
                  <a:srgbClr val="C2477F"/>
                </a:solidFill>
                <a:latin typeface="Arial"/>
              </a:rPr>
              <a:t>04 · ENTRENAMIENTO, DECISIONES Y RESULTADOS</a:t>
            </a:r>
          </a:p>
        </p:txBody>
      </p:sp>
      <p:sp>
        <p:nvSpPr>
          <p:cNvPr id="4" name="TextBox 3"/>
          <p:cNvSpPr txBox="1"/>
          <p:nvPr/>
        </p:nvSpPr>
        <p:spPr>
          <a:xfrm>
            <a:off x="711200" y="1054100"/>
            <a:ext cx="9207500" cy="533400"/>
          </a:xfrm>
          <a:prstGeom prst="rect">
            <a:avLst/>
          </a:prstGeom>
          <a:noFill/>
        </p:spPr>
        <p:txBody>
          <a:bodyPr wrap="square" anchor="t" lIns="0" rIns="0" tIns="0" bIns="0">
            <a:spAutoFit/>
          </a:bodyPr>
          <a:lstStyle/>
          <a:p>
            <a:pPr algn="l">
              <a:lnSpc>
                <a:spcPct val="83333"/>
              </a:lnSpc>
            </a:pPr>
            <a:r>
              <a:rPr sz="3600" b="1">
                <a:solidFill>
                  <a:srgbClr val="16202B"/>
                </a:solidFill>
                <a:latin typeface="Arial Narrow"/>
              </a:rPr>
              <a:t>E57: elegido en validación, medido una vez en test</a:t>
            </a:r>
          </a:p>
        </p:txBody>
      </p:sp>
      <p:sp>
        <p:nvSpPr>
          <p:cNvPr id="5" name="TextBox 4"/>
          <p:cNvSpPr txBox="1"/>
          <p:nvPr/>
        </p:nvSpPr>
        <p:spPr>
          <a:xfrm>
            <a:off x="711200" y="1612900"/>
            <a:ext cx="9207500" cy="571500"/>
          </a:xfrm>
          <a:prstGeom prst="rect">
            <a:avLst/>
          </a:prstGeom>
          <a:noFill/>
        </p:spPr>
        <p:txBody>
          <a:bodyPr wrap="square" anchor="t" lIns="0" rIns="0" tIns="0" bIns="0">
            <a:spAutoFit/>
          </a:bodyPr>
          <a:lstStyle/>
          <a:p>
            <a:pPr algn="l">
              <a:lnSpc>
                <a:spcPct val="112500"/>
              </a:lnSpc>
            </a:pPr>
            <a:r>
              <a:rPr sz="1300" b="0">
                <a:solidFill>
                  <a:srgbClr val="4F5B67"/>
                </a:solidFill>
                <a:latin typeface="Arial"/>
              </a:rPr>
              <a:t>E57: BCE normal, lotes de 2 pacientes; época 14 y umbral 0,325 fijados antes del test. Las curvas repiten su receta.</a:t>
            </a:r>
          </a:p>
        </p:txBody>
      </p:sp>
      <p:sp>
        <p:nvSpPr>
          <p:cNvPr id="6" name="TextBox 5"/>
          <p:cNvSpPr txBox="1"/>
          <p:nvPr/>
        </p:nvSpPr>
        <p:spPr>
          <a:xfrm>
            <a:off x="711200" y="6286500"/>
            <a:ext cx="5715000" cy="190500"/>
          </a:xfrm>
          <a:prstGeom prst="rect">
            <a:avLst/>
          </a:prstGeom>
          <a:noFill/>
        </p:spPr>
        <p:txBody>
          <a:bodyPr wrap="square" anchor="t" lIns="0" rIns="0" tIns="0" bIns="0">
            <a:spAutoFit/>
          </a:bodyPr>
          <a:lstStyle/>
          <a:p>
            <a:pPr algn="l">
              <a:lnSpc>
                <a:spcPct val="83333"/>
              </a:lnSpc>
            </a:pPr>
            <a:r>
              <a:rPr sz="1200" b="0" spc="150">
                <a:solidFill>
                  <a:srgbClr val="6E7984"/>
                </a:solidFill>
                <a:latin typeface="Arial"/>
              </a:rPr>
              <a:t>PREDICCIÓN DE pCR · 4 / 5</a:t>
            </a:r>
          </a:p>
        </p:txBody>
      </p:sp>
      <p:sp>
        <p:nvSpPr>
          <p:cNvPr id="7" name="TextBox 6"/>
          <p:cNvSpPr txBox="1"/>
          <p:nvPr/>
        </p:nvSpPr>
        <p:spPr>
          <a:xfrm>
            <a:off x="7035800" y="6286500"/>
            <a:ext cx="4445000" cy="190500"/>
          </a:xfrm>
          <a:prstGeom prst="rect">
            <a:avLst/>
          </a:prstGeom>
          <a:noFill/>
        </p:spPr>
        <p:txBody>
          <a:bodyPr wrap="square" anchor="t" lIns="0" rIns="0" tIns="0" bIns="0">
            <a:spAutoFit/>
          </a:bodyPr>
          <a:lstStyle/>
          <a:p>
            <a:pPr algn="r">
              <a:lnSpc>
                <a:spcPct val="83333"/>
              </a:lnSpc>
            </a:pPr>
            <a:r>
              <a:rPr sz="1200" b="0" spc="150">
                <a:solidFill>
                  <a:srgbClr val="6E7984"/>
                </a:solidFill>
                <a:latin typeface="Arial"/>
              </a:rPr>
              <a:t>RUBÉN ELICES · UAX 26/27</a:t>
            </a:r>
          </a:p>
        </p:txBody>
      </p:sp>
      <p:sp>
        <p:nvSpPr>
          <p:cNvPr id="8" name="Rounded Rectangle 7"/>
          <p:cNvSpPr/>
          <p:nvPr/>
        </p:nvSpPr>
        <p:spPr>
          <a:xfrm>
            <a:off x="713232" y="1984248"/>
            <a:ext cx="6400800" cy="2670048"/>
          </a:xfrm>
          <a:prstGeom prst="roundRect">
            <a:avLst>
              <a:gd name="adj" fmla="val 4761"/>
            </a:avLst>
          </a:prstGeom>
          <a:solidFill>
            <a:srgbClr val="F4F6F9"/>
          </a:solidFill>
          <a:ln w="9525">
            <a:solidFill>
              <a:srgbClr val="DFE5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77824" y="2084831"/>
            <a:ext cx="6126480" cy="215900"/>
          </a:xfrm>
          <a:prstGeom prst="rect">
            <a:avLst/>
          </a:prstGeom>
          <a:noFill/>
        </p:spPr>
        <p:txBody>
          <a:bodyPr wrap="square" anchor="t" lIns="0" rIns="0" tIns="0" bIns="0">
            <a:spAutoFit/>
          </a:bodyPr>
          <a:lstStyle/>
          <a:p>
            <a:pPr algn="l">
              <a:lnSpc>
                <a:spcPct val="83333"/>
              </a:lnSpc>
            </a:pPr>
            <a:r>
              <a:rPr sz="1200" b="1" spc="200">
                <a:solidFill>
                  <a:srgbClr val="C2477F"/>
                </a:solidFill>
                <a:latin typeface="Arial"/>
              </a:rPr>
              <a:t>CURVAS POR ÉPOCA · RECETA DE E57, FOLD 0</a:t>
            </a:r>
          </a:p>
        </p:txBody>
      </p:sp>
      <p:sp>
        <p:nvSpPr>
          <p:cNvPr id="29" name="Rounded Rectangle 28"/>
          <p:cNvSpPr/>
          <p:nvPr/>
        </p:nvSpPr>
        <p:spPr>
          <a:xfrm>
            <a:off x="713232" y="4773168"/>
            <a:ext cx="2054352" cy="1097280"/>
          </a:xfrm>
          <a:prstGeom prst="roundRect">
            <a:avLst>
              <a:gd name="adj" fmla="val 11627"/>
            </a:avLst>
          </a:prstGeom>
          <a:solidFill>
            <a:srgbClr val="F4F6F9"/>
          </a:solidFill>
          <a:ln w="9525">
            <a:solidFill>
              <a:srgbClr val="DFE5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32104" y="4864608"/>
            <a:ext cx="1871471" cy="215900"/>
          </a:xfrm>
          <a:prstGeom prst="rect">
            <a:avLst/>
          </a:prstGeom>
          <a:noFill/>
        </p:spPr>
        <p:txBody>
          <a:bodyPr wrap="square" anchor="t" lIns="0" rIns="0" tIns="0" bIns="0">
            <a:spAutoFit/>
          </a:bodyPr>
          <a:lstStyle/>
          <a:p>
            <a:pPr algn="l">
              <a:lnSpc>
                <a:spcPct val="83333"/>
              </a:lnSpc>
            </a:pPr>
            <a:r>
              <a:rPr sz="1200" b="1">
                <a:solidFill>
                  <a:srgbClr val="2F7DC4"/>
                </a:solidFill>
                <a:latin typeface="Arial"/>
              </a:rPr>
              <a:t>Los 5 folds</a:t>
            </a:r>
          </a:p>
        </p:txBody>
      </p:sp>
      <p:sp>
        <p:nvSpPr>
          <p:cNvPr id="31" name="TextBox 30"/>
          <p:cNvSpPr txBox="1"/>
          <p:nvPr/>
        </p:nvSpPr>
        <p:spPr>
          <a:xfrm>
            <a:off x="832104" y="5093208"/>
            <a:ext cx="1871471" cy="698500"/>
          </a:xfrm>
          <a:prstGeom prst="rect">
            <a:avLst/>
          </a:prstGeom>
          <a:noFill/>
        </p:spPr>
        <p:txBody>
          <a:bodyPr wrap="square" anchor="t" lIns="0" rIns="0" tIns="0" bIns="0">
            <a:spAutoFit/>
          </a:bodyPr>
          <a:lstStyle/>
          <a:p>
            <a:pPr algn="l">
              <a:lnSpc>
                <a:spcPct val="112500"/>
              </a:lnSpc>
            </a:pPr>
            <a:r>
              <a:rPr sz="1200" b="0">
                <a:solidFill>
                  <a:srgbClr val="4F5B67"/>
                </a:solidFill>
                <a:latin typeface="Arial"/>
              </a:rPr>
              <a:t>AUC conjunto 0,507. Fold 0 es el más alto; los demás, en la web.</a:t>
            </a:r>
          </a:p>
        </p:txBody>
      </p:sp>
      <p:sp>
        <p:nvSpPr>
          <p:cNvPr id="32" name="Rounded Rectangle 31"/>
          <p:cNvSpPr/>
          <p:nvPr/>
        </p:nvSpPr>
        <p:spPr>
          <a:xfrm>
            <a:off x="2886455" y="4773168"/>
            <a:ext cx="2054352" cy="1097280"/>
          </a:xfrm>
          <a:prstGeom prst="roundRect">
            <a:avLst>
              <a:gd name="adj" fmla="val 11627"/>
            </a:avLst>
          </a:prstGeom>
          <a:solidFill>
            <a:srgbClr val="F4F6F9"/>
          </a:solidFill>
          <a:ln w="9525">
            <a:solidFill>
              <a:srgbClr val="DFE5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005327" y="4864608"/>
            <a:ext cx="1871471" cy="215900"/>
          </a:xfrm>
          <a:prstGeom prst="rect">
            <a:avLst/>
          </a:prstGeom>
          <a:noFill/>
        </p:spPr>
        <p:txBody>
          <a:bodyPr wrap="square" anchor="t" lIns="0" rIns="0" tIns="0" bIns="0">
            <a:spAutoFit/>
          </a:bodyPr>
          <a:lstStyle/>
          <a:p>
            <a:pPr algn="l">
              <a:lnSpc>
                <a:spcPct val="83333"/>
              </a:lnSpc>
            </a:pPr>
            <a:r>
              <a:rPr sz="1200" b="1">
                <a:solidFill>
                  <a:srgbClr val="C9702C"/>
                </a:solidFill>
                <a:latin typeface="Arial"/>
              </a:rPr>
              <a:t>Normal vs. ponderada</a:t>
            </a:r>
          </a:p>
        </p:txBody>
      </p:sp>
      <p:sp>
        <p:nvSpPr>
          <p:cNvPr id="34" name="TextBox 33"/>
          <p:cNvSpPr txBox="1"/>
          <p:nvPr/>
        </p:nvSpPr>
        <p:spPr>
          <a:xfrm>
            <a:off x="3005327" y="5093208"/>
            <a:ext cx="1871471" cy="698500"/>
          </a:xfrm>
          <a:prstGeom prst="rect">
            <a:avLst/>
          </a:prstGeom>
          <a:noFill/>
        </p:spPr>
        <p:txBody>
          <a:bodyPr wrap="square" anchor="t" lIns="0" rIns="0" tIns="0" bIns="0">
            <a:spAutoFit/>
          </a:bodyPr>
          <a:lstStyle/>
          <a:p>
            <a:pPr algn="l">
              <a:lnSpc>
                <a:spcPct val="112500"/>
              </a:lnSpc>
            </a:pPr>
            <a:r>
              <a:rPr sz="1200" b="0">
                <a:solidFill>
                  <a:srgbClr val="4F5B67"/>
                </a:solidFill>
                <a:latin typeface="Arial"/>
              </a:rPr>
              <a:t>Fold 0: AUC 0,617 frente a 0,547. La ponderada no mejora el orden.</a:t>
            </a:r>
          </a:p>
        </p:txBody>
      </p:sp>
      <p:sp>
        <p:nvSpPr>
          <p:cNvPr id="35" name="Rounded Rectangle 34"/>
          <p:cNvSpPr/>
          <p:nvPr/>
        </p:nvSpPr>
        <p:spPr>
          <a:xfrm>
            <a:off x="5059680" y="4773168"/>
            <a:ext cx="2054352" cy="1097280"/>
          </a:xfrm>
          <a:prstGeom prst="roundRect">
            <a:avLst>
              <a:gd name="adj" fmla="val 11627"/>
            </a:avLst>
          </a:prstGeom>
          <a:solidFill>
            <a:srgbClr val="F4F6F9"/>
          </a:solidFill>
          <a:ln w="9525">
            <a:solidFill>
              <a:srgbClr val="DFE5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178552" y="4864608"/>
            <a:ext cx="1871471" cy="215900"/>
          </a:xfrm>
          <a:prstGeom prst="rect">
            <a:avLst/>
          </a:prstGeom>
          <a:noFill/>
        </p:spPr>
        <p:txBody>
          <a:bodyPr wrap="square" anchor="t" lIns="0" rIns="0" tIns="0" bIns="0">
            <a:spAutoFit/>
          </a:bodyPr>
          <a:lstStyle/>
          <a:p>
            <a:pPr algn="l">
              <a:lnSpc>
                <a:spcPct val="83333"/>
              </a:lnSpc>
            </a:pPr>
            <a:r>
              <a:rPr sz="1200" b="1">
                <a:solidFill>
                  <a:srgbClr val="C94C86"/>
                </a:solidFill>
                <a:latin typeface="Arial"/>
              </a:rPr>
              <a:t>Diagnóstico</a:t>
            </a:r>
          </a:p>
        </p:txBody>
      </p:sp>
      <p:sp>
        <p:nvSpPr>
          <p:cNvPr id="37" name="TextBox 36"/>
          <p:cNvSpPr txBox="1"/>
          <p:nvPr/>
        </p:nvSpPr>
        <p:spPr>
          <a:xfrm>
            <a:off x="5178552" y="5093208"/>
            <a:ext cx="1871471" cy="698500"/>
          </a:xfrm>
          <a:prstGeom prst="rect">
            <a:avLst/>
          </a:prstGeom>
          <a:noFill/>
        </p:spPr>
        <p:txBody>
          <a:bodyPr wrap="square" anchor="t" lIns="0" rIns="0" tIns="0" bIns="0">
            <a:spAutoFit/>
          </a:bodyPr>
          <a:lstStyle/>
          <a:p>
            <a:pPr algn="l">
              <a:lnSpc>
                <a:spcPct val="112500"/>
              </a:lnSpc>
            </a:pPr>
            <a:r>
              <a:rPr sz="1200" b="0">
                <a:solidFill>
                  <a:srgbClr val="4F5B67"/>
                </a:solidFill>
                <a:latin typeface="Arial"/>
              </a:rPr>
              <a:t>Con 2 pacientes por lote, BatchNorm borraba sus diferencias.</a:t>
            </a:r>
          </a:p>
        </p:txBody>
      </p:sp>
      <p:sp>
        <p:nvSpPr>
          <p:cNvPr id="38" name="Rounded Rectangle 37"/>
          <p:cNvSpPr/>
          <p:nvPr/>
        </p:nvSpPr>
        <p:spPr>
          <a:xfrm>
            <a:off x="7242048" y="1984248"/>
            <a:ext cx="4233672" cy="3886200"/>
          </a:xfrm>
          <a:prstGeom prst="roundRect">
            <a:avLst>
              <a:gd name="adj" fmla="val 3401"/>
            </a:avLst>
          </a:prstGeom>
          <a:solidFill>
            <a:srgbClr val="FBF3F7"/>
          </a:solidFill>
          <a:ln w="9525">
            <a:solidFill>
              <a:srgbClr val="EFD0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406640" y="2084831"/>
            <a:ext cx="3904487" cy="215900"/>
          </a:xfrm>
          <a:prstGeom prst="rect">
            <a:avLst/>
          </a:prstGeom>
          <a:noFill/>
        </p:spPr>
        <p:txBody>
          <a:bodyPr wrap="square" anchor="t" lIns="0" rIns="0" tIns="0" bIns="0">
            <a:spAutoFit/>
          </a:bodyPr>
          <a:lstStyle/>
          <a:p>
            <a:pPr algn="l">
              <a:lnSpc>
                <a:spcPct val="83333"/>
              </a:lnSpc>
            </a:pPr>
            <a:r>
              <a:rPr sz="1200" b="1" spc="200">
                <a:solidFill>
                  <a:srgbClr val="C2477F"/>
                </a:solidFill>
                <a:latin typeface="Arial"/>
              </a:rPr>
              <a:t>TEST PÚBLICO · 176 PACIENTES</a:t>
            </a:r>
          </a:p>
        </p:txBody>
      </p:sp>
      <p:sp>
        <p:nvSpPr>
          <p:cNvPr id="40" name="TextBox 39"/>
          <p:cNvSpPr txBox="1"/>
          <p:nvPr/>
        </p:nvSpPr>
        <p:spPr>
          <a:xfrm>
            <a:off x="7406640" y="2258568"/>
            <a:ext cx="1737360" cy="685800"/>
          </a:xfrm>
          <a:prstGeom prst="rect">
            <a:avLst/>
          </a:prstGeom>
          <a:noFill/>
        </p:spPr>
        <p:txBody>
          <a:bodyPr wrap="square" anchor="t" lIns="0" rIns="0" tIns="0" bIns="0">
            <a:spAutoFit/>
          </a:bodyPr>
          <a:lstStyle/>
          <a:p>
            <a:pPr algn="l">
              <a:lnSpc>
                <a:spcPct val="83333"/>
              </a:lnSpc>
            </a:pPr>
            <a:r>
              <a:rPr sz="5200" b="1">
                <a:solidFill>
                  <a:srgbClr val="16202B"/>
                </a:solidFill>
                <a:latin typeface="Arial Narrow"/>
              </a:rPr>
              <a:t>0,573</a:t>
            </a:r>
          </a:p>
        </p:txBody>
      </p:sp>
      <p:sp>
        <p:nvSpPr>
          <p:cNvPr id="41" name="TextBox 40"/>
          <p:cNvSpPr txBox="1"/>
          <p:nvPr/>
        </p:nvSpPr>
        <p:spPr>
          <a:xfrm>
            <a:off x="9144000" y="2377440"/>
            <a:ext cx="2167127" cy="457200"/>
          </a:xfrm>
          <a:prstGeom prst="rect">
            <a:avLst/>
          </a:prstGeom>
          <a:noFill/>
        </p:spPr>
        <p:txBody>
          <a:bodyPr wrap="square" anchor="t" lIns="0" rIns="0" tIns="0" bIns="0">
            <a:spAutoFit/>
          </a:bodyPr>
          <a:lstStyle/>
          <a:p>
            <a:pPr algn="l">
              <a:lnSpc>
                <a:spcPct val="83333"/>
              </a:lnSpc>
            </a:pPr>
            <a:r>
              <a:rPr sz="1100" b="0">
                <a:solidFill>
                  <a:srgbClr val="6E7984"/>
                </a:solidFill>
                <a:latin typeface="Arial"/>
              </a:rPr>
              <a:t>Por paciente · IC95 0,475–0,671</a:t>
            </a:r>
          </a:p>
          <a:p>
            <a:pPr algn="l">
              <a:lnSpc>
                <a:spcPct val="83333"/>
              </a:lnSpc>
            </a:pPr>
            <a:r>
              <a:rPr sz="1100" b="0">
                <a:solidFill>
                  <a:srgbClr val="6E7984"/>
                </a:solidFill>
                <a:latin typeface="Arial"/>
              </a:rPr>
              <a:t>Por corte · AUC 0,567</a:t>
            </a:r>
          </a:p>
        </p:txBody>
      </p:sp>
      <p:sp>
        <p:nvSpPr>
          <p:cNvPr id="42" name="Rounded Rectangle 41"/>
          <p:cNvSpPr/>
          <p:nvPr/>
        </p:nvSpPr>
        <p:spPr>
          <a:xfrm>
            <a:off x="7406640" y="3566160"/>
            <a:ext cx="914400" cy="329184"/>
          </a:xfrm>
          <a:prstGeom prst="roundRect">
            <a:avLst>
              <a:gd name="adj" fmla="val 12280"/>
            </a:avLst>
          </a:prstGeom>
          <a:solidFill>
            <a:srgbClr val="F7DDE9"/>
          </a:solidFill>
          <a:ln w="9525">
            <a:solidFill>
              <a:srgbClr val="E7B5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434071" y="3566160"/>
            <a:ext cx="502920" cy="329184"/>
          </a:xfrm>
          <a:prstGeom prst="rect">
            <a:avLst/>
          </a:prstGeom>
          <a:noFill/>
        </p:spPr>
        <p:txBody>
          <a:bodyPr wrap="square" anchor="ctr" lIns="0" rIns="0" tIns="0" bIns="0">
            <a:spAutoFit/>
          </a:bodyPr>
          <a:lstStyle/>
          <a:p>
            <a:pPr algn="l">
              <a:lnSpc>
                <a:spcPct val="83333"/>
              </a:lnSpc>
            </a:pPr>
            <a:r>
              <a:rPr sz="1400" b="1">
                <a:solidFill>
                  <a:srgbClr val="16202B"/>
                </a:solidFill>
                <a:latin typeface="Arial Narrow"/>
              </a:rPr>
              <a:t>92</a:t>
            </a:r>
          </a:p>
        </p:txBody>
      </p:sp>
      <p:sp>
        <p:nvSpPr>
          <p:cNvPr id="44" name="TextBox 43"/>
          <p:cNvSpPr txBox="1"/>
          <p:nvPr/>
        </p:nvSpPr>
        <p:spPr>
          <a:xfrm>
            <a:off x="7909560" y="3566160"/>
            <a:ext cx="384048" cy="329184"/>
          </a:xfrm>
          <a:prstGeom prst="rect">
            <a:avLst/>
          </a:prstGeom>
          <a:noFill/>
        </p:spPr>
        <p:txBody>
          <a:bodyPr wrap="square" anchor="ctr" lIns="0" rIns="0" tIns="0" bIns="0">
            <a:spAutoFit/>
          </a:bodyPr>
          <a:lstStyle/>
          <a:p>
            <a:pPr algn="l">
              <a:lnSpc>
                <a:spcPct val="83333"/>
              </a:lnSpc>
            </a:pPr>
            <a:r>
              <a:rPr sz="1000" b="0">
                <a:solidFill>
                  <a:srgbClr val="4F5B67"/>
                </a:solidFill>
                <a:latin typeface="Arial"/>
              </a:rPr>
              <a:t>VN</a:t>
            </a:r>
          </a:p>
        </p:txBody>
      </p:sp>
      <p:sp>
        <p:nvSpPr>
          <p:cNvPr id="45" name="Rounded Rectangle 44"/>
          <p:cNvSpPr/>
          <p:nvPr/>
        </p:nvSpPr>
        <p:spPr>
          <a:xfrm>
            <a:off x="8403336" y="3566160"/>
            <a:ext cx="914400" cy="329184"/>
          </a:xfrm>
          <a:prstGeom prst="roundRect">
            <a:avLst>
              <a:gd name="adj" fmla="val 12280"/>
            </a:avLst>
          </a:prstGeom>
          <a:solidFill>
            <a:srgbClr val="FFFFFF"/>
          </a:solidFill>
          <a:ln w="9525">
            <a:solidFill>
              <a:srgbClr val="DFE5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430767" y="3566160"/>
            <a:ext cx="502920" cy="329184"/>
          </a:xfrm>
          <a:prstGeom prst="rect">
            <a:avLst/>
          </a:prstGeom>
          <a:noFill/>
        </p:spPr>
        <p:txBody>
          <a:bodyPr wrap="square" anchor="ctr" lIns="0" rIns="0" tIns="0" bIns="0">
            <a:spAutoFit/>
          </a:bodyPr>
          <a:lstStyle/>
          <a:p>
            <a:pPr algn="l">
              <a:lnSpc>
                <a:spcPct val="83333"/>
              </a:lnSpc>
            </a:pPr>
            <a:r>
              <a:rPr sz="1400" b="1">
                <a:solidFill>
                  <a:srgbClr val="16202B"/>
                </a:solidFill>
                <a:latin typeface="Arial Narrow"/>
              </a:rPr>
              <a:t>31</a:t>
            </a:r>
          </a:p>
        </p:txBody>
      </p:sp>
      <p:sp>
        <p:nvSpPr>
          <p:cNvPr id="47" name="TextBox 46"/>
          <p:cNvSpPr txBox="1"/>
          <p:nvPr/>
        </p:nvSpPr>
        <p:spPr>
          <a:xfrm>
            <a:off x="8906256" y="3566160"/>
            <a:ext cx="384048" cy="329184"/>
          </a:xfrm>
          <a:prstGeom prst="rect">
            <a:avLst/>
          </a:prstGeom>
          <a:noFill/>
        </p:spPr>
        <p:txBody>
          <a:bodyPr wrap="square" anchor="ctr" lIns="0" rIns="0" tIns="0" bIns="0">
            <a:spAutoFit/>
          </a:bodyPr>
          <a:lstStyle/>
          <a:p>
            <a:pPr algn="l">
              <a:lnSpc>
                <a:spcPct val="83333"/>
              </a:lnSpc>
            </a:pPr>
            <a:r>
              <a:rPr sz="1000" b="0">
                <a:solidFill>
                  <a:srgbClr val="6E7984"/>
                </a:solidFill>
                <a:latin typeface="Arial"/>
              </a:rPr>
              <a:t>FP</a:t>
            </a:r>
          </a:p>
        </p:txBody>
      </p:sp>
      <p:sp>
        <p:nvSpPr>
          <p:cNvPr id="48" name="Rounded Rectangle 47"/>
          <p:cNvSpPr/>
          <p:nvPr/>
        </p:nvSpPr>
        <p:spPr>
          <a:xfrm>
            <a:off x="9400032" y="3566160"/>
            <a:ext cx="914400" cy="329184"/>
          </a:xfrm>
          <a:prstGeom prst="roundRect">
            <a:avLst>
              <a:gd name="adj" fmla="val 12280"/>
            </a:avLst>
          </a:prstGeom>
          <a:solidFill>
            <a:srgbClr val="FFFFFF"/>
          </a:solidFill>
          <a:ln w="9525">
            <a:solidFill>
              <a:srgbClr val="DFE5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9427463" y="3566160"/>
            <a:ext cx="502920" cy="329184"/>
          </a:xfrm>
          <a:prstGeom prst="rect">
            <a:avLst/>
          </a:prstGeom>
          <a:noFill/>
        </p:spPr>
        <p:txBody>
          <a:bodyPr wrap="square" anchor="ctr" lIns="0" rIns="0" tIns="0" bIns="0">
            <a:spAutoFit/>
          </a:bodyPr>
          <a:lstStyle/>
          <a:p>
            <a:pPr algn="l">
              <a:lnSpc>
                <a:spcPct val="83333"/>
              </a:lnSpc>
            </a:pPr>
            <a:r>
              <a:rPr sz="1400" b="1">
                <a:solidFill>
                  <a:srgbClr val="16202B"/>
                </a:solidFill>
                <a:latin typeface="Arial Narrow"/>
              </a:rPr>
              <a:t>35</a:t>
            </a:r>
          </a:p>
        </p:txBody>
      </p:sp>
      <p:sp>
        <p:nvSpPr>
          <p:cNvPr id="50" name="TextBox 49"/>
          <p:cNvSpPr txBox="1"/>
          <p:nvPr/>
        </p:nvSpPr>
        <p:spPr>
          <a:xfrm>
            <a:off x="9902952" y="3566160"/>
            <a:ext cx="384048" cy="329184"/>
          </a:xfrm>
          <a:prstGeom prst="rect">
            <a:avLst/>
          </a:prstGeom>
          <a:noFill/>
        </p:spPr>
        <p:txBody>
          <a:bodyPr wrap="square" anchor="ctr" lIns="0" rIns="0" tIns="0" bIns="0">
            <a:spAutoFit/>
          </a:bodyPr>
          <a:lstStyle/>
          <a:p>
            <a:pPr algn="l">
              <a:lnSpc>
                <a:spcPct val="83333"/>
              </a:lnSpc>
            </a:pPr>
            <a:r>
              <a:rPr sz="1000" b="0">
                <a:solidFill>
                  <a:srgbClr val="6E7984"/>
                </a:solidFill>
                <a:latin typeface="Arial"/>
              </a:rPr>
              <a:t>FN</a:t>
            </a:r>
          </a:p>
        </p:txBody>
      </p:sp>
      <p:sp>
        <p:nvSpPr>
          <p:cNvPr id="51" name="Rounded Rectangle 50"/>
          <p:cNvSpPr/>
          <p:nvPr/>
        </p:nvSpPr>
        <p:spPr>
          <a:xfrm>
            <a:off x="10396728" y="3566160"/>
            <a:ext cx="914400" cy="329184"/>
          </a:xfrm>
          <a:prstGeom prst="roundRect">
            <a:avLst>
              <a:gd name="adj" fmla="val 12280"/>
            </a:avLst>
          </a:prstGeom>
          <a:solidFill>
            <a:srgbClr val="F7DDE9"/>
          </a:solidFill>
          <a:ln w="9525">
            <a:solidFill>
              <a:srgbClr val="E7B5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10424160" y="3566160"/>
            <a:ext cx="502920" cy="329184"/>
          </a:xfrm>
          <a:prstGeom prst="rect">
            <a:avLst/>
          </a:prstGeom>
          <a:noFill/>
        </p:spPr>
        <p:txBody>
          <a:bodyPr wrap="square" anchor="ctr" lIns="0" rIns="0" tIns="0" bIns="0">
            <a:spAutoFit/>
          </a:bodyPr>
          <a:lstStyle/>
          <a:p>
            <a:pPr algn="l">
              <a:lnSpc>
                <a:spcPct val="83333"/>
              </a:lnSpc>
            </a:pPr>
            <a:r>
              <a:rPr sz="1400" b="1">
                <a:solidFill>
                  <a:srgbClr val="16202B"/>
                </a:solidFill>
                <a:latin typeface="Arial Narrow"/>
              </a:rPr>
              <a:t>18</a:t>
            </a:r>
          </a:p>
        </p:txBody>
      </p:sp>
      <p:sp>
        <p:nvSpPr>
          <p:cNvPr id="53" name="TextBox 52"/>
          <p:cNvSpPr txBox="1"/>
          <p:nvPr/>
        </p:nvSpPr>
        <p:spPr>
          <a:xfrm>
            <a:off x="10899648" y="3566160"/>
            <a:ext cx="384048" cy="329184"/>
          </a:xfrm>
          <a:prstGeom prst="rect">
            <a:avLst/>
          </a:prstGeom>
          <a:noFill/>
        </p:spPr>
        <p:txBody>
          <a:bodyPr wrap="square" anchor="ctr" lIns="0" rIns="0" tIns="0" bIns="0">
            <a:spAutoFit/>
          </a:bodyPr>
          <a:lstStyle/>
          <a:p>
            <a:pPr algn="l">
              <a:lnSpc>
                <a:spcPct val="83333"/>
              </a:lnSpc>
            </a:pPr>
            <a:r>
              <a:rPr sz="1000" b="0">
                <a:solidFill>
                  <a:srgbClr val="4F5B67"/>
                </a:solidFill>
                <a:latin typeface="Arial"/>
              </a:rPr>
              <a:t>VP</a:t>
            </a:r>
          </a:p>
        </p:txBody>
      </p:sp>
      <p:graphicFrame>
        <p:nvGraphicFramePr>
          <p:cNvPr id="55" name="AUC por época"/>
          <p:cNvGraphicFramePr>
            <a:graphicFrameLocks noGrp="1"/>
          </p:cNvGraphicFramePr>
          <p:nvPr/>
        </p:nvGraphicFramePr>
        <p:xfrm>
          <a:off x="786384" y="2313432"/>
          <a:ext cx="3154680" cy="2304288"/>
        </p:xfrm>
        <a:graphic>
          <a:graphicData uri="http://schemas.openxmlformats.org/drawingml/2006/chart">
            <c:chart xmlns:c="http://schemas.openxmlformats.org/drawingml/2006/chart" r:id="rId3"/>
          </a:graphicData>
        </a:graphic>
      </p:graphicFrame>
      <p:graphicFrame>
        <p:nvGraphicFramePr>
          <p:cNvPr id="56" name="BCE por época"/>
          <p:cNvGraphicFramePr>
            <a:graphicFrameLocks noGrp="1"/>
          </p:cNvGraphicFramePr>
          <p:nvPr/>
        </p:nvGraphicFramePr>
        <p:xfrm>
          <a:off x="3904487" y="2313432"/>
          <a:ext cx="3154680" cy="2304288"/>
        </p:xfrm>
        <a:graphic>
          <a:graphicData uri="http://schemas.openxmlformats.org/drawingml/2006/chart">
            <c:chart xmlns:c="http://schemas.openxmlformats.org/drawingml/2006/chart" r:id="rId4"/>
          </a:graphicData>
        </a:graphic>
      </p:graphicFrame>
      <p:sp>
        <p:nvSpPr>
          <p:cNvPr id="57" name="Rounded Rectangle 44"/>
          <p:cNvSpPr/>
          <p:nvPr/>
        </p:nvSpPr>
        <p:spPr>
          <a:xfrm>
            <a:off x="7406640" y="2944368"/>
            <a:ext cx="1234440" cy="566928"/>
          </a:xfrm>
          <a:prstGeom prst="roundRect">
            <a:avLst>
              <a:gd name="adj" fmla="val 12280"/>
            </a:avLst>
          </a:prstGeom>
          <a:solidFill>
            <a:srgbClr val="FFFFFF"/>
          </a:solidFill>
          <a:ln w="9525">
            <a:solidFill>
              <a:srgbClr val="DFE5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42"/>
          <p:cNvSpPr txBox="1"/>
          <p:nvPr/>
        </p:nvSpPr>
        <p:spPr>
          <a:xfrm>
            <a:off x="7443215" y="2980944"/>
            <a:ext cx="1161288" cy="292608"/>
          </a:xfrm>
          <a:prstGeom prst="rect">
            <a:avLst/>
          </a:prstGeom>
          <a:noFill/>
        </p:spPr>
        <p:txBody>
          <a:bodyPr wrap="square" anchor="t" lIns="0" rIns="0" tIns="0" bIns="0">
            <a:spAutoFit/>
          </a:bodyPr>
          <a:lstStyle/>
          <a:p>
            <a:pPr algn="l">
              <a:lnSpc>
                <a:spcPct val="83333"/>
              </a:lnSpc>
            </a:pPr>
            <a:r>
              <a:rPr sz="1600" b="1">
                <a:solidFill>
                  <a:srgbClr val="16202B"/>
                </a:solidFill>
                <a:latin typeface="Arial Narrow"/>
              </a:rPr>
              <a:t>54,6 %</a:t>
            </a:r>
          </a:p>
        </p:txBody>
      </p:sp>
      <p:sp>
        <p:nvSpPr>
          <p:cNvPr id="59" name="TextBox 43"/>
          <p:cNvSpPr txBox="1"/>
          <p:nvPr/>
        </p:nvSpPr>
        <p:spPr>
          <a:xfrm>
            <a:off x="7443215" y="3255264"/>
            <a:ext cx="1161288" cy="219456"/>
          </a:xfrm>
          <a:prstGeom prst="rect">
            <a:avLst/>
          </a:prstGeom>
          <a:noFill/>
        </p:spPr>
        <p:txBody>
          <a:bodyPr wrap="square" anchor="t" lIns="0" rIns="0" tIns="0" bIns="0">
            <a:spAutoFit/>
          </a:bodyPr>
          <a:lstStyle/>
          <a:p>
            <a:pPr algn="l">
              <a:lnSpc>
                <a:spcPct val="83333"/>
              </a:lnSpc>
            </a:pPr>
            <a:r>
              <a:rPr sz="1000" b="0">
                <a:solidFill>
                  <a:srgbClr val="4F5B67"/>
                </a:solidFill>
                <a:latin typeface="Arial"/>
              </a:rPr>
              <a:t>precisión macro</a:t>
            </a:r>
          </a:p>
        </p:txBody>
      </p:sp>
      <p:sp>
        <p:nvSpPr>
          <p:cNvPr id="60" name="Rounded Rectangle 44"/>
          <p:cNvSpPr/>
          <p:nvPr/>
        </p:nvSpPr>
        <p:spPr>
          <a:xfrm>
            <a:off x="8741663" y="2944368"/>
            <a:ext cx="1234440" cy="566928"/>
          </a:xfrm>
          <a:prstGeom prst="roundRect">
            <a:avLst>
              <a:gd name="adj" fmla="val 12280"/>
            </a:avLst>
          </a:prstGeom>
          <a:solidFill>
            <a:srgbClr val="FFFFFF"/>
          </a:solidFill>
          <a:ln w="9525">
            <a:solidFill>
              <a:srgbClr val="DFE5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42"/>
          <p:cNvSpPr txBox="1"/>
          <p:nvPr/>
        </p:nvSpPr>
        <p:spPr>
          <a:xfrm>
            <a:off x="8778239" y="2980944"/>
            <a:ext cx="1161288" cy="292608"/>
          </a:xfrm>
          <a:prstGeom prst="rect">
            <a:avLst/>
          </a:prstGeom>
          <a:noFill/>
        </p:spPr>
        <p:txBody>
          <a:bodyPr wrap="square" anchor="t" lIns="0" rIns="0" tIns="0" bIns="0">
            <a:spAutoFit/>
          </a:bodyPr>
          <a:lstStyle/>
          <a:p>
            <a:pPr algn="l">
              <a:lnSpc>
                <a:spcPct val="83333"/>
              </a:lnSpc>
            </a:pPr>
            <a:r>
              <a:rPr sz="1600" b="1">
                <a:solidFill>
                  <a:srgbClr val="16202B"/>
                </a:solidFill>
                <a:latin typeface="Arial Narrow"/>
              </a:rPr>
              <a:t>54,4 %</a:t>
            </a:r>
          </a:p>
        </p:txBody>
      </p:sp>
      <p:sp>
        <p:nvSpPr>
          <p:cNvPr id="62" name="TextBox 43"/>
          <p:cNvSpPr txBox="1"/>
          <p:nvPr/>
        </p:nvSpPr>
        <p:spPr>
          <a:xfrm>
            <a:off x="8778239" y="3255264"/>
            <a:ext cx="1161288" cy="219456"/>
          </a:xfrm>
          <a:prstGeom prst="rect">
            <a:avLst/>
          </a:prstGeom>
          <a:noFill/>
        </p:spPr>
        <p:txBody>
          <a:bodyPr wrap="square" anchor="t" lIns="0" rIns="0" tIns="0" bIns="0">
            <a:spAutoFit/>
          </a:bodyPr>
          <a:lstStyle/>
          <a:p>
            <a:pPr algn="l">
              <a:lnSpc>
                <a:spcPct val="83333"/>
              </a:lnSpc>
            </a:pPr>
            <a:r>
              <a:rPr sz="1000" b="0">
                <a:solidFill>
                  <a:srgbClr val="4F5B67"/>
                </a:solidFill>
                <a:latin typeface="Arial"/>
              </a:rPr>
              <a:t>recall macro</a:t>
            </a:r>
          </a:p>
        </p:txBody>
      </p:sp>
      <p:sp>
        <p:nvSpPr>
          <p:cNvPr id="63" name="Rounded Rectangle 44"/>
          <p:cNvSpPr/>
          <p:nvPr/>
        </p:nvSpPr>
        <p:spPr>
          <a:xfrm>
            <a:off x="10076688" y="2944368"/>
            <a:ext cx="1234440" cy="566928"/>
          </a:xfrm>
          <a:prstGeom prst="roundRect">
            <a:avLst>
              <a:gd name="adj" fmla="val 12280"/>
            </a:avLst>
          </a:prstGeom>
          <a:solidFill>
            <a:srgbClr val="FFFFFF"/>
          </a:solidFill>
          <a:ln w="9525">
            <a:solidFill>
              <a:srgbClr val="DFE5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42"/>
          <p:cNvSpPr txBox="1"/>
          <p:nvPr/>
        </p:nvSpPr>
        <p:spPr>
          <a:xfrm>
            <a:off x="10113263" y="2980944"/>
            <a:ext cx="1161288" cy="292608"/>
          </a:xfrm>
          <a:prstGeom prst="rect">
            <a:avLst/>
          </a:prstGeom>
          <a:noFill/>
        </p:spPr>
        <p:txBody>
          <a:bodyPr wrap="square" anchor="t" lIns="0" rIns="0" tIns="0" bIns="0">
            <a:spAutoFit/>
          </a:bodyPr>
          <a:lstStyle/>
          <a:p>
            <a:pPr algn="l">
              <a:lnSpc>
                <a:spcPct val="83333"/>
              </a:lnSpc>
            </a:pPr>
            <a:r>
              <a:rPr sz="1600" b="1">
                <a:solidFill>
                  <a:srgbClr val="16202B"/>
                </a:solidFill>
                <a:latin typeface="Arial Narrow"/>
              </a:rPr>
              <a:t>54,4 %</a:t>
            </a:r>
          </a:p>
        </p:txBody>
      </p:sp>
      <p:sp>
        <p:nvSpPr>
          <p:cNvPr id="65" name="TextBox 43"/>
          <p:cNvSpPr txBox="1"/>
          <p:nvPr/>
        </p:nvSpPr>
        <p:spPr>
          <a:xfrm>
            <a:off x="10113263" y="3255264"/>
            <a:ext cx="1161288" cy="219456"/>
          </a:xfrm>
          <a:prstGeom prst="rect">
            <a:avLst/>
          </a:prstGeom>
          <a:noFill/>
        </p:spPr>
        <p:txBody>
          <a:bodyPr wrap="square" anchor="t" lIns="0" rIns="0" tIns="0" bIns="0">
            <a:spAutoFit/>
          </a:bodyPr>
          <a:lstStyle/>
          <a:p>
            <a:pPr algn="l">
              <a:lnSpc>
                <a:spcPct val="83333"/>
              </a:lnSpc>
            </a:pPr>
            <a:r>
              <a:rPr sz="1000" b="0">
                <a:solidFill>
                  <a:srgbClr val="4F5B67"/>
                </a:solidFill>
                <a:latin typeface="Arial"/>
              </a:rPr>
              <a:t>F1 macro</a:t>
            </a:r>
          </a:p>
        </p:txBody>
      </p:sp>
      <p:graphicFrame>
        <p:nvGraphicFramePr>
          <p:cNvPr id="66" name="Curva ROC"/>
          <p:cNvGraphicFramePr>
            <a:graphicFrameLocks noGrp="1"/>
          </p:cNvGraphicFramePr>
          <p:nvPr/>
        </p:nvGraphicFramePr>
        <p:xfrm>
          <a:off x="7315200" y="3931920"/>
          <a:ext cx="2066543" cy="1700784"/>
        </p:xfrm>
        <a:graphic>
          <a:graphicData uri="http://schemas.openxmlformats.org/drawingml/2006/chart">
            <c:chart xmlns:c="http://schemas.openxmlformats.org/drawingml/2006/chart" r:id="rId5"/>
          </a:graphicData>
        </a:graphic>
      </p:graphicFrame>
      <p:graphicFrame>
        <p:nvGraphicFramePr>
          <p:cNvPr id="67" name="Precisión-recall"/>
          <p:cNvGraphicFramePr>
            <a:graphicFrameLocks noGrp="1"/>
          </p:cNvGraphicFramePr>
          <p:nvPr/>
        </p:nvGraphicFramePr>
        <p:xfrm>
          <a:off x="9363456" y="3931920"/>
          <a:ext cx="2066543" cy="1700784"/>
        </p:xfrm>
        <a:graphic>
          <a:graphicData uri="http://schemas.openxmlformats.org/drawingml/2006/chart">
            <c:chart xmlns:c="http://schemas.openxmlformats.org/drawingml/2006/chart" r:id="rId6"/>
          </a:graphicData>
        </a:graphic>
      </p:graphicFrame>
      <p:sp>
        <p:nvSpPr>
          <p:cNvPr id="68" name="TextBox 53"/>
          <p:cNvSpPr txBox="1"/>
          <p:nvPr/>
        </p:nvSpPr>
        <p:spPr>
          <a:xfrm>
            <a:off x="7406640" y="5614416"/>
            <a:ext cx="3904487" cy="219456"/>
          </a:xfrm>
          <a:prstGeom prst="rect">
            <a:avLst/>
          </a:prstGeom>
          <a:noFill/>
        </p:spPr>
        <p:txBody>
          <a:bodyPr wrap="square" anchor="t" lIns="0" rIns="0" tIns="0" bIns="0">
            <a:spAutoFit/>
          </a:bodyPr>
          <a:lstStyle/>
          <a:p>
            <a:pPr algn="l">
              <a:lnSpc>
                <a:spcPct val="112500"/>
              </a:lnSpc>
            </a:pPr>
            <a:r>
              <a:rPr sz="1000" b="1">
                <a:solidFill>
                  <a:srgbClr val="C8742E"/>
                </a:solidFill>
                <a:latin typeface="Arial"/>
              </a:rPr>
              <a:t>Val. AUC 0,670, AP 0,422</a:t>
            </a:r>
            <a:r>
              <a:rPr sz="1000" b="0">
                <a:solidFill>
                  <a:srgbClr val="6E7984"/>
                </a:solidFill>
                <a:latin typeface="Arial"/>
              </a:rPr>
              <a:t> · </a:t>
            </a:r>
            <a:r>
              <a:rPr sz="1000" b="1">
                <a:solidFill>
                  <a:srgbClr val="C2477F"/>
                </a:solidFill>
                <a:latin typeface="Arial"/>
              </a:rPr>
              <a:t>Test AUC 0,573, AP 0,421</a:t>
            </a:r>
            <a:r>
              <a:rPr sz="1000" b="0">
                <a:solidFill>
                  <a:srgbClr val="6E7984"/>
                </a:solidFill>
                <a:latin typeface="Arial"/>
              </a:rPr>
              <a:t> · Azar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56800" y="254000"/>
            <a:ext cx="1524000" cy="1143000"/>
          </a:xfrm>
          <a:prstGeom prst="rect">
            <a:avLst/>
          </a:prstGeom>
          <a:noFill/>
        </p:spPr>
        <p:txBody>
          <a:bodyPr wrap="square" anchor="t" lIns="0" rIns="0" tIns="0" bIns="0">
            <a:spAutoFit/>
          </a:bodyPr>
          <a:lstStyle/>
          <a:p>
            <a:pPr algn="r">
              <a:lnSpc>
                <a:spcPct val="83333"/>
              </a:lnSpc>
            </a:pPr>
            <a:r>
              <a:rPr sz="8500" b="1">
                <a:solidFill>
                  <a:srgbClr val="F5E4EC"/>
                </a:solidFill>
                <a:latin typeface="Arial Narrow"/>
              </a:rPr>
              <a:t>5</a:t>
            </a:r>
          </a:p>
        </p:txBody>
      </p:sp>
      <p:sp>
        <p:nvSpPr>
          <p:cNvPr id="3" name="TextBox 2"/>
          <p:cNvSpPr txBox="1"/>
          <p:nvPr/>
        </p:nvSpPr>
        <p:spPr>
          <a:xfrm>
            <a:off x="711200" y="812800"/>
            <a:ext cx="8255000" cy="215900"/>
          </a:xfrm>
          <a:prstGeom prst="rect">
            <a:avLst/>
          </a:prstGeom>
          <a:noFill/>
        </p:spPr>
        <p:txBody>
          <a:bodyPr wrap="square" anchor="t" lIns="0" rIns="0" tIns="0" bIns="0">
            <a:spAutoFit/>
          </a:bodyPr>
          <a:lstStyle/>
          <a:p>
            <a:pPr algn="l">
              <a:lnSpc>
                <a:spcPct val="83333"/>
              </a:lnSpc>
            </a:pPr>
            <a:r>
              <a:rPr sz="1200" b="1" spc="250">
                <a:solidFill>
                  <a:srgbClr val="C2477F"/>
                </a:solidFill>
                <a:latin typeface="Arial"/>
              </a:rPr>
              <a:t>05 · APLICACIÓN WEB, DEMOSTRACIÓN Y LÍMITES</a:t>
            </a:r>
          </a:p>
        </p:txBody>
      </p:sp>
      <p:sp>
        <p:nvSpPr>
          <p:cNvPr id="4" name="TextBox 3"/>
          <p:cNvSpPr txBox="1"/>
          <p:nvPr/>
        </p:nvSpPr>
        <p:spPr>
          <a:xfrm>
            <a:off x="711200" y="1054100"/>
            <a:ext cx="9207500" cy="533400"/>
          </a:xfrm>
          <a:prstGeom prst="rect">
            <a:avLst/>
          </a:prstGeom>
          <a:noFill/>
        </p:spPr>
        <p:txBody>
          <a:bodyPr wrap="square" anchor="t" lIns="0" rIns="0" tIns="0" bIns="0">
            <a:spAutoFit/>
          </a:bodyPr>
          <a:lstStyle/>
          <a:p>
            <a:pPr algn="l">
              <a:lnSpc>
                <a:spcPct val="83333"/>
              </a:lnSpc>
            </a:pPr>
            <a:r>
              <a:rPr sz="3600" b="1">
                <a:solidFill>
                  <a:srgbClr val="16202B"/>
                </a:solidFill>
                <a:latin typeface="Arial Narrow"/>
              </a:rPr>
              <a:t>La misma probabilidad en el pipeline y en la web</a:t>
            </a:r>
          </a:p>
        </p:txBody>
      </p:sp>
      <p:sp>
        <p:nvSpPr>
          <p:cNvPr id="5" name="TextBox 4"/>
          <p:cNvSpPr txBox="1"/>
          <p:nvPr/>
        </p:nvSpPr>
        <p:spPr>
          <a:xfrm>
            <a:off x="711200" y="1612900"/>
            <a:ext cx="9207500" cy="571500"/>
          </a:xfrm>
          <a:prstGeom prst="rect">
            <a:avLst/>
          </a:prstGeom>
          <a:noFill/>
        </p:spPr>
        <p:txBody>
          <a:bodyPr wrap="square" anchor="t" lIns="0" rIns="0" tIns="0" bIns="0">
            <a:spAutoFit/>
          </a:bodyPr>
          <a:lstStyle/>
          <a:p>
            <a:pPr algn="l">
              <a:lnSpc>
                <a:spcPct val="112500"/>
              </a:lnSpc>
            </a:pPr>
            <a:r>
              <a:rPr sz="1300" b="0">
                <a:solidFill>
                  <a:srgbClr val="4F5B67"/>
                </a:solidFill>
                <a:latin typeface="Arial"/>
              </a:rPr>
              <a:t>Flask sirve E57 en modo evaluación y React valida y muestra. El corte ISPY1_1001_z016 da 0,336232 por los dos caminos.</a:t>
            </a:r>
          </a:p>
        </p:txBody>
      </p:sp>
      <p:sp>
        <p:nvSpPr>
          <p:cNvPr id="6" name="TextBox 5"/>
          <p:cNvSpPr txBox="1"/>
          <p:nvPr/>
        </p:nvSpPr>
        <p:spPr>
          <a:xfrm>
            <a:off x="711200" y="6286500"/>
            <a:ext cx="5715000" cy="190500"/>
          </a:xfrm>
          <a:prstGeom prst="rect">
            <a:avLst/>
          </a:prstGeom>
          <a:noFill/>
        </p:spPr>
        <p:txBody>
          <a:bodyPr wrap="square" anchor="t" lIns="0" rIns="0" tIns="0" bIns="0">
            <a:spAutoFit/>
          </a:bodyPr>
          <a:lstStyle/>
          <a:p>
            <a:pPr algn="l">
              <a:lnSpc>
                <a:spcPct val="83333"/>
              </a:lnSpc>
            </a:pPr>
            <a:r>
              <a:rPr sz="1200" b="0" spc="150">
                <a:solidFill>
                  <a:srgbClr val="6E7984"/>
                </a:solidFill>
                <a:latin typeface="Arial"/>
              </a:rPr>
              <a:t>PREDICCIÓN DE pCR · 5 / 5</a:t>
            </a:r>
          </a:p>
        </p:txBody>
      </p:sp>
      <p:sp>
        <p:nvSpPr>
          <p:cNvPr id="7" name="TextBox 6"/>
          <p:cNvSpPr txBox="1"/>
          <p:nvPr/>
        </p:nvSpPr>
        <p:spPr>
          <a:xfrm>
            <a:off x="7035800" y="6286500"/>
            <a:ext cx="4445000" cy="190500"/>
          </a:xfrm>
          <a:prstGeom prst="rect">
            <a:avLst/>
          </a:prstGeom>
          <a:noFill/>
        </p:spPr>
        <p:txBody>
          <a:bodyPr wrap="square" anchor="t" lIns="0" rIns="0" tIns="0" bIns="0">
            <a:spAutoFit/>
          </a:bodyPr>
          <a:lstStyle/>
          <a:p>
            <a:pPr algn="r">
              <a:lnSpc>
                <a:spcPct val="83333"/>
              </a:lnSpc>
            </a:pPr>
            <a:r>
              <a:rPr sz="1200" b="0" spc="150">
                <a:solidFill>
                  <a:srgbClr val="6E7984"/>
                </a:solidFill>
                <a:latin typeface="Arial"/>
              </a:rPr>
              <a:t>RUBÉN ELICES · UAX 26/27</a:t>
            </a:r>
          </a:p>
        </p:txBody>
      </p:sp>
      <p:sp>
        <p:nvSpPr>
          <p:cNvPr id="54" name="Rounded Rectangle 53"/>
          <p:cNvSpPr/>
          <p:nvPr/>
        </p:nvSpPr>
        <p:spPr>
          <a:xfrm>
            <a:off x="5072987" y="1981708"/>
            <a:ext cx="1337727" cy="609600"/>
          </a:xfrm>
          <a:prstGeom prst="roundRect">
            <a:avLst>
              <a:gd name="adj" fmla="val 14583"/>
            </a:avLst>
          </a:prstGeom>
          <a:solidFill>
            <a:srgbClr val="F4F6F9"/>
          </a:solidFill>
          <a:ln w="9525">
            <a:solidFill>
              <a:srgbClr val="DFE5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5133381" y="1981708"/>
            <a:ext cx="1216939" cy="609600"/>
          </a:xfrm>
          <a:prstGeom prst="rect">
            <a:avLst/>
          </a:prstGeom>
          <a:noFill/>
        </p:spPr>
        <p:txBody>
          <a:bodyPr wrap="square" anchor="ctr" lIns="0" rIns="0" tIns="0" bIns="0">
            <a:spAutoFit/>
          </a:bodyPr>
          <a:lstStyle/>
          <a:p>
            <a:pPr algn="ctr">
              <a:lnSpc>
                <a:spcPct val="100000"/>
              </a:lnSpc>
            </a:pPr>
            <a:r>
              <a:rPr sz="1200" b="0">
                <a:solidFill>
                  <a:srgbClr val="16202B"/>
                </a:solidFill>
                <a:latin typeface="Arial"/>
              </a:rPr>
              <a:t>3 PNG del corte</a:t>
            </a:r>
          </a:p>
        </p:txBody>
      </p:sp>
      <p:sp>
        <p:nvSpPr>
          <p:cNvPr id="56" name="TextBox 55"/>
          <p:cNvSpPr txBox="1"/>
          <p:nvPr/>
        </p:nvSpPr>
        <p:spPr>
          <a:xfrm>
            <a:off x="6410714" y="1981708"/>
            <a:ext cx="350285" cy="609600"/>
          </a:xfrm>
          <a:prstGeom prst="rect">
            <a:avLst/>
          </a:prstGeom>
          <a:noFill/>
        </p:spPr>
        <p:txBody>
          <a:bodyPr wrap="square" anchor="ctr" lIns="0" rIns="0" tIns="0" bIns="0">
            <a:spAutoFit/>
          </a:bodyPr>
          <a:lstStyle/>
          <a:p>
            <a:pPr algn="ctr">
              <a:lnSpc>
                <a:spcPct val="83333"/>
              </a:lnSpc>
            </a:pPr>
            <a:r>
              <a:rPr sz="1700" b="1">
                <a:solidFill>
                  <a:srgbClr val="8A949D"/>
                </a:solidFill>
                <a:latin typeface="Arial"/>
              </a:rPr>
              <a:t>→</a:t>
            </a:r>
          </a:p>
        </p:txBody>
      </p:sp>
      <p:sp>
        <p:nvSpPr>
          <p:cNvPr id="57" name="Rounded Rectangle 56"/>
          <p:cNvSpPr/>
          <p:nvPr/>
        </p:nvSpPr>
        <p:spPr>
          <a:xfrm>
            <a:off x="6761000" y="1981708"/>
            <a:ext cx="1337727" cy="609600"/>
          </a:xfrm>
          <a:prstGeom prst="roundRect">
            <a:avLst>
              <a:gd name="adj" fmla="val 14583"/>
            </a:avLst>
          </a:prstGeom>
          <a:solidFill>
            <a:srgbClr val="F4F6F9"/>
          </a:solidFill>
          <a:ln w="9525">
            <a:solidFill>
              <a:srgbClr val="DFE5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821394" y="1981708"/>
            <a:ext cx="1216939" cy="609600"/>
          </a:xfrm>
          <a:prstGeom prst="rect">
            <a:avLst/>
          </a:prstGeom>
          <a:noFill/>
        </p:spPr>
        <p:txBody>
          <a:bodyPr wrap="square" anchor="ctr" lIns="0" rIns="0" tIns="0" bIns="0">
            <a:spAutoFit/>
          </a:bodyPr>
          <a:lstStyle/>
          <a:p>
            <a:pPr algn="ctr">
              <a:lnSpc>
                <a:spcPct val="100000"/>
              </a:lnSpc>
            </a:pPr>
            <a:r>
              <a:rPr sz="1200" b="0">
                <a:solidFill>
                  <a:srgbClr val="16202B"/>
                </a:solidFill>
                <a:latin typeface="Arial"/>
              </a:rPr>
              <a:t>Validación de fases</a:t>
            </a:r>
          </a:p>
        </p:txBody>
      </p:sp>
      <p:sp>
        <p:nvSpPr>
          <p:cNvPr id="59" name="TextBox 58"/>
          <p:cNvSpPr txBox="1"/>
          <p:nvPr/>
        </p:nvSpPr>
        <p:spPr>
          <a:xfrm>
            <a:off x="8098727" y="1981708"/>
            <a:ext cx="350285" cy="609600"/>
          </a:xfrm>
          <a:prstGeom prst="rect">
            <a:avLst/>
          </a:prstGeom>
          <a:noFill/>
        </p:spPr>
        <p:txBody>
          <a:bodyPr wrap="square" anchor="ctr" lIns="0" rIns="0" tIns="0" bIns="0">
            <a:spAutoFit/>
          </a:bodyPr>
          <a:lstStyle/>
          <a:p>
            <a:pPr algn="ctr">
              <a:lnSpc>
                <a:spcPct val="83333"/>
              </a:lnSpc>
            </a:pPr>
            <a:r>
              <a:rPr sz="1700" b="1">
                <a:solidFill>
                  <a:srgbClr val="8A949D"/>
                </a:solidFill>
                <a:latin typeface="Arial"/>
              </a:rPr>
              <a:t>→</a:t>
            </a:r>
          </a:p>
        </p:txBody>
      </p:sp>
      <p:sp>
        <p:nvSpPr>
          <p:cNvPr id="60" name="Rounded Rectangle 59"/>
          <p:cNvSpPr/>
          <p:nvPr/>
        </p:nvSpPr>
        <p:spPr>
          <a:xfrm>
            <a:off x="8449013" y="1981708"/>
            <a:ext cx="1337727" cy="609600"/>
          </a:xfrm>
          <a:prstGeom prst="roundRect">
            <a:avLst>
              <a:gd name="adj" fmla="val 14583"/>
            </a:avLst>
          </a:prstGeom>
          <a:solidFill>
            <a:srgbClr val="F4F6F9"/>
          </a:solidFill>
          <a:ln w="9525">
            <a:solidFill>
              <a:srgbClr val="DFE5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8509407" y="1981708"/>
            <a:ext cx="1216939" cy="609600"/>
          </a:xfrm>
          <a:prstGeom prst="rect">
            <a:avLst/>
          </a:prstGeom>
          <a:noFill/>
        </p:spPr>
        <p:txBody>
          <a:bodyPr wrap="square" anchor="ctr" lIns="0" rIns="0" tIns="0" bIns="0">
            <a:spAutoFit/>
          </a:bodyPr>
          <a:lstStyle/>
          <a:p>
            <a:pPr algn="ctr">
              <a:lnSpc>
                <a:spcPct val="100000"/>
              </a:lnSpc>
            </a:pPr>
            <a:r>
              <a:rPr sz="1200" b="0">
                <a:solidFill>
                  <a:srgbClr val="16202B"/>
                </a:solidFill>
                <a:latin typeface="Arial"/>
              </a:rPr>
              <a:t>÷ 255, como al entrenar</a:t>
            </a:r>
          </a:p>
        </p:txBody>
      </p:sp>
      <p:sp>
        <p:nvSpPr>
          <p:cNvPr id="62" name="TextBox 61"/>
          <p:cNvSpPr txBox="1"/>
          <p:nvPr/>
        </p:nvSpPr>
        <p:spPr>
          <a:xfrm>
            <a:off x="9786740" y="1981708"/>
            <a:ext cx="350285" cy="609600"/>
          </a:xfrm>
          <a:prstGeom prst="rect">
            <a:avLst/>
          </a:prstGeom>
          <a:noFill/>
        </p:spPr>
        <p:txBody>
          <a:bodyPr wrap="square" anchor="ctr" lIns="0" rIns="0" tIns="0" bIns="0">
            <a:spAutoFit/>
          </a:bodyPr>
          <a:lstStyle/>
          <a:p>
            <a:pPr algn="ctr">
              <a:lnSpc>
                <a:spcPct val="83333"/>
              </a:lnSpc>
            </a:pPr>
            <a:r>
              <a:rPr sz="1700" b="1">
                <a:solidFill>
                  <a:srgbClr val="8A949D"/>
                </a:solidFill>
                <a:latin typeface="Arial"/>
              </a:rPr>
              <a:t>→</a:t>
            </a:r>
          </a:p>
        </p:txBody>
      </p:sp>
      <p:sp>
        <p:nvSpPr>
          <p:cNvPr id="63" name="Rounded Rectangle 62"/>
          <p:cNvSpPr/>
          <p:nvPr/>
        </p:nvSpPr>
        <p:spPr>
          <a:xfrm>
            <a:off x="10137026" y="1981708"/>
            <a:ext cx="1337727" cy="609600"/>
          </a:xfrm>
          <a:prstGeom prst="roundRect">
            <a:avLst>
              <a:gd name="adj" fmla="val 14583"/>
            </a:avLst>
          </a:prstGeom>
          <a:solidFill>
            <a:srgbClr val="FBF3F7"/>
          </a:solidFill>
          <a:ln w="9525">
            <a:solidFill>
              <a:srgbClr val="EFD0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10197420" y="1981708"/>
            <a:ext cx="1216939" cy="609600"/>
          </a:xfrm>
          <a:prstGeom prst="rect">
            <a:avLst/>
          </a:prstGeom>
          <a:noFill/>
        </p:spPr>
        <p:txBody>
          <a:bodyPr wrap="square" anchor="ctr" lIns="0" rIns="0" tIns="0" bIns="0">
            <a:spAutoFit/>
          </a:bodyPr>
          <a:lstStyle/>
          <a:p>
            <a:pPr algn="ctr">
              <a:lnSpc>
                <a:spcPct val="100000"/>
              </a:lnSpc>
            </a:pPr>
            <a:r>
              <a:rPr sz="1200" b="1">
                <a:solidFill>
                  <a:srgbClr val="16202B"/>
                </a:solidFill>
                <a:latin typeface="Arial"/>
              </a:rPr>
              <a:t>E57 en eval, sin gradientes</a:t>
            </a:r>
          </a:p>
        </p:txBody>
      </p:sp>
      <p:sp>
        <p:nvSpPr>
          <p:cNvPr id="73" name="Rounded Rectangle 65"/>
          <p:cNvSpPr/>
          <p:nvPr/>
        </p:nvSpPr>
        <p:spPr>
          <a:xfrm>
            <a:off x="5074920" y="2706624"/>
            <a:ext cx="6400800" cy="676656"/>
          </a:xfrm>
          <a:prstGeom prst="roundRect">
            <a:avLst>
              <a:gd name="adj" fmla="val 6666"/>
            </a:avLst>
          </a:prstGeom>
          <a:solidFill>
            <a:srgbClr val="F4F6F9"/>
          </a:solidFill>
          <a:ln w="9525">
            <a:solidFill>
              <a:srgbClr val="DFE5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5230368" y="3017520"/>
            <a:ext cx="6089904" cy="274320"/>
          </a:xfrm>
          <a:prstGeom prst="rect">
            <a:avLst/>
          </a:prstGeom>
          <a:noFill/>
        </p:spPr>
        <p:txBody>
          <a:bodyPr wrap="square" anchor="t" lIns="0" rIns="0" tIns="0" bIns="0">
            <a:spAutoFit/>
          </a:bodyPr>
          <a:lstStyle/>
          <a:p>
            <a:pPr algn="l">
              <a:lnSpc>
                <a:spcPct val="112500"/>
              </a:lnSpc>
            </a:pPr>
            <a:r>
              <a:rPr sz="1200" b="0">
                <a:solidFill>
                  <a:srgbClr val="6E7984"/>
                </a:solidFill>
                <a:latin typeface="Arial"/>
              </a:rPr>
              <a:t>Cinco cortes de cinco pacientes, sin tocar el código; errores de entrada controlados.</a:t>
            </a:r>
          </a:p>
        </p:txBody>
      </p:sp>
      <p:sp>
        <p:nvSpPr>
          <p:cNvPr id="66" name="Rounded Rectangle 65"/>
          <p:cNvSpPr/>
          <p:nvPr/>
        </p:nvSpPr>
        <p:spPr>
          <a:xfrm>
            <a:off x="8348472" y="3493008"/>
            <a:ext cx="3127248" cy="2377440"/>
          </a:xfrm>
          <a:prstGeom prst="roundRect">
            <a:avLst>
              <a:gd name="adj" fmla="val 6666"/>
            </a:avLst>
          </a:prstGeom>
          <a:solidFill>
            <a:srgbClr val="F4F6F9"/>
          </a:solidFill>
          <a:ln w="9525">
            <a:solidFill>
              <a:srgbClr val="DFE5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8503920" y="3621024"/>
            <a:ext cx="2834640" cy="215900"/>
          </a:xfrm>
          <a:prstGeom prst="rect">
            <a:avLst/>
          </a:prstGeom>
          <a:noFill/>
        </p:spPr>
        <p:txBody>
          <a:bodyPr wrap="square" anchor="t" lIns="0" rIns="0" tIns="0" bIns="0">
            <a:spAutoFit/>
          </a:bodyPr>
          <a:lstStyle/>
          <a:p>
            <a:pPr algn="l">
              <a:lnSpc>
                <a:spcPct val="83333"/>
              </a:lnSpc>
            </a:pPr>
            <a:r>
              <a:rPr sz="1200" b="1" spc="200">
                <a:solidFill>
                  <a:srgbClr val="C2477F"/>
                </a:solidFill>
                <a:latin typeface="Arial"/>
              </a:rPr>
              <a:t>CONCLUSIONES</a:t>
            </a:r>
          </a:p>
        </p:txBody>
      </p:sp>
      <p:sp>
        <p:nvSpPr>
          <p:cNvPr id="70" name="Rounded Rectangle 69"/>
          <p:cNvSpPr/>
          <p:nvPr/>
        </p:nvSpPr>
        <p:spPr>
          <a:xfrm>
            <a:off x="5074920" y="3493008"/>
            <a:ext cx="3127248" cy="2377440"/>
          </a:xfrm>
          <a:prstGeom prst="roundRect">
            <a:avLst>
              <a:gd name="adj" fmla="val 6896"/>
            </a:avLst>
          </a:prstGeom>
          <a:solidFill>
            <a:srgbClr val="F4F6F9"/>
          </a:solidFill>
          <a:ln w="9525">
            <a:solidFill>
              <a:srgbClr val="DFE5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5230368" y="3621024"/>
            <a:ext cx="2834640" cy="215900"/>
          </a:xfrm>
          <a:prstGeom prst="rect">
            <a:avLst/>
          </a:prstGeom>
          <a:noFill/>
        </p:spPr>
        <p:txBody>
          <a:bodyPr wrap="square" anchor="t" lIns="0" rIns="0" tIns="0" bIns="0">
            <a:spAutoFit/>
          </a:bodyPr>
          <a:lstStyle/>
          <a:p>
            <a:pPr algn="l">
              <a:lnSpc>
                <a:spcPct val="83333"/>
              </a:lnSpc>
            </a:pPr>
            <a:r>
              <a:rPr sz="1200" b="1" spc="200">
                <a:solidFill>
                  <a:srgbClr val="C9702C"/>
                </a:solidFill>
                <a:latin typeface="Arial"/>
              </a:rPr>
              <a:t>LÍMITES</a:t>
            </a:r>
          </a:p>
        </p:txBody>
      </p:sp>
      <p:sp>
        <p:nvSpPr>
          <p:cNvPr id="72" name="TextBox 71"/>
          <p:cNvSpPr txBox="1"/>
          <p:nvPr/>
        </p:nvSpPr>
        <p:spPr>
          <a:xfrm>
            <a:off x="5230368" y="3904487"/>
            <a:ext cx="2834640" cy="1920240"/>
          </a:xfrm>
          <a:prstGeom prst="rect">
            <a:avLst/>
          </a:prstGeom>
          <a:noFill/>
        </p:spPr>
        <p:txBody>
          <a:bodyPr wrap="square" anchor="t" lIns="0" rIns="0" tIns="0" bIns="0">
            <a:spAutoFit/>
          </a:bodyPr>
          <a:lstStyle/>
          <a:p>
            <a:pPr algn="l">
              <a:lnSpc>
                <a:spcPct val="108333"/>
              </a:lnSpc>
              <a:spcAft>
                <a:spcPts val="800"/>
              </a:spcAft>
            </a:pPr>
            <a:r>
              <a:rPr sz="1400" b="0">
                <a:solidFill>
                  <a:srgbClr val="4F5B67"/>
                </a:solidFill>
                <a:latin typeface="Arial"/>
              </a:rPr>
              <a:t>•  AUC modesto, con un intervalo amplio</a:t>
            </a:r>
          </a:p>
          <a:p>
            <a:pPr algn="l">
              <a:lnSpc>
                <a:spcPct val="108333"/>
              </a:lnSpc>
              <a:spcAft>
                <a:spcPts val="800"/>
              </a:spcAft>
            </a:pPr>
            <a:r>
              <a:rPr sz="1400" b="0">
                <a:solidFill>
                  <a:srgbClr val="4F5B67"/>
                </a:solidFill>
                <a:latin typeface="Arial"/>
              </a:rPr>
              <a:t>•  Señal en parte ligada a la cohorte</a:t>
            </a:r>
          </a:p>
          <a:p>
            <a:pPr algn="l">
              <a:lnSpc>
                <a:spcPct val="108333"/>
              </a:lnSpc>
              <a:spcAft>
                <a:spcPts val="800"/>
              </a:spcAft>
            </a:pPr>
            <a:r>
              <a:rPr sz="1400" b="0">
                <a:solidFill>
                  <a:srgbClr val="4F5B67"/>
                </a:solidFill>
                <a:latin typeface="Arial"/>
              </a:rPr>
              <a:t>•  Umbral por paciente, aplicado a un corte</a:t>
            </a:r>
          </a:p>
          <a:p>
            <a:pPr algn="l">
              <a:lnSpc>
                <a:spcPct val="108333"/>
              </a:lnSpc>
              <a:spcAft>
                <a:spcPts val="800"/>
              </a:spcAft>
            </a:pPr>
            <a:r>
              <a:rPr sz="1400" b="0">
                <a:solidFill>
                  <a:srgbClr val="4F5B67"/>
                </a:solidFill>
                <a:latin typeface="Arial"/>
              </a:rPr>
              <a:t>•  Sin validez clínica</a:t>
            </a:r>
          </a:p>
        </p:txBody>
      </p:sp>
      <p:sp>
        <p:nvSpPr>
          <p:cNvPr id="74" name="TextBox 66"/>
          <p:cNvSpPr txBox="1"/>
          <p:nvPr/>
        </p:nvSpPr>
        <p:spPr>
          <a:xfrm>
            <a:off x="5230368" y="2807208"/>
            <a:ext cx="6089904" cy="215900"/>
          </a:xfrm>
          <a:prstGeom prst="rect">
            <a:avLst/>
          </a:prstGeom>
          <a:noFill/>
        </p:spPr>
        <p:txBody>
          <a:bodyPr wrap="square" anchor="t" lIns="0" rIns="0" tIns="0" bIns="0">
            <a:spAutoFit/>
          </a:bodyPr>
          <a:lstStyle/>
          <a:p>
            <a:pPr algn="l">
              <a:lnSpc>
                <a:spcPct val="83333"/>
              </a:lnSpc>
            </a:pPr>
            <a:r>
              <a:rPr sz="1200" b="1" spc="200">
                <a:solidFill>
                  <a:srgbClr val="C2477F"/>
                </a:solidFill>
                <a:latin typeface="Arial"/>
              </a:rPr>
              <a:t>PREPARADA PARA LA DEFENSA</a:t>
            </a:r>
          </a:p>
        </p:txBody>
      </p:sp>
      <p:sp>
        <p:nvSpPr>
          <p:cNvPr id="75" name="TextBox 71"/>
          <p:cNvSpPr txBox="1"/>
          <p:nvPr/>
        </p:nvSpPr>
        <p:spPr>
          <a:xfrm>
            <a:off x="8503920" y="3904487"/>
            <a:ext cx="2834640" cy="1920240"/>
          </a:xfrm>
          <a:prstGeom prst="rect">
            <a:avLst/>
          </a:prstGeom>
          <a:noFill/>
        </p:spPr>
        <p:txBody>
          <a:bodyPr wrap="square" anchor="t" lIns="0" rIns="0" tIns="0" bIns="0">
            <a:spAutoFit/>
          </a:bodyPr>
          <a:lstStyle/>
          <a:p>
            <a:pPr algn="l">
              <a:lnSpc>
                <a:spcPct val="108333"/>
              </a:lnSpc>
              <a:spcAft>
                <a:spcPts val="800"/>
              </a:spcAft>
            </a:pPr>
            <a:r>
              <a:rPr sz="1400" b="0">
                <a:solidFill>
                  <a:srgbClr val="4F5B67"/>
                </a:solidFill>
                <a:latin typeface="Arial"/>
              </a:rPr>
              <a:t>•  Con solo imagen la señal es débil: AUC 0,573 en test</a:t>
            </a:r>
          </a:p>
          <a:p>
            <a:pPr algn="l">
              <a:lnSpc>
                <a:spcPct val="108333"/>
              </a:lnSpc>
              <a:spcAft>
                <a:spcPts val="800"/>
              </a:spcAft>
            </a:pPr>
            <a:r>
              <a:rPr sz="1400" b="0">
                <a:solidFill>
                  <a:srgbClr val="4F5B67"/>
                </a:solidFill>
                <a:latin typeface="Arial"/>
              </a:rPr>
              <a:t>•  Protocolo riguroso: E57 medido una sola vez en test, sin usarlo para decidir</a:t>
            </a:r>
          </a:p>
        </p:txBody>
      </p:sp>
      <p:pic>
        <p:nvPicPr>
          <p:cNvPr id="76" name="Portada de la web" descr="Portada de la aplicación web, con enlace a ella">
            <a:hlinkClick r:id="rId16"/>
          </p:cNvPr>
          <p:cNvPicPr>
            <a:picLocks noChangeAspect="1"/>
          </p:cNvPicPr>
          <p:nvPr/>
        </p:nvPicPr>
        <p:blipFill>
          <a:blip r:embed="rId15"/>
          <a:stretch>
            <a:fillRect/>
          </a:stretch>
        </p:blipFill>
        <p:spPr>
          <a:xfrm>
            <a:off x="713232" y="1984248"/>
            <a:ext cx="4160520" cy="2600325"/>
          </a:xfrm>
          <a:prstGeom prst="rect">
            <a:avLst/>
          </a:prstGeom>
          <a:ln w="9525">
            <a:solidFill>
              <a:srgbClr val="DFE5EC"/>
            </a:solidFill>
          </a:ln>
        </p:spPr>
      </p:pic>
      <p:sp>
        <p:nvSpPr>
          <p:cNvPr id="77" name="Rounded Rectangle 69"/>
          <p:cNvSpPr/>
          <p:nvPr/>
        </p:nvSpPr>
        <p:spPr>
          <a:xfrm>
            <a:off x="713232" y="4712589"/>
            <a:ext cx="4160520" cy="1157859"/>
          </a:xfrm>
          <a:prstGeom prst="roundRect">
            <a:avLst>
              <a:gd name="adj" fmla="val 6896"/>
            </a:avLst>
          </a:prstGeom>
          <a:solidFill>
            <a:srgbClr val="F4F6F9"/>
          </a:solidFill>
          <a:ln w="9525">
            <a:solidFill>
              <a:srgbClr val="DFE5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0"/>
          <p:cNvSpPr txBox="1"/>
          <p:nvPr/>
        </p:nvSpPr>
        <p:spPr>
          <a:xfrm>
            <a:off x="868680" y="4822317"/>
            <a:ext cx="3840480" cy="219456"/>
          </a:xfrm>
          <a:prstGeom prst="rect">
            <a:avLst/>
          </a:prstGeom>
          <a:noFill/>
        </p:spPr>
        <p:txBody>
          <a:bodyPr wrap="square" anchor="t" lIns="0" rIns="0" tIns="0" bIns="0">
            <a:spAutoFit/>
          </a:bodyPr>
          <a:lstStyle/>
          <a:p>
            <a:pPr algn="l">
              <a:lnSpc>
                <a:spcPct val="83333"/>
              </a:lnSpc>
            </a:pPr>
            <a:r>
              <a:rPr sz="1200" b="1" spc="200">
                <a:solidFill>
                  <a:srgbClr val="C9702C"/>
                </a:solidFill>
                <a:latin typeface="Arial"/>
              </a:rPr>
              <a:t>PRUÉBALA</a:t>
            </a:r>
          </a:p>
        </p:txBody>
      </p:sp>
      <p:sp>
        <p:nvSpPr>
          <p:cNvPr id="79" name="TextBox 64"/>
          <p:cNvSpPr txBox="1"/>
          <p:nvPr/>
        </p:nvSpPr>
        <p:spPr>
          <a:xfrm>
            <a:off x="868680" y="5060061"/>
            <a:ext cx="3840480" cy="310896"/>
          </a:xfrm>
          <a:prstGeom prst="rect">
            <a:avLst/>
          </a:prstGeom>
          <a:noFill/>
        </p:spPr>
        <p:txBody>
          <a:bodyPr wrap="square" anchor="t" lIns="0" rIns="0" tIns="0" bIns="0">
            <a:spAutoFit/>
          </a:bodyPr>
          <a:lstStyle/>
          <a:p>
            <a:pPr algn="l">
              <a:lnSpc>
                <a:spcPct val="112500"/>
              </a:lnSpc>
            </a:pPr>
            <a:r>
              <a:rPr sz="1600" b="1">
                <a:solidFill>
                  <a:srgbClr val="6E7984"/>
                </a:solidFill>
                <a:latin typeface="Arial"/>
                <a:hlinkClick r:id="rId16"/>
              </a:rPr>
              <a:t>rubenelices-pcr-demo.hf.space</a:t>
            </a:r>
          </a:p>
        </p:txBody>
      </p:sp>
      <p:sp>
        <p:nvSpPr>
          <p:cNvPr id="80" name="TextBox 64"/>
          <p:cNvSpPr txBox="1"/>
          <p:nvPr/>
        </p:nvSpPr>
        <p:spPr>
          <a:xfrm>
            <a:off x="868680" y="5407532"/>
            <a:ext cx="3840480" cy="274320"/>
          </a:xfrm>
          <a:prstGeom prst="rect">
            <a:avLst/>
          </a:prstGeom>
          <a:noFill/>
        </p:spPr>
        <p:txBody>
          <a:bodyPr wrap="square" anchor="t" lIns="0" rIns="0" tIns="0" bIns="0">
            <a:spAutoFit/>
          </a:bodyPr>
          <a:lstStyle/>
          <a:p>
            <a:pPr algn="l">
              <a:lnSpc>
                <a:spcPct val="112500"/>
              </a:lnSpc>
            </a:pPr>
            <a:r>
              <a:rPr sz="1200" b="0">
                <a:solidFill>
                  <a:srgbClr val="6E7984"/>
                </a:solidFill>
                <a:latin typeface="Arial"/>
              </a:rPr>
              <a:t>Inicio · Laboratorio · Modelo · Resultados · Pruebas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object 8">
            <a:extLst>
              <a:ext uri="{FF2B5EF4-FFF2-40B4-BE49-F238E27FC236}">
                <a16:creationId xmlns:a16="http://schemas.microsoft.com/office/drawing/2014/main" id="{49E18F14-67C1-03FD-1B54-7C091E7B083A}"/>
              </a:ext>
            </a:extLst>
          </p:cNvPr>
          <p:cNvSpPr/>
          <p:nvPr/>
        </p:nvSpPr>
        <p:spPr>
          <a:xfrm>
            <a:off x="0" y="-43543"/>
            <a:ext cx="12192000" cy="6901544"/>
          </a:xfrm>
          <a:custGeom>
            <a:avLst/>
            <a:gdLst/>
            <a:ahLst/>
            <a:cxnLst/>
            <a:rect l="l" t="t" r="r" b="b"/>
            <a:pathLst>
              <a:path w="7616190" h="7560309">
                <a:moveTo>
                  <a:pt x="7615643" y="0"/>
                </a:moveTo>
                <a:lnTo>
                  <a:pt x="0" y="0"/>
                </a:lnTo>
                <a:lnTo>
                  <a:pt x="0" y="7559992"/>
                </a:lnTo>
                <a:lnTo>
                  <a:pt x="3689819" y="7559992"/>
                </a:lnTo>
                <a:lnTo>
                  <a:pt x="7615643" y="0"/>
                </a:lnTo>
                <a:close/>
              </a:path>
            </a:pathLst>
          </a:custGeom>
          <a:solidFill>
            <a:srgbClr val="0060AB"/>
          </a:solidFill>
        </p:spPr>
        <p:txBody>
          <a:bodyPr wrap="square" lIns="0" tIns="0" rIns="0" bIns="0" rtlCol="0"/>
          <a:lstStyle/>
          <a:p>
            <a:endParaRPr dirty="0">
              <a:latin typeface="+mj-lt"/>
            </a:endParaRPr>
          </a:p>
        </p:txBody>
      </p:sp>
      <p:pic>
        <p:nvPicPr>
          <p:cNvPr id="20" name="Red E57" descr="Dibujo de la red E57 con sus dimensiones reales"/>
          <p:cNvPicPr>
            <a:picLocks noChangeAspect="1"/>
          </p:cNvPicPr>
          <p:nvPr/>
        </p:nvPicPr>
        <p:blipFill>
          <a:blip r:embed="rId5"/>
          <a:stretch>
            <a:fillRect/>
          </a:stretch>
        </p:blipFill>
        <p:spPr>
          <a:xfrm>
            <a:off x="868680" y="1783080"/>
            <a:ext cx="6766560" cy="3624943"/>
          </a:xfrm>
          <a:prstGeom prst="rect">
            <a:avLst/>
          </a:prstGeom>
        </p:spPr>
      </p:pic>
      <p:pic>
        <p:nvPicPr>
          <p:cNvPr id="10" name="object 16">
            <a:extLst>
              <a:ext uri="{FF2B5EF4-FFF2-40B4-BE49-F238E27FC236}">
                <a16:creationId xmlns:a16="http://schemas.microsoft.com/office/drawing/2014/main" id="{58731C1D-78BA-E384-79A1-F1D7DFBABCC3}"/>
              </a:ext>
            </a:extLst>
          </p:cNvPr>
          <p:cNvPicPr/>
          <p:nvPr/>
        </p:nvPicPr>
        <p:blipFill>
          <a:blip r:embed="rId3" cstate="print">
            <a:extLst>
              <a:ext uri="{BEBA8EAE-BF5A-486C-A8C5-ECC9F3942E4B}">
                <a14:imgProps xmlns:a14="http://schemas.microsoft.com/office/drawing/2010/main">
                  <a14:imgLayer r:embed="rId4">
                    <a14:imgEffect>
                      <a14:sharpenSoften amount="50000"/>
                    </a14:imgEffect>
                  </a14:imgLayer>
                </a14:imgProps>
              </a:ext>
            </a:extLst>
          </a:blip>
          <a:stretch>
            <a:fillRect/>
          </a:stretch>
        </p:blipFill>
        <p:spPr>
          <a:xfrm>
            <a:off x="7941076" y="-145846"/>
            <a:ext cx="3613741" cy="1338944"/>
          </a:xfrm>
          <a:prstGeom prst="rect">
            <a:avLst/>
          </a:prstGeom>
        </p:spPr>
      </p:pic>
      <p:sp>
        <p:nvSpPr>
          <p:cNvPr id="11" name="TextBox 10"/>
          <p:cNvSpPr txBox="1"/>
          <p:nvPr/>
        </p:nvSpPr>
        <p:spPr>
          <a:xfrm>
            <a:off x="711200" y="609600"/>
            <a:ext cx="6350000" cy="215900"/>
          </a:xfrm>
          <a:prstGeom prst="rect">
            <a:avLst/>
          </a:prstGeom>
          <a:noFill/>
        </p:spPr>
        <p:txBody>
          <a:bodyPr wrap="square" anchor="t" lIns="0" rIns="0" tIns="0" bIns="0">
            <a:spAutoFit/>
          </a:bodyPr>
          <a:lstStyle/>
          <a:p>
            <a:pPr algn="l">
              <a:lnSpc>
                <a:spcPct val="83333"/>
              </a:lnSpc>
            </a:pPr>
            <a:r>
              <a:rPr sz="1200" b="1" spc="250">
                <a:solidFill>
                  <a:srgbClr val="F6B8D6"/>
                </a:solidFill>
                <a:latin typeface="Arial"/>
              </a:rPr>
              <a:t>CONCLUSIÓN</a:t>
            </a:r>
          </a:p>
        </p:txBody>
      </p:sp>
      <p:sp>
        <p:nvSpPr>
          <p:cNvPr id="12" name="TextBox 11"/>
          <p:cNvSpPr txBox="1"/>
          <p:nvPr/>
        </p:nvSpPr>
        <p:spPr>
          <a:xfrm>
            <a:off x="711200" y="889000"/>
            <a:ext cx="6985000" cy="1460500"/>
          </a:xfrm>
          <a:prstGeom prst="rect">
            <a:avLst/>
          </a:prstGeom>
          <a:noFill/>
        </p:spPr>
        <p:txBody>
          <a:bodyPr wrap="square" anchor="t" lIns="0" rIns="0" tIns="0" bIns="0">
            <a:spAutoFit/>
          </a:bodyPr>
          <a:lstStyle/>
          <a:p>
            <a:pPr algn="l">
              <a:lnSpc>
                <a:spcPct val="81667"/>
              </a:lnSpc>
            </a:pPr>
            <a:r>
              <a:rPr sz="5200" b="1">
                <a:solidFill>
                  <a:srgbClr val="FFFFFF"/>
                </a:solidFill>
                <a:latin typeface="Arial Narrow"/>
              </a:rPr>
              <a:t>Una CNN propia, evaluada con rigor</a:t>
            </a:r>
          </a:p>
        </p:txBody>
      </p:sp>
      <p:sp>
        <p:nvSpPr>
          <p:cNvPr id="18" name="TextBox 17"/>
          <p:cNvSpPr txBox="1"/>
          <p:nvPr/>
        </p:nvSpPr>
        <p:spPr>
          <a:xfrm>
            <a:off x="711200" y="6096000"/>
            <a:ext cx="6350000" cy="215900"/>
          </a:xfrm>
          <a:prstGeom prst="rect">
            <a:avLst/>
          </a:prstGeom>
          <a:noFill/>
        </p:spPr>
        <p:txBody>
          <a:bodyPr wrap="square" anchor="t" lIns="0" rIns="0" tIns="0" bIns="0">
            <a:spAutoFit/>
          </a:bodyPr>
          <a:lstStyle/>
          <a:p>
            <a:pPr algn="l">
              <a:lnSpc>
                <a:spcPct val="83333"/>
              </a:lnSpc>
            </a:pPr>
            <a:r>
              <a:rPr sz="1300" b="1">
                <a:solidFill>
                  <a:srgbClr val="FFFFFF"/>
                </a:solidFill>
                <a:latin typeface="Arial"/>
              </a:rPr>
              <a:t>Rubén Elices Rodríguez</a:t>
            </a:r>
            <a:r>
              <a:rPr sz="1300" b="0">
                <a:solidFill>
                  <a:srgbClr val="FFFFFF"/>
                </a:solidFill>
                <a:latin typeface="Arial"/>
              </a:rPr>
              <a:t> · 4.º Ingeniería Matemática · UAX</a:t>
            </a:r>
          </a:p>
        </p:txBody>
      </p:sp>
      <p:sp>
        <p:nvSpPr>
          <p:cNvPr id="19" name="TextBox 18"/>
          <p:cNvSpPr txBox="1"/>
          <p:nvPr/>
        </p:nvSpPr>
        <p:spPr>
          <a:xfrm>
            <a:off x="711200" y="6350000"/>
            <a:ext cx="5080000" cy="190500"/>
          </a:xfrm>
          <a:prstGeom prst="rect">
            <a:avLst/>
          </a:prstGeom>
          <a:noFill/>
        </p:spPr>
        <p:txBody>
          <a:bodyPr wrap="square" anchor="t" lIns="0" rIns="0" tIns="0" bIns="0">
            <a:spAutoFit/>
          </a:bodyPr>
          <a:lstStyle/>
          <a:p>
            <a:pPr algn="l">
              <a:lnSpc>
                <a:spcPct val="83333"/>
              </a:lnSpc>
            </a:pPr>
            <a:r>
              <a:rPr sz="1100" b="0">
                <a:solidFill>
                  <a:srgbClr val="D3E3F4"/>
                </a:solidFill>
                <a:latin typeface="Arial"/>
              </a:rPr>
              <a:t>Uso educativo, sin validez clínica</a:t>
            </a:r>
          </a:p>
        </p:txBody>
      </p:sp>
      <p:sp>
        <p:nvSpPr>
          <p:cNvPr id="21" name="TextBox 11"/>
          <p:cNvSpPr txBox="1"/>
          <p:nvPr/>
        </p:nvSpPr>
        <p:spPr>
          <a:xfrm>
            <a:off x="713232" y="4983480"/>
            <a:ext cx="6400800" cy="822960"/>
          </a:xfrm>
          <a:prstGeom prst="rect">
            <a:avLst/>
          </a:prstGeom>
          <a:noFill/>
        </p:spPr>
        <p:txBody>
          <a:bodyPr wrap="square" anchor="t" lIns="0" rIns="0" tIns="0" bIns="0">
            <a:spAutoFit/>
          </a:bodyPr>
          <a:lstStyle/>
          <a:p>
            <a:pPr algn="l">
              <a:lnSpc>
                <a:spcPct val="81667"/>
              </a:lnSpc>
            </a:pPr>
            <a:r>
              <a:rPr sz="4800" b="1">
                <a:solidFill>
                  <a:srgbClr val="FFFFFF"/>
                </a:solidFill>
                <a:latin typeface="Arial Narrow"/>
              </a:rPr>
              <a:t>Gracias</a:t>
            </a:r>
          </a:p>
        </p:txBody>
      </p:sp>
    </p:spTree>
    <p:extLst>
      <p:ext uri="{BB962C8B-B14F-4D97-AF65-F5344CB8AC3E}">
        <p14:creationId xmlns:p14="http://schemas.microsoft.com/office/powerpoint/2010/main" val="110221906"/>
      </p:ext>
    </p:extLst>
  </p:cSld>
  <p:clrMapOvr>
    <a:masterClrMapping/>
  </p:clrMapOvr>
</p:sld>
</file>

<file path=ppt/theme/theme1.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LM Roman 10">
      <a:majorFont>
        <a:latin typeface="LM Roman 10"/>
        <a:ea typeface=""/>
        <a:cs typeface=""/>
      </a:majorFont>
      <a:minorFont>
        <a:latin typeface="LM Roman 10"/>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roceso xmlns="4bd470e1-a810-4dc7-a7f4-504af0e5f80d">PE01.01</Proceso>
    <Macroproceso xmlns="4bd470e1-a810-4dc7-a7f4-504af0e5f80d">LIDERAZGO Y ESTRATEGIA</Macroproceso>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o" ma:contentTypeID="0x0101009B84DA0D6C2ADE46966ECE7A6B7DD2B5" ma:contentTypeVersion="8" ma:contentTypeDescription="Crear nuevo documento." ma:contentTypeScope="" ma:versionID="36dcda6161a342f68f8c529063e8cda3">
  <xsd:schema xmlns:xsd="http://www.w3.org/2001/XMLSchema" xmlns:xs="http://www.w3.org/2001/XMLSchema" xmlns:p="http://schemas.microsoft.com/office/2006/metadata/properties" xmlns:ns2="4bd470e1-a810-4dc7-a7f4-504af0e5f80d" xmlns:ns3="94bf27de-86a6-4ac7-874e-21eaa1714b2f" targetNamespace="http://schemas.microsoft.com/office/2006/metadata/properties" ma:root="true" ma:fieldsID="0e2e7ed13747b05cb62c0c7df8d0962a" ns2:_="" ns3:_="">
    <xsd:import namespace="4bd470e1-a810-4dc7-a7f4-504af0e5f80d"/>
    <xsd:import namespace="94bf27de-86a6-4ac7-874e-21eaa1714b2f"/>
    <xsd:element name="properties">
      <xsd:complexType>
        <xsd:sequence>
          <xsd:element name="documentManagement">
            <xsd:complexType>
              <xsd:all>
                <xsd:element ref="ns2:MediaServiceMetadata" minOccurs="0"/>
                <xsd:element ref="ns2:MediaServiceFastMetadata" minOccurs="0"/>
                <xsd:element ref="ns2:Macroproceso" minOccurs="0"/>
                <xsd:element ref="ns2:Proceso" minOccurs="0"/>
                <xsd:element ref="ns2:MediaServiceObjectDetectorVersions" minOccurs="0"/>
                <xsd:element ref="ns2:MediaServiceSearchProperties" minOccurs="0"/>
                <xsd:element ref="ns3:SharedWithUsers" minOccurs="0"/>
                <xsd:element ref="ns3:SharedWithDetail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4bd470e1-a810-4dc7-a7f4-504af0e5f80d"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acroproceso" ma:index="10" nillable="true" ma:displayName="Macroproceso" ma:format="Dropdown" ma:internalName="Macroproceso">
      <xsd:simpleType>
        <xsd:restriction base="dms:Text">
          <xsd:maxLength value="255"/>
        </xsd:restriction>
      </xsd:simpleType>
    </xsd:element>
    <xsd:element name="Proceso" ma:index="11" nillable="true" ma:displayName="Proceso" ma:format="Dropdown" ma:internalName="Proceso">
      <xsd:simpleType>
        <xsd:restriction base="dms:Text">
          <xsd:maxLength value="255"/>
        </xsd:restriction>
      </xsd:simpleType>
    </xsd:element>
    <xsd:element name="MediaServiceObjectDetectorVersions" ma:index="12" nillable="true" ma:displayName="MediaServiceObjectDetectorVersions" ma:hidden="true" ma:indexed="true" ma:internalName="MediaServiceObjectDetectorVersions" ma:readOnly="true">
      <xsd:simpleType>
        <xsd:restriction base="dms:Text"/>
      </xsd:simpleType>
    </xsd:element>
    <xsd:element name="MediaServiceSearchProperties" ma:index="13"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94bf27de-86a6-4ac7-874e-21eaa1714b2f" elementFormDefault="qualified">
    <xsd:import namespace="http://schemas.microsoft.com/office/2006/documentManagement/types"/>
    <xsd:import namespace="http://schemas.microsoft.com/office/infopath/2007/PartnerControls"/>
    <xsd:element name="SharedWithUsers" ma:index="14" nillable="true" ma:displayName="Compartido c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Detalles de uso compartido"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ipo de contenido"/>
        <xsd:element ref="dc:title" minOccurs="0" maxOccurs="1" ma:index="4" ma:displayName="Título"/>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C5FC8CCB-90C7-4014-A3CC-51D62035841A}">
  <ds:schemaRefs>
    <ds:schemaRef ds:uri="http://schemas.microsoft.com/office/2006/metadata/properties"/>
    <ds:schemaRef ds:uri="http://schemas.microsoft.com/office/infopath/2007/PartnerControls"/>
    <ds:schemaRef ds:uri="4bd470e1-a810-4dc7-a7f4-504af0e5f80d"/>
  </ds:schemaRefs>
</ds:datastoreItem>
</file>

<file path=customXml/itemProps2.xml><?xml version="1.0" encoding="utf-8"?>
<ds:datastoreItem xmlns:ds="http://schemas.openxmlformats.org/officeDocument/2006/customXml" ds:itemID="{FF8CADC5-B4F8-4677-9B61-54BC6C46CF0F}">
  <ds:schemaRefs>
    <ds:schemaRef ds:uri="http://schemas.microsoft.com/sharepoint/v3/contenttype/forms"/>
  </ds:schemaRefs>
</ds:datastoreItem>
</file>

<file path=customXml/itemProps3.xml><?xml version="1.0" encoding="utf-8"?>
<ds:datastoreItem xmlns:ds="http://schemas.openxmlformats.org/officeDocument/2006/customXml" ds:itemID="{2487E67B-EA3D-412C-8702-4A89E4D9D8F6}">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4bd470e1-a810-4dc7-a7f4-504af0e5f80d"/>
    <ds:schemaRef ds:uri="94bf27de-86a6-4ac7-874e-21eaa1714b2f"/>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
  <TotalTime>11871</TotalTime>
  <Words>17</Words>
  <Application>Microsoft Office PowerPoint</Application>
  <PresentationFormat>Panorámica</PresentationFormat>
  <Paragraphs>12</Paragraphs>
  <Slides>4</Slides>
  <Notes>2</Notes>
  <HiddenSlides>0</HiddenSlides>
  <MMClips>0</MMClips>
  <ScaleCrop>false</ScaleCrop>
  <HeadingPairs>
    <vt:vector size="6" baseType="variant">
      <vt:variant>
        <vt:lpstr>Fuentes usadas</vt:lpstr>
      </vt:variant>
      <vt:variant>
        <vt:i4>3</vt:i4>
      </vt:variant>
      <vt:variant>
        <vt:lpstr>Tema</vt:lpstr>
      </vt:variant>
      <vt:variant>
        <vt:i4>1</vt:i4>
      </vt:variant>
      <vt:variant>
        <vt:lpstr>Títulos de diapositiva</vt:lpstr>
      </vt:variant>
      <vt:variant>
        <vt:i4>4</vt:i4>
      </vt:variant>
    </vt:vector>
  </HeadingPairs>
  <TitlesOfParts>
    <vt:vector size="8" baseType="lpstr">
      <vt:lpstr>Arial</vt:lpstr>
      <vt:lpstr>Calibri</vt:lpstr>
      <vt:lpstr>Muli</vt:lpstr>
      <vt:lpstr>Tema de Office</vt:lpstr>
      <vt:lpstr>Presentación de PowerPoint</vt:lpstr>
      <vt:lpstr>Presentación de PowerPoint</vt:lpstr>
      <vt:lpstr>Presentación de PowerPoint</vt:lpstr>
      <vt:lpstr>Presentación de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Revisión por la Dirección</dc:title>
  <dc:creator>Javier Medina de Moya</dc:creator>
  <cp:lastModifiedBy>JACINTO VELASCO</cp:lastModifiedBy>
  <cp:revision>82</cp:revision>
  <cp:lastPrinted>2023-04-11T15:07:57Z</cp:lastPrinted>
  <dcterms:created xsi:type="dcterms:W3CDTF">2023-02-27T08:54:16Z</dcterms:created>
  <dcterms:modified xsi:type="dcterms:W3CDTF">2025-09-14T11:44:01Z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0x0101009B84DA0D6C2ADE46966ECE7A6B7DD2B5</vt:lpwstr>
  </property>
</Properties>
</file>